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4552" cy="256032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D700"/>
                </a:solidFill>
              </a:rPr>
              <a:t>딥러닝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FFFFFF"/>
                </a:solidFill>
              </a:rPr>
              <a:t>AI 개발 수행내역서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FF"/>
                </a:solidFill>
              </a:rPr>
              <a:t>FEMTO-ST 베어링 RUL 예측 — ML vs DL 통합 예지보전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840480"/>
            <a:ext cx="7616952" cy="2011680"/>
          </a:xfrm>
          <a:prstGeom prst="rect">
            <a:avLst/>
          </a:prstGeom>
          <a:solidFill>
            <a:srgbClr val="223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과제명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931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FEMTO-ST 베어링 잔여수명(RUL) 예측 — ML+DL 통합 예지보전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허남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FFD700"/>
                </a:solidFill>
              </a:rPr>
              <a:t>작성일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5120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FFFFFF"/>
                </a:solidFill>
              </a:rPr>
              <a:t>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목적·데이터·방법론·결론 4단계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①
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FEMTO-ST 베어링 RUL 예측
ML vs DL 정량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7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②
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IEEE PHM 2012
6개 베어링, 1800N/1800rpm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79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③
방법론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ML: RF+LR+XGB+GroupKFold
DL: LSTM(30분 윈도우)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097280"/>
            <a:ext cx="2743200" cy="50292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887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FFD700"/>
                </a:solidFill>
              </a:rPr>
              <a:t>④
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8600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300">
                <a:solidFill>
                  <a:srgbClr val="FFFFFF"/>
                </a:solidFill>
              </a:rPr>
              <a:t>LSTM RMSE 5.67분
RF 대비 17.3% 개선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데이터셋 &amp;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FEMTO-ST PRONOSTIA / VIF 분석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데이터셋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FEMTO-ST PRONOSTIA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1800N,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1스냅샷/분, 2560 포인트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9개 시간영역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라벨 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h_rms × 2.5 임계값 (ML만 적용시)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교차검증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GroupKFold(n=3)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2_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05840"/>
            <a:ext cx="59436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1. VIF 분석 결과 (h_rms/v_rms 제거)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1B295E"/>
                </a:solidFill>
              </a:rPr>
              <a:t>인사이트: h_rms(VIF=22.3), v_rms(VIF=18.7) → 모델 입력 제외. ML만 적용시 기준으로 열화 라벨 생성.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ML 열화 분류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GroupKFold + VIF + LR/RF/XGB GridSearch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LogReg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RandomForest★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05840"/>
            <a:ext cx="54864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2. ROC 곡선 (RF AUC=0.99)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B295E"/>
                </a:solidFill>
              </a:rPr>
              <a:t>★ RF가 최적 ML: Recall 0.91, AUC 0.99 달성. GroupKFold로 시계열 누수 완전 차단.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LR은 비선형 패턴 포착 한계(Recall 0.46).
RF/XGB 앙상블 구조가 열화 패턴 학습에 효과적.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DL LSTM RUL 예측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LSTM(64→32) vs RF 베이스라인 직접 비교</a:t>
            </a:r>
          </a:p>
        </p:txBody>
      </p:sp>
      <p:pic>
        <p:nvPicPr>
          <p:cNvPr id="6" name="Picture 5" descr="07_r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3. RUL 예측 비교: LSTM vs RF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109728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RF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6.86분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5.21분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LSTM (DL)★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5.67분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B295E"/>
                </a:solidFill>
              </a:rPr>
              <a:t>▼ RMSE 17.3%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84048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444444"/>
                </a:solidFill>
              </a:rPr>
              <a:t>인사이트: 30분 슬라이딩 윈도우로 시계열 패턴 포착.
RUL 위험 구간(≤20분)에서 오차 감소 효과 뚜렷.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핵심 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DL이 최적 ML 대비 유의미한 성능 개선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0360152" cy="2011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295E"/>
                </a:solidFill>
              </a:rPr>
              <a:t>★  DL(LSTM) RMSE 5.67분  vs  최적 ML(RF) RMSE 6.86분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700">
                <a:solidFill>
                  <a:srgbClr val="331100"/>
                </a:solidFill>
              </a:rPr>
              <a:t>→  LSTM이 RF 대비 RMSE 17.3% 개선 —  DL이 ML보다 우수한 RUL 예측 달성!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ML만 적용시: GroupKFold+VIF+GridSearch 최적 RF → Recall 0.91, AUC 0.99 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DL(LSTM): 30분 슬라이딩 윈도우 → RMSE 5.67분 (ML RF 6.86분 대비 17.3%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08576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Streamlit 4탭 통합 대시보드: ML 열화 확률 + DL RUL 알람 동시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66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DDEEFF"/>
                </a:solidFill>
              </a:rPr>
              <a:t>•  향후: 실 FEMTO 데이터 검증, Transformer 추가, 온라인 학습 파이프라인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Streamlit 통합 진단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ML + DL 실시간 모니터링 UI</a:t>
            </a:r>
          </a:p>
        </p:txBody>
      </p:sp>
      <p:pic>
        <p:nvPicPr>
          <p:cNvPr id="6" name="Picture 5" descr="10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333333"/>
                </a:solidFill>
              </a:rPr>
              <a:t>그림 4. 4탭 통합 대시보드 UI 구성도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2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D700"/>
                </a:solidFill>
              </a:rPr>
              <a:t>시스템 구성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CCCCFF"/>
                </a:solidFill>
              </a:rPr>
              <a:t>파이프라인 4단계 / 개발 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B295E"/>
                </a:solidFill>
              </a:rPr>
              <a:t>① 전처리: 9개 피처 추출 → VIF 분석 → 열화 라벨 생성 (h_rms×2.5)
② ML 학습: GroupKFold(n=3) → LR/RF/XGB GridSearch → RF 최적 선정
③ DL 학습: 슬라이딩 윈도우(30분) → LSTM(64→32) → RUL 회귀
④ 서비스: Streamlit 4탭 대시보드 (ML 열화 확률 + DL RUL 알람)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09728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1B295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언어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 3.10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TensorFlow/Keras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Streamlit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문서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python-docx/pptx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DL 모델 간 성능 비교 — FEMTO RUL (단위: 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59436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26720">
                <a:tc>
                  <a:txBody>
                    <a:bodyPr/>
                    <a:lstStyle/>
                    <a:p>
                      <a:r>
                        <a:rPr b="1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CV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OOS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비고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GRU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★ 최적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1168.7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최적 모델 저장: models/femto_best_dl_GRU.keras (model.save 자동)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DL 모델 성능 비교 차트 (CV / OOS RMSE / MAE)</a:t>
            </a:r>
          </a:p>
        </p:txBody>
      </p:sp>
      <p:pic>
        <p:nvPicPr>
          <p:cNvPr id="3" name="Picture 2" descr="D3_dl_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LSTM 학습 곡선 — Training vs Validation Loss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48640"/>
            <a:ext cx="85953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patience=8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836.6분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836.6분으로 개선 (향후 그리드 포함 권장)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(patience=8)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patience=8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lr=1e-3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836.6분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