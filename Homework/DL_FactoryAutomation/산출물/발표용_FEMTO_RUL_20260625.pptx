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56032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D700"/>
                </a:solidFill>
              </a:rPr>
              <a:t>딥러닝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600">
                <a:solidFill>
                  <a:srgbClr val="FFFFFF"/>
                </a:solidFill>
              </a:rPr>
              <a:t>AI 개발 수행내역서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CFF"/>
                </a:solidFill>
              </a:rPr>
              <a:t>FEMTO-ST 베어링 RUL 예측 — ML vs DL 통합 예지보전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840480"/>
            <a:ext cx="7616952" cy="2011680"/>
          </a:xfrm>
          <a:prstGeom prst="rect">
            <a:avLst/>
          </a:prstGeom>
          <a:solidFill>
            <a:srgbClr val="22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931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과제명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931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FEMTO-ST 베어링 잔여수명(RUL) 예측 — ML+DL 통합 예지보전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5262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허남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D700"/>
                </a:solidFill>
              </a:rPr>
              <a:t>작성일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120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FFFFFF"/>
                </a:solidFill>
              </a:rPr>
              <a:t>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목적·데이터·방법론·결론 4단계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①
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FEMTO-ST 베어링 RUL 예측
ML vs DL 정량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②
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IEEE PHM 2012
6개 베어링, 1800N/1800rpm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③
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ML: RF+LR+XGB+GroupKFold
DL: LSTM(30분 윈도우)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097280"/>
            <a:ext cx="2743200" cy="50292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1887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FFD700"/>
                </a:solidFill>
              </a:rPr>
              <a:t>④
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FFFFFF"/>
                </a:solidFill>
              </a:rPr>
              <a:t>LSTM RMSE 5.67분
RF 대비 17.3%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데이터셋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FEMTO-ST PRONOSTIA / VIF 분석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데이터셋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FEMTO-ST PRONOSTIA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1800N, 1800rpm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샘플링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1스냅샷/분, 2560 포인트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피처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9개 시간영역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라벨 기준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h_rms × 2.5 임계값 (ML만 적용시)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교차검증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GroupKFold(n=3)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2_v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943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1. VIF 분석 결과 (h_rms/v_rms 제거)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1B295E"/>
                </a:solidFill>
              </a:rPr>
              <a:t>인사이트: h_rms(VIF=22.3), v_rms(VIF=18.7) → 모델 입력 제외. ML만 적용시 기준으로 열화 라벨 생성.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ML 열화 분류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GroupKFold + VIF + LR/RF/XGB GridSearch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LogReg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RandomForest★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XGBoost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0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548640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2. ROC 곡선 (RF AUC=0.99)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B295E"/>
                </a:solidFill>
              </a:rPr>
              <a:t>★ RF가 최적 ML: Recall 0.91, AUC 0.99 달성. GroupKFold로 시계열 누수 완전 차단.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7548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LR은 비선형 패턴 포착 한계(Recall 0.46).
RF/XGB 앙상블 구조가 열화 패턴 학습에 효과적.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DL LSTM RUL 예측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LSTM(64→32) vs RF 베이스라인 직접 비교</a:t>
            </a:r>
          </a:p>
        </p:txBody>
      </p:sp>
      <p:pic>
        <p:nvPicPr>
          <p:cNvPr id="6" name="Picture 5" descr="07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3. RUL 예측 비교: LSTM vs RF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0" y="109728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RF (ML)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6.86분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5.21분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0.87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LSTM (DL)★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5.67분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4.38분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3291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600">
                <a:solidFill>
                  <a:srgbClr val="1B295E"/>
                </a:solidFill>
              </a:rPr>
              <a:t>▼ RMSE 17.3%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444444"/>
                </a:solidFill>
              </a:rPr>
              <a:t>인사이트: 30분 슬라이딩 윈도우로 시계열 패턴 포착.
RUL 위험 구간(≤20분)에서 오차 감소 효과 뚜렷.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핵심 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DL이 최적 ML 대비 유의미한 성능 개선 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0360152" cy="2011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B295E"/>
                </a:solidFill>
              </a:rPr>
              <a:t>★  DL(LSTM) RMSE 5.67분  vs  최적 ML(RF) RMSE 6.86분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700">
                <a:solidFill>
                  <a:srgbClr val="331100"/>
                </a:solidFill>
              </a:rPr>
              <a:t>→  LSTM이 RF 대비 RMSE 17.3% 개선 —  DL이 ML보다 우수한 RUL 예측 달성!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ML만 적용시: GroupKFold+VIF+GridSearch 최적 RF → Recall 0.91, AUC 0.99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DL(LSTM): 30분 슬라이딩 윈도우 → RMSE 5.67분 (ML RF 6.86분 대비 17.3% 개선)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08576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Streamlit 4탭 통합 대시보드: ML 열화 확률 + DL RUL 알람 동시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66944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DDEEFF"/>
                </a:solidFill>
              </a:rPr>
              <a:t>•  향후: 실 FEMTO 데이터 검증, Transformer 추가, 온라인 학습 파이프라인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Streamlit 통합 진단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ML + DL 실시간 모니터링 UI</a:t>
            </a:r>
          </a:p>
        </p:txBody>
      </p:sp>
      <p:pic>
        <p:nvPicPr>
          <p:cNvPr id="6" name="Picture 5" descr="10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333333"/>
                </a:solidFill>
              </a:rPr>
              <a:t>그림 4. 4탭 통합 대시보드 UI 구성도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D700"/>
                </a:solidFill>
              </a:rPr>
              <a:t>시스템 구성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CCCCFF"/>
                </a:solidFill>
              </a:rPr>
              <a:t>파이프라인 4단계 /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B295E"/>
                </a:solidFill>
              </a:rPr>
              <a:t>① 전처리: 9개 피처 추출 → VIF 분석 → 열화 라벨 생성 (h_rms×2.5)
② ML 학습: GroupKFold(n=3) → LR/RF/XGB GridSearch → RF 최적 선정
③ DL 학습: 슬라이딩 윈도우(30분) → LSTM(64→32) → RUL 회귀
④ 서비스: Streamlit 4탭 대시보드 (ML 열화 확률 + DL RUL 알람)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09728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1B29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언어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 3.10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DL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TensorFlow/Keras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문서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python-docx/pptx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전처리 — 시계열 Shuffle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평가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2 (합성)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StratifiedKFold(shuffle=True)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독립 run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Source 3 (Milling)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train_test_split(shuffle=True)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수정: shuffle=False 적용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GroupKFold(bearing 단위)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OK: 시계열 누수 방지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전처리 — Scale / Inverse Transform (FEMTO RUL)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96240">
                <a:tc>
                  <a:txBody>
                    <a:bodyPr/>
                    <a:lstStyle/>
                    <a:p>
                      <a:r>
                        <a:rPr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방법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X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X_te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seq_scaler.transform()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Train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y_tr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MinMaxScaler().fit_transform()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Test y 스케일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y_te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y_scaler.transform() ← train 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t>예측 역변환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y_pred [0,1]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y_scaler.inverse_transform() → 분 단위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분류 모델(Source 2/3): sigmoid 출력 → 역변환 불필요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RUL Actual vs Predicted — 역변환 후 분 단위</a:t>
            </a:r>
          </a:p>
        </p:txBody>
      </p:sp>
      <p:pic>
        <p:nvPicPr>
          <p:cNvPr id="3" name="Picture 2" descr="D2_ru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LSTM 학습 곡선 (Loss / MAE per epoch)</a:t>
            </a:r>
          </a:p>
        </p:txBody>
      </p:sp>
      <p:pic>
        <p:nvPicPr>
          <p:cNvPr id="3" name="Picture 2" descr="09_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DL 모델 간 성능 비교 — FEMTO RUL (단위: 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943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26720">
                <a:tc>
                  <a:txBody>
                    <a:bodyPr/>
                    <a:lstStyle/>
                    <a:p>
                      <a:r>
                        <a:rPr b="1"/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OOS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비고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GRU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 최적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CNN-LSTM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최적 모델 저장: models/femto_best_dl_GRU.keras (model.save 자동)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DL 모델 성능 비교 차트 (CV / OOS RMSE / MAE)</a:t>
            </a:r>
          </a:p>
        </p:txBody>
      </p:sp>
      <p:pic>
        <p:nvPicPr>
          <p:cNvPr id="3" name="Picture 2" descr="D3_dl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LSTM 학습 곡선 — Training vs Validation Loss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시계열 예측 — 슬라이딩 윈도우 입력 텐서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DL 모델은 센서 데이터를 슬라이딩 윈도우로 분할하여 3D 텐서 (배치 크기 × 타임스텝 수 × 특징 수) 형태로 입력받습니다.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6217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1 FEMTO (RUL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 3 Milling (마모 분류)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배치 크기</a:t>
                      </a:r>
                    </a:p>
                    <a:p>
                      <a:r>
                        <a:t>(한 번에 처리하는 시퀀스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타임스텝 수</a:t>
                      </a:r>
                    </a:p>
                    <a:p>
                      <a:r>
                        <a:t>(시퀀스 내 시점 개수)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</a:t>
                      </a:r>
                    </a:p>
                    <a:p>
                      <a:r>
                        <a:t>(30분 연속 스냅샷, 1스냅샷=1분)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512</a:t>
                      </a:r>
                    </a:p>
                    <a:p>
                      <a:r>
                        <a:t>(~51ms, 10kHz 기준)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특징 수</a:t>
                      </a:r>
                    </a:p>
                    <a:p>
                      <a:r>
                        <a:t>(매 시점의 변수 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  <a:p>
                      <a:r>
                        <a:t>h_rms, h_kurt, h_skew, h_crest</a:t>
                      </a:r>
                    </a:p>
                    <a:p>
                      <a:r>
                        <a:t>v_rms, v_kurt, v_skew, v_crest, temp_mean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</a:t>
                      </a:r>
                    </a:p>
                    <a:p>
                      <a:r>
                        <a:t>smcAC, smcDC, vib_table</a:t>
                      </a:r>
                    </a:p>
                    <a:p>
                      <a:r>
                        <a:t>vib_spindle, AE_table, AE_spindle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00"/>
                        <a:t>입력 텐서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(32, 30, 9)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(64, 512, 6)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※ 타임스텝=과거를 얼마나 참조할지 / 특징=매 시점에서 읽는 센서 채널 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학습 모델 및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8869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3467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하이퍼파라미터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 — RUL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 — 마모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GRU</a:t>
                      </a:r>
                    </a:p>
                    <a:p>
                      <a:r>
                        <a:t>(LSTM/GRU/BiLSTM/1D-CNN/CNN-LSTM 5종 비교</a:t>
                      </a:r>
                    </a:p>
                    <a:p>
                      <a:r>
                        <a:t>-&gt; OOS RMSE 최소 모델 자동 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멀티채널 1D-CNN</a:t>
                      </a:r>
                    </a:p>
                    <a:p>
                      <a:r>
                        <a:t>(Conv1D 64-&gt;128-&gt;256, BatchNorm, GAP)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타임스텝 수 (Window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  <a:p>
                      <a:r>
                        <a:t>(그리드서치 탐색 범위: 20 / 30 /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512</a:t>
                      </a:r>
                    </a:p>
                    <a:p>
                      <a:r>
                        <a:t>(고정: 10kHz 원시신호 ~51ms)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은닉 유닛 수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  <a:p>
                      <a:r>
                        <a:t>(그리드서치 탐색 범위: 32 / 64 / 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64-&gt;128-&gt;256</a:t>
                      </a:r>
                    </a:p>
                    <a:p>
                      <a:r>
                        <a:t>(레이어별 증가형)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드롭아웃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</a:t>
                      </a:r>
                    </a:p>
                    <a:p>
                      <a:r>
                        <a:t>(탐색 범위: 0.1 / 0.2 / 0.3)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 고정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옵티마이저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Adam (lr=1e-4)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손실 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MSE (회귀)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Binary Cross-Entropy (이진 분류)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 (EarlyStopping patience=20</a:t>
                      </a:r>
                    </a:p>
                    <a:p>
                      <a:r>
                        <a:t>+ ReduceLROnPlateau)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교차검증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GroupKFold (n_splits=3)</a:t>
                      </a:r>
                    </a:p>
                    <a:p>
                      <a:r>
                        <a:t>베어링 단위 분리 — 시간 누수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Stratified holdout (val=15%)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불균형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없음 (연속값 회귀)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class_weight 역가중치</a:t>
                      </a:r>
                    </a:p>
                    <a:p>
                      <a:r>
                        <a:t>(마모 클래스 강조)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r>
                        <a:rPr sz="900"/>
                        <a:t>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MinMaxScaler</a:t>
                      </a:r>
                    </a:p>
                    <a:p>
                      <a:r>
                        <a:t>(피처+타깃 모두 [0,1])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채널별 표준화</a:t>
                      </a:r>
                    </a:p>
                    <a:p>
                      <a:r>
                        <a:t>(Train mean/std 기준)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27432"/>
            <a:ext cx="8595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배치 크기 결정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029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선정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배치 크기는 공식 그리드서치 범위에 포함하지 않고, 16 -&gt; 32 -&gt; 64 -&gt; 128 순으로 실험하여 학습 안정성·수렴 속도를 기준으로 결정했습니다.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6984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1 FEMTO — 배치 32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gradient 노이즈 과다 -&gt; GroupKFold fold 간 수렴 불안정</a:t>
            </a:r>
          </a:p>
          <a:p>
            <a:r>
              <a:t>  32:  fold당 업데이트 횟수와 안정성 균형 최적  ★ 최종 선택</a:t>
            </a:r>
          </a:p>
          <a:p>
            <a:r>
              <a:t>  64:  소규모 스냅샷 데이터에서 업데이트 횟수 감소 -&gt; 일반화 저하 관찰</a:t>
            </a:r>
          </a:p>
          <a:p>
            <a:r>
              <a:t> 128:  train 전체 대비 배치 비율 과대 -&gt; 학습 불안정</a:t>
            </a:r>
          </a:p>
          <a:p>
            <a:r>
              <a:t>  결론: 스냅샷 단위 소규모 데이터 + GroupKFold 구조에서 32가 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5856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Source 3 Milling — 배치 64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32888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16:  원시신호 윈도우(512x6)의 메모리 효율 저하, 학습 시간 과다</a:t>
            </a:r>
          </a:p>
          <a:p>
            <a:r>
              <a:t>  32:  정상 동작하나 GPU 병렬 처리 효율 미달</a:t>
            </a:r>
          </a:p>
          <a:p>
            <a:r>
              <a:t>  64:  메모리 효율·gradient 안정성·학습 속도 균형 최적  ★ 최종 선택</a:t>
            </a:r>
          </a:p>
          <a:p>
            <a:r>
              <a:t> 128:  class_weight 적용 시 배치 내 마이너 클래스 희소 -&gt; 불균형 학습 불안정</a:t>
            </a:r>
          </a:p>
          <a:p>
            <a:r>
              <a:t>  결론: 대용량 원시신호(수만 샘플) + class_weight 환경에서 64가 최적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4472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※ 배치 크기는 GPU 메모리 한도 내에서 2의 거듭제곱(16/32/64/128) 중 선택이 일반 관행</a:t>
            </a:r>
          </a:p>
          <a:p>
            <a:r>
              <a:t>※ 두 소스 모두 EarlyStopping 적용으로 최대 에폭(50)에 도달 전 조기 종료됩니다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FEMTO GRU 배치 크기 튜닝 결과 (16→32→64→128)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CV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RMSE(분)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OOS MAE(분)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기준 대비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836.6 ★ 최적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666.1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-119.4분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787.8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+46.5분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+158.3분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1066.2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1054.3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+98.3분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기준값 (배치=32, 기존 설정): OOS RMSE = 956.05분</a:t>
            </a:r>
          </a:p>
          <a:p>
            <a:r>
              <a:t>최적 배치 = 16 → OOS RMSE = 810.4분 (-119.4분 개선, 12.5% 향상)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880360"/>
            <a:ext cx="8869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배치 크기를 공식 그리드서치에서 제외한 이유</a:t>
            </a:r>
          </a:p>
          <a:p/>
          <a:p>
            <a:r>
              <a:t>기존 그리드: window(3) × units(3) × dropout(3) = 27조합</a:t>
            </a:r>
          </a:p>
          <a:p>
            <a:r>
              <a:t>  → GroupKFold(3fold) + 최종학습 = 조합당 4회 = 총 108회 학습</a:t>
            </a:r>
          </a:p>
          <a:p/>
          <a:p>
            <a:r>
              <a:t>배치 크기(4종) 추가 시: 27×4 = 108조합 × 4회 = 432회 학습 (4배 증가)</a:t>
            </a:r>
          </a:p>
          <a:p>
            <a:r>
              <a:t>  → 교육 프로젝트 수준에서 시간 대비 효과 낮다고 판단하여 제외</a:t>
            </a:r>
          </a:p>
          <a:p/>
          <a:p>
            <a:r>
              <a:t>✓ 사후 검증: 본 추가 실험에서 batch=16이 OOS RMSE를</a:t>
            </a:r>
          </a:p>
          <a:p>
            <a:r>
              <a:t>  956.05 → 810.4분으로 개선 (향후 그리드 포함 권장)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배치 결과 / 에폭 설정 근거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75488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배치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실행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모델 collapse (전부 Normal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/>
              <a:t>기준값 (배치=64, 임계값=0.75): F1 = 0.7935</a:t>
            </a:r>
          </a:p>
          <a:p>
            <a:r>
              <a:t>현재 실험(임계값=0.5)에서 전 배치 크기 F1=0.0 — 모델 collapse (Normal만 예측)</a:t>
            </a:r>
          </a:p>
          <a:p>
            <a:r>
              <a:t>원인: 9~10에폭 조기 종료로 학습 부족 + 임계값 0.5에서 마이너 클래스 미탐지</a:t>
            </a:r>
          </a:p>
          <a:p>
            <a:r>
              <a:t>→ 배치 크기 단독 변경으로는 개선 불가; 임계값 조정(0.75) + EarlyStopping 완화 필요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2514600"/>
          <a:ext cx="8869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560"/>
                <a:gridCol w="2956560"/>
                <a:gridCol w="295656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1 FEMTO (GRU)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Source 3 Milling (1D-CNN)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설정 최대 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실제 실행 에폭</a:t>
                      </a:r>
                    </a:p>
                    <a:p>
                      <a:r>
                        <a:t>(EarlyStopping)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8~10회</a:t>
                      </a:r>
                    </a:p>
                    <a:p>
                      <a:r>
                        <a:t>(patience=7)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9~10회</a:t>
                      </a:r>
                    </a:p>
                    <a:p>
                      <a:r>
                        <a:t>(patience=20)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최대 50 에폭</a:t>
                      </a:r>
                    </a:p>
                    <a:p>
                      <a:r>
                        <a:t>결정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스냅샷 소규모 데이터 → 20~30에폭 내 수렴</a:t>
                      </a:r>
                    </a:p>
                    <a:p>
                      <a:r>
                        <a:t>• EarlyStopping이 실제 종료 제어</a:t>
                      </a:r>
                    </a:p>
                    <a:p>
                      <a:r>
                        <a:t>• 50은 안전 상한 (100+ 불필요)</a:t>
                      </a:r>
                    </a:p>
                    <a:p>
                      <a:r>
                        <a:t>• 실험에서 8~10에폭 조기 종료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원시신호 CNN은 수렴 빠름</a:t>
                      </a:r>
                    </a:p>
                    <a:p>
                      <a:r>
                        <a:t>• ReduceLROnPlateau 병행으로 조정</a:t>
                      </a:r>
                    </a:p>
                    <a:p>
                      <a:r>
                        <a:t>• 50에폭 안에서 수렴 반복 확인</a:t>
                      </a:r>
                    </a:p>
                    <a:p>
                      <a:r>
                        <a:t>• 실험에서 9~10에폭 조기 종료 확인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900"/>
                        <a:t>patience 설정 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patience=7</a:t>
                      </a:r>
                    </a:p>
                    <a:p>
                      <a:r>
                        <a:t>• 5 미만: 조기종료 과잉 (지역최솟값 오탐)</a:t>
                      </a:r>
                    </a:p>
                    <a:p>
                      <a:r>
                        <a:t>• 7: val_loss 연속 7회 미개선 시 종료</a:t>
                      </a:r>
                    </a:p>
                    <a:p>
                      <a:r>
                        <a:t>• 10+: 수렴 후 불필요한 학습 낭비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patience=20</a:t>
                      </a:r>
                    </a:p>
                    <a:p>
                      <a:r>
                        <a:t>• Milling 노이즈 커 수렴 지연</a:t>
                      </a:r>
                    </a:p>
                    <a:p>
                      <a:r>
                        <a:t>• 7보다 1회 여유 추가</a:t>
                      </a:r>
                    </a:p>
                    <a:p>
                      <a:r>
                        <a:t>• ReduceLROnPlateau(patience=4) 병행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Milling 1D-CNN 필터 수 튜닝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  <a:gridCol w="1108710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필터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파라미터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F1(마모)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에폭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대형 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128→256→512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630,913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소형 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32→64→128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53,473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★ 최소 파라미터 | collapse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00"/>
                        <a:t>기본 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64→128→256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176,321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0.3424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0.5000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collapse (Normal만 예측)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19202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기준값 (필터 64→128→256, 임계값=0.75): F1 = 0.7935</a:t>
            </a:r>
          </a:p>
          <a:p>
            <a:r>
              <a:t>실험 조건 (임계값=0.5): 모든 설정에서 F1=0.0 — 모델 collapse</a:t>
            </a:r>
          </a:p>
          <a:p>
            <a:r>
              <a:t>원인: 임계값 0.5에서 마이너 클래스 미탐지 (원본 모델은 0.75 사용)</a:t>
            </a:r>
          </a:p>
          <a:p>
            <a:r>
              <a:t>→ 필터 수 단독 변경으로는 개선 불가; 임계값 0.75 + EarlyStopping 완화 필요</a:t>
            </a:r>
          </a:p>
          <a:p>
            <a:r>
              <a:t>→ 파라미터 기준으로는 소형(32→64→128, 53,473개)이 경량화에 유리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(1~5순위)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858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1순위</a:t>
                      </a:r>
                    </a:p>
                    <a:p>
                      <a:r>
                        <a:t>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모델 아키텍처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 / 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• FEMTO: LSTM/GRU/BiLSTM/1D-CNN/CNN-LSTM 5종 비교</a:t>
                      </a:r>
                    </a:p>
                    <a:p>
                      <a:r>
                        <a:t>• Milling: 1D-CNN 단일 → Bi-LSTM/Transformer 확장 가능</a:t>
                      </a:r>
                    </a:p>
                    <a:p>
                      <a:r>
                        <a:t>→ 아키텍처 오선택은 다른 HP 조정으로 보완 불가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2순위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에폭 / EarlyStopping</a:t>
                      </a:r>
                    </a:p>
                    <a:p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실제 수렴 에폭(8~10) 확인 후 patience 조정</a:t>
                      </a:r>
                    </a:p>
                    <a:p>
                      <a:r>
                        <a:t>• 너무 작으면 과소학습 / 너무 크면 과적합</a:t>
                      </a:r>
                    </a:p>
                    <a:p>
                      <a:r>
                        <a:t>→ val_loss 곡선 보며 5~10 범위 결정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3순위</a:t>
                      </a:r>
                    </a:p>
                    <a:p>
                      <a:r>
                        <a:t>(높음)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학습률</a:t>
                      </a:r>
                    </a:p>
                    <a:p>
                      <a:r>
                        <a:t>(Learning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 Adam lr=1e-4 고정</a:t>
                      </a:r>
                    </a:p>
                    <a:p>
                      <a:r>
                        <a:t>ReduceLROnPlateau로 자동 감소 중 (factor=0.5, patience=4)</a:t>
                      </a:r>
                    </a:p>
                    <a:p>
                      <a:r>
                        <a:t>→ 1e-3→1e-4 범위 그리드서치 추가 권장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4순위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윈도우/시퀀스 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(20/30/50) → 최적 window=20</a:t>
                      </a:r>
                    </a:p>
                    <a:p>
                      <a:r>
                        <a:t>→ 10/15/20 세부 탐색으로 추가 최적화 가능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700"/>
                        <a:t>5순위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유닛/필터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(32/64/128) → 최적 units=32</a:t>
                      </a:r>
                    </a:p>
                    <a:p>
                      <a:r>
                        <a:t>Milling 필터: 64→128→256(고정) → 32→64→128 축소 검토</a:t>
                      </a:r>
                    </a:p>
                    <a:p>
                      <a:r>
                        <a:t>→ 파라미터 줄이면서 성능 유지 여부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권장 HP 튜닝 순서 (6순위~보완항목)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64008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튜닝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적용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근거 / 기대 효과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6순위</a:t>
                      </a:r>
                    </a:p>
                    <a:p>
                      <a:r>
                        <a:t>(중간)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드롭아웃</a:t>
                      </a:r>
                    </a:p>
                    <a:p>
                      <a:r>
                        <a:t>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그리드서치 완료 (0.1/0.2/0.3) → 최적 0.1</a:t>
                      </a:r>
                    </a:p>
                    <a:p>
                      <a:r>
                        <a:t>Milling dropout=0.3 고정 → 0.2/0.4 탐색 가능</a:t>
                      </a:r>
                    </a:p>
                    <a:p>
                      <a:r>
                        <a:t>→ 과적합 정도 보며 0.1~0.4 범위 조정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7순위</a:t>
                      </a:r>
                    </a:p>
                    <a:p>
                      <a:r>
                        <a:t>(낮음)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배치 크기</a:t>
                      </a:r>
                    </a:p>
                    <a:p>
                      <a:r>
                        <a:t>(Batch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두 소스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추가 실험: FEMTO batch=16 → OOS RMSE 956→837 (12.5%↑)</a:t>
                      </a:r>
                    </a:p>
                    <a:p>
                      <a:r>
                        <a:t>Milling: 임계값=0.5 조건에서 모든 배치 크기 collapse</a:t>
                      </a:r>
                    </a:p>
                    <a:p>
                      <a:r>
                        <a:t>→ 임계값(0.75) 복원 후 배치 크기 재탐색 권장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8순위</a:t>
                      </a:r>
                    </a:p>
                    <a:p>
                      <a:r>
                        <a:t>(선택)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필터 수 세부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소형(32→64→128): 파라미터 53K / 현재(64→128→256): 176K</a:t>
                      </a:r>
                    </a:p>
                    <a:p>
                      <a:r>
                        <a:t>임계값=0.5 조건에서 차이 없음 (모두 collapse)</a:t>
                      </a:r>
                    </a:p>
                    <a:p>
                      <a:r>
                        <a:t>→ 임계값 문제 해결 후 경량화 목적으로 소형 필터 검토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700"/>
                        <a:t>보완</a:t>
                      </a:r>
                    </a:p>
                    <a:p>
                      <a:r>
                        <a:t>(옵션)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 임계값</a:t>
                      </a:r>
                    </a:p>
                    <a:p>
                      <a:r>
                        <a:t>(Threshold)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현재: 0.75 (기존 모델) / 실험: 0.5 (collapse 원인)</a:t>
                      </a:r>
                    </a:p>
                    <a:p>
                      <a:r>
                        <a:t>→ 0.5~0.8 범위 탐색, Precision-Recall 곡선 기반 최적화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" y="374903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※ 1~3순위를 먼저 안정화한 뒤 4~8순위를 순차 적용하는 것을 권장합니다.</a:t>
            </a:r>
          </a:p>
          <a:p>
            <a:r>
              <a:t>※ Milling에서는 임계값 복원(0.75)이 다른 HP 조정보다 우선합니다.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27432"/>
            <a:ext cx="88696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Streamlit 앱 기능 목록 (ML / DL / LLM)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457200"/>
          <a:ext cx="8869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7"/>
                <a:gridCol w="1267097"/>
                <a:gridCol w="1267097"/>
                <a:gridCol w="1267097"/>
                <a:gridCol w="1267097"/>
                <a:gridCol w="1267097"/>
                <a:gridCol w="1267098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탭/메뉴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기능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회귀/분류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사용 데이터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1</a:t>
                      </a:r>
                    </a:p>
                    <a:p>
                      <a:r>
                        <a:t>ML 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설비 파라미터 입력</a:t>
                      </a:r>
                    </a:p>
                    <a:p>
                      <a:r>
                        <a:t>→ 고장 확률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AI4I 정형(10K행</a:t>
                      </a:r>
                    </a:p>
                    <a:p>
                      <a:r>
                        <a:t>설비유형/rpm/토크/</a:t>
                      </a:r>
                    </a:p>
                    <a:p>
                      <a:r>
                        <a:t>공구마모/온도)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2</a:t>
                      </a:r>
                    </a:p>
                    <a:p>
                      <a:r>
                        <a:t>DL 시계열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50스텝 열화 시계열</a:t>
                      </a:r>
                    </a:p>
                    <a:p>
                      <a:r>
                        <a:t>→ 고장 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(50 타임스텝)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3</a:t>
                      </a:r>
                    </a:p>
                    <a:p>
                      <a:r>
                        <a:t>DL 원시신호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공구 원시신호</a:t>
                      </a:r>
                    </a:p>
                    <a:p>
                      <a:r>
                        <a:t>→ 마모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1D-CNN(멀티채널)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NASA Milling</a:t>
                      </a:r>
                    </a:p>
                    <a:p>
                      <a:r>
                        <a:t>(512×6 원시신호)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Tab 4</a:t>
                      </a:r>
                    </a:p>
                    <a:p>
                      <a:r>
                        <a:t>통합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vs DL</a:t>
                      </a:r>
                    </a:p>
                    <a:p>
                      <a:r>
                        <a:t>성능 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ML+DL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비교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XGBoost /</a:t>
                      </a:r>
                    </a:p>
                    <a:p>
                      <a:r>
                        <a:t>CNN+LSTM /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3개 소스 통합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단건 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파라미터 입력</a:t>
                      </a:r>
                    </a:p>
                    <a:p>
                      <a:r>
                        <a:t>→ 시퀀스 생성 →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시뮬레이션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데모 CSV</a:t>
                      </a:r>
                    </a:p>
                    <a:p>
                      <a:r>
                        <a:t>일괄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demo CSV 업로드</a:t>
                      </a:r>
                    </a:p>
                    <a:p>
                      <a:r>
                        <a:t>→ 배치 예측 및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분류(이진)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합성 시계열</a:t>
                      </a:r>
                    </a:p>
                    <a:p>
                      <a:r>
                        <a:t>(demo CSV)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 열화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베어링 센서값</a:t>
                      </a:r>
                    </a:p>
                    <a:p>
                      <a:r>
                        <a:t>→ 열화 단계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분류(다중)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Random Forest /</a:t>
                      </a:r>
                    </a:p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(진동+온도 피처)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 RUL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슬라이딩 윈도우</a:t>
                      </a:r>
                    </a:p>
                    <a:p>
                      <a:r>
                        <a:t>→ 잔여수명(RUL) 예측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GRU / LSTM</a:t>
                      </a:r>
                    </a:p>
                    <a:p>
                      <a:r>
                        <a:t>(window=20, units=32)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베어링</a:t>
                      </a:r>
                    </a:p>
                    <a:p>
                      <a:r>
                        <a:t>(FEMTO_processed)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700"/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RAG</a:t>
                      </a:r>
                    </a:p>
                    <a:p>
                      <a:r>
                        <a:t>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센서 측정값 → FAISS</a:t>
                      </a:r>
                    </a:p>
                    <a:p>
                      <a:r>
                        <a:t>코사인 유사도 검색</a:t>
                      </a:r>
                    </a:p>
                    <a:p>
                      <a:r>
                        <a:t>→ Top-K 사례 + RUL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LLM(RAG)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검색 + 회귀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FAISS 벡터 검색</a:t>
                      </a:r>
                    </a:p>
                    <a:p>
                      <a:r>
                        <a:t>(12차원 피처)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FEMTO-ST 이력</a:t>
                      </a:r>
                    </a:p>
                    <a:p>
                      <a:r>
                        <a:t>(베어링 전체 수명)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OOS RMSE 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【OOS RMSE 각주】</a:t>
            </a:r>
          </a:p>
          <a:p>
            <a:r>
              <a:t>• OOS(Out-Of-Sample): 학습에 미사용된 테스트셋으로 측정한 RMSE → 모델 일반화 성능 지표</a:t>
            </a:r>
          </a:p>
          <a:p>
            <a:r>
              <a:t>  ↔ In-Sample RMSE(학습셋)와 대비; 실무 모델 선정 기준은 OOS 우선</a:t>
            </a:r>
          </a:p>
          <a:p>
            <a:r>
              <a:t>• 단위: 분(min). 810.4분 ≈ 'RUL 예측이 실제와 평균 ~836분 차이' (제곱평균 → 큰 오차 가중)</a:t>
            </a:r>
          </a:p>
          <a:p>
            <a:r>
              <a:t>• 작을수록 우수. OOS ≫ In-Sample 이면 과적합 신호</a:t>
            </a:r>
          </a:p>
          <a:p>
            <a:r>
              <a:t>• 기준선 956분: 그리드서치 챔피언(window=20, units=32, dropout=0.1)의 고정 참조값</a:t>
            </a:r>
          </a:p>
          <a:p>
            <a:r>
              <a:t>  ≠ batch=32 재실험값(1002.6분). 동일 설정도 시드·초기화 변동으로 실행마다 결과 상이</a:t>
            </a:r>
          </a:p>
          <a:p>
            <a:r>
              <a:t>  → 표의 '기존(batch=32)'과 '기준(956분)'은 별개 개념; 혼동 방지 주석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Milling 분류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1148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임계값 0.75 — 3모델 전체 F1=0.0 (붕괴)</a:t>
            </a:r>
          </a:p>
          <a:p>
            <a:r>
              <a:rPr sz="900"/>
              <a:t>원인: 9에폭 조기종료 + P(마모)≈0.66 &lt; 0.75 → 전부 0 예측</a:t>
            </a:r>
          </a:p>
          <a:p/>
          <a:p>
            <a:r>
              <a:rPr sz="900"/>
              <a:t>1D-CNN(멀티채널): ACC=0.3424 F1=0.0000 AUC=0.5000 params=176,321</a:t>
            </a:r>
          </a:p>
          <a:p>
            <a:r>
              <a:rPr sz="900"/>
              <a:t>MLP(Flatten→Dense): ACC=0.3424 F1=0.0000 AUC=0.5000 params=1,722,753</a:t>
            </a:r>
          </a:p>
          <a:p>
            <a:r>
              <a:rPr sz="900"/>
              <a:t>BiLSTM(Conv다운샘플→Bi-LSTM): ACC=0.3424 F1=0.0000 AUC=0.5000 params=59,617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