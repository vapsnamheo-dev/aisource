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5" r:id="rId26"/>
    <p:sldId id="268" r:id="rId19"/>
    <p:sldId id="269" r:id="rId20"/>
    <p:sldId id="270" r:id="rId21"/>
    <p:sldId id="271" r:id="rId22"/>
    <p:sldId id="276" r:id="rId27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13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맑은 고딕"/>
              </a:rPr>
              <a:t>AI 기반 베어링 잔여수명(RUL)
예측 모델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BDD7EE"/>
                </a:solidFill>
                <a:latin typeface="맑은 고딕"/>
              </a:rPr>
              <a:t>FEMTO-ST PRONOSTIA IEEE PHM 2012  |  GRU v2 + BN+LN  |  Streamlit 대시보드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14800"/>
            <a:ext cx="8531352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DD7EE"/>
                </a:solidFill>
                <a:latin typeface="맑은 고딕"/>
              </a:rPr>
              <a:t>딥러닝 프로젝트  |  허남  |  2026. 06.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맑은 고딕"/>
              </a:rPr>
              <a:t>Ⅰ. AI 개발 수행내용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1. 개요 및 현황 (추진배경 / 과제범위 / 추진방법)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맑은 고딕"/>
              </a:rPr>
              <a:t>Ⅱ. 연구개발 주요 결과물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1430000" cy="274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1. 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060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2. 탐색적 데이터 분석 (EDA)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3. 데이터 전처리 및 피처 엔지니어링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918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4. 학습 및 모델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5. Streamlit 웹 애플리케이션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39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6. 결과 요약 및 향후 방향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30000" cy="274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4E79"/>
                </a:solidFill>
                <a:latin typeface="맑은 고딕"/>
              </a:rPr>
              <a:t>부록 A. 성능 개선 실험 (Performance Improvement)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4E79"/>
                </a:solidFill>
                <a:latin typeface="맑은 고딕"/>
              </a:rPr>
              <a:t>부록 B. 데이터 프로파일링 리포트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I-1. 개요 및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추진배경 / 과제범위 / 추진방법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394960" cy="53035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맑은 고딕"/>
              </a:rPr>
              <a:t>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산업용 베어링 예상치 못한 파손 → 생산 라인 전체 정지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정기 점검(PM) 방식: 실제 열화 상태 미반영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과잉/과소 점검 반복 → 비용 낭비 또는 사고 위험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RUL 정량 예측 없이 최적 교체 시점 결정 불가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51560"/>
            <a:ext cx="5943600" cy="53035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맑은 고딕"/>
              </a:rPr>
              <a:t>과제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딥러닝(GRU)으로 베어링 RUL 정량 예측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RF 베이스라인 대비 10% 이상 RMSE 개선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현장 담당자용 Streamlit 웹 대시보드 구축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미관측 베어링(OOS) 일반화 성능 검증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623560"/>
            <a:ext cx="1161288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최종 달성:  GRU v2  OOS RMSE 810.38분  |  RF 대비 15.08% 개선  |  Streamlit Cloud 배포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II-1. 데이터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FEMTO-ST PRONOSTIA IEEE PHM 2012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0262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FEMTO-ST PRONOSTIA Bearing Dataset (IEEE PHM 2012 Challenge)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베어링 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17개 (Learning_set 6개 + Full_Test_Set 11개)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운전 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Cond.1: 1800rpm/4kN  |  Cond.2: 1650rpm/4.2kN  |  Cond.3: 1500rpm/5kN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측정 간격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1분 간격 스냅샷, acc CSV 25,600 샘플 / temp CSV 각 1행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원본 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h/v RMS · Kurtosis · Skewness · CrestFactor (각 4개) + 온도 = 9개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파생 피처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energy=h²+v²  |  health_idx=h_rms×h_kurt  |  rms_ratio=h/v  →  3개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4572000"/>
            <a:ext cx="32004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총 피처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12개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572000"/>
            <a:ext cx="41148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6177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RUL 라벨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0292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total - minute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4572000"/>
            <a:ext cx="27432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4617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열화 임계값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init×2.5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II-2. 탐색적 데이터 분석 (EDA)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Feature Analysis &amp; VIF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87680">
                <a:tc>
                  <a:txBody>
                    <a:bodyPr/>
                    <a:lstStyle/>
                    <a:p>
                      <a:r>
                        <a:t>피처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초기 (정상)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말기 (열화)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기여도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h_rms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0.02~0.05g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0.1~3.0g 급증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 핵심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h_kurt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3.0~4.0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5.0 이상 급등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health_idx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낮음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급격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 파생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energy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낮음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급격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★★★☆ 파생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temp_mean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25~30°C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30~60°C 완만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114800"/>
            <a:ext cx="5486400" cy="2377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160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VIF 분석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7200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VIF 기준: &lt; 10 (다중공선성 제거)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결과: 12개 전체 피처 VIF &lt; 10 → 모두 선택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최대 VIF: energy ≈ 8.5 (파생 피처 중 가장 높음)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4114800"/>
            <a:ext cx="5760720" cy="2377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RUL 분포 특성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57200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베어링 수명: 28분 ~ 2,832분 (100배 차이)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분포: 오른쪽 편향 (대부분 단수명)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베어링간 편차 크므로 GroupKFold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II-3. 데이터 전처리 및 피처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Preprocessing Pipeline &amp; GroupKFold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64008" cy="5212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전처리 파이프라인 (5단계)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① 온도 결측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69164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선형 보간 → bfill/ffill → 중앙값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96312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4203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② 파생 피처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8775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energy=h²+v², health_idx=h_rms×h_kurt, rms_ratio=h/v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92424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38144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③ VIF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48386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VIF&lt;10 기준 → 12개 전체 선택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88536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34256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④ 슬라이딩 윈도우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window=20분, stride=1 → X:(N,20,12), y:(N,)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84648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3036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⑤ 독립 MinMaxScaler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27608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X용 seq_scaler + y용 y_scaler (누수 방지)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051560"/>
            <a:ext cx="36576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데이터 분할 전략 (GroupKFold)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155448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57200">
                <a:tc>
                  <a:txBody>
                    <a:bodyPr/>
                    <a:lstStyle/>
                    <a:p>
                      <a:r>
                        <a:t>용도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베어링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역할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훈련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1_1 / 2_1 / 3_1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GroupKFold 학습·검증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1_2 / 2_2 / 3_2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Streamlit 시연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1_3~7 / 2_3~7 / 3_3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OOS 최종 평가 (11개)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274320" y="5577840"/>
            <a:ext cx="11612880" cy="8686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6235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맑은 고딕"/>
              </a:rPr>
              <a:t>GroupKFold — 베어링 단위 완전 분리 → 시계열 데이터 누수 완전 차단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① RF 베이스라인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RandomForest Baseline (RUL Regression)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4E79"/>
                </a:solidFill>
                <a:latin typeface="맑은 고딕"/>
              </a:rPr>
              <a:t>설정: 마지막 타임스텝의 12개 피처(X[:, -1, :]) 사용 — 시계열 구조 미활용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411480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RF OOS 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954.52분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828800"/>
            <a:ext cx="411480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745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RF OOS 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757.71분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57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DL 최종 모델(GRU v2) 대비 개선 효과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1480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38912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RF 대비 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RF 베이스라인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954.52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757.71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LSTM 초기 모델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934.01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767.09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2.15%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 아키텍처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741.50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4.67%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 v2 최종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665.63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② DL 아키텍처 5종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OOS RMSE — Full_Test_Set 11 bearings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r>
                        <a:t>순위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특징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1위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741.5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게이트 단순, 소형 모델 과적합 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2위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1D-CNN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938.03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754.87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국소 주파수 패턴 학습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CNN-LSTM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996.61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789.89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공간+시계열 복합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4위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BiLSTM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1021.19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805.53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양방향 — 인과 관계상 불리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5위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1036.91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846.21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장기 의존성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526280"/>
            <a:ext cx="11612880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GRU 최종 선정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OOS RMSE 909.96 — 미관측 베어링 11개에서 5종 중 최저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파라미터 수 최소 (업데이트/리셋 게이트만) → 적은 학습 데이터에서 과적합 억제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예지보전 특성상 과거→현재 단방향 인과 관계 → BiLSTM 양방향 우위 없음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③ 하이퍼파라미터 튜닝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Grid Search 27조합 → 옵티마이저 → 배치 → BN+LN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① 그리드서치 (27조합)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08760"/>
          <a:ext cx="5394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11480">
                <a:tc>
                  <a:txBody>
                    <a:bodyPr/>
                    <a:lstStyle/>
                    <a:p>
                      <a:r>
                        <a:t>파라미터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탐색 범위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최적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window_size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[20,30,50]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units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[32,64,128]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dropout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[0.1,0.2,0.3]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맑은 고딕"/>
              </a:rPr>
              <a:t>→ OOS RMSE: 956.05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② 옵티마이저 비교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0" y="1508760"/>
          <a:ext cx="5394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r>
                        <a:t>옵티마이저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Nadam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977.70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Adam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996.88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AdamW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1011.36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3749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③ 배치 크기 튜닝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4160520"/>
          <a:ext cx="5394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20624">
                <a:tc>
                  <a:txBody>
                    <a:bodyPr/>
                    <a:lstStyle/>
                    <a:p>
                      <a:r>
                        <a:t>배치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16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836.60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1002.56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1114.39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1054.33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35040" y="3749039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④ BN+LN 정규화 효과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35040" y="41605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v1 (Dropout만)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973.47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v2 (BN+LN)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▼16.75%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35040" y="5623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맑은 고딕"/>
              </a:rPr>
              <a:t>학습 Epoch: 54 → 33으로 단축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④ GRU v2 최종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GRU + LayerNormalization + BatchNormalization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698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Input (20, 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698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입력 (20분, 12피처)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18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GRU(32, ret=True)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618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전체 학습 (return_sequences=True)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39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1671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LayerNorm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1671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내 정규화 (배치 의존 없음)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97479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715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Dropout(0.1)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15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과적합 억제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4612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2644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GRU(16)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2644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최종 상태 추출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13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LayerNorm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13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2차 정규화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4340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3616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BatchNorm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3616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특성 분포 안정화 (학습 가속)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92040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9103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Dense(32, relu)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9103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비선형 변환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440679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4589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Dropout(0.1)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4589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과적합 억제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89319"/>
            <a:ext cx="3291840" cy="4846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007607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Dense(1) — RUL 출력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6007607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잔여수명 분 단위 예측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097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학습 설정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406640" y="1508760"/>
          <a:ext cx="44805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</a:tblGrid>
              <a:tr h="436880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window_size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units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32 → 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dropout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batch_size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Adam(1e-3)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loss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EarlyStopping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patience=10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ModelCheckpoint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val_loss 최소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7406640" y="5669280"/>
            <a:ext cx="448056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5687568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OOS RMSE: 810.38분
OOS MAE:   665.63분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II-5. Streamlit 웹 애플리케이션 프로토타입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https://dlfactoryautomation.streamlit.app/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24128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맑은 고딕"/>
              </a:rPr>
              <a:t>⚙️ 사이드바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46304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맑은 고딕"/>
              </a:rPr>
              <a:t>• ML 임계값 슬라이더 (기본 0.50)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맑은 고딕"/>
              </a:rPr>
              <a:t>• RUL 경보 기준 (기본 60분)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맑은 고딕"/>
              </a:rPr>
              <a:t>• 변경 이력 expander</a:t>
            </a:r>
          </a:p>
          <a:p>
            <a:pPr algn="l"/>
            <a:r>
              <a:rPr sz="1100">
                <a:solidFill>
                  <a:srgbClr val="1A1A1A"/>
                </a:solidFill>
                <a:latin typeface="맑은 고딕"/>
              </a:rPr>
              <a:t>• 실행 순서 안내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24128"/>
            <a:ext cx="173736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042415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📊 탭 1
데이터 탐색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691640"/>
            <a:ext cx="1737360" cy="2697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1755648"/>
            <a:ext cx="16002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h_rms 추이
열화 라벨 분포
피처 박스플롯
4개 KPI 메트릭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024128"/>
            <a:ext cx="17373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042415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🤖 탭 2
ML 성능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1737360" cy="2697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1755648"/>
            <a:ext cx="16002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VIF 분석 표
모델 3종 비교
Feature Importance
Confusion Matrix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024128"/>
            <a:ext cx="173736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042415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🔮 탭 3
DL RUL 예측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691640"/>
            <a:ext cx="1737360" cy="2697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55648"/>
            <a:ext cx="16002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ML vs LSTM 비교
LSTM 학습곡선
베어링 RUL 추이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1024128"/>
            <a:ext cx="17373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042415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🏭 탭 4
통합 진단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1691640"/>
            <a:ext cx="1737360" cy="2697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1755648"/>
            <a:ext cx="16002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진동값 9개 슬라이더
진단하기 버튼
ML 열화 판정
RUL &amp; 경보 등급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1024128"/>
            <a:ext cx="173736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1042415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🔬 탭 5
아키텍처 비교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1691640"/>
            <a:ext cx="1737360" cy="2697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05872" y="1755648"/>
            <a:ext cx="16002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5종 성능 비교표
EarlyStopping 분석
학습곡선 PNG
OOS 예측 PNG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6177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시스템 품질 지표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274320" y="5010912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56616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기준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실제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판정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OOS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900분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810.38분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RF 대비 개선율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&gt; 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응답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2초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@st.cache_resource ~0.1초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데이터 누수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GroupKFold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베어링 단위 완전 분리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II-6. 결과 요약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486400" cy="4663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결과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아키텍처 5종 비교 → GRU 최종 선정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BN+LN 정규화로 OOS RMSE 16.75% 개선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배치=16으로 최적 일반화 달성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GRU v2: OOS RMSE 810.38 (RF 대비 15.08%↓)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Streamlit Cloud 5탭 대시보드 배포 완료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51560"/>
            <a:ext cx="5486400" cy="4663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향후 방향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Attention 메커니즘 → 열화 말기 정밀도 향상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SHAP 해설 → 피처별 기여도 시각화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앙상블 (GRU + 1D-CNN) 성능 향상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IoT 실시간 스트림 연동 (MQTT, 1분 주기)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MLOps 자동 재학습 파이프라인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051560"/>
            <a:ext cx="36576" cy="4663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5852160"/>
          <a:ext cx="11612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228600">
                <a:tc>
                  <a:txBody>
                    <a:bodyPr/>
                    <a:lstStyle/>
                    <a:p>
                      <a:r>
                        <a:t>단계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목표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완료 (현재)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v2 BN+LN + 배치=16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810.38분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Attention + SHAP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700분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앙상블 + 실공장 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600분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4E79"/>
                </a:solidFill>
              </a:rPr>
              <a:t>II-6 추가. ML+DL 통합으로 PdM 고장예지 범위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1. 이 DL 시스템 내 ML+DL 2단 진단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5488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  ML (LogReg) : 이진 알람 - 지금 열화 중인가?  (빠름, 경량, 설명 가능)
  DL (LSTM)   : 정량 예측 - 잔여수명 몇 분?    (시계열 패턴 학습)
  결합 효과   : 열화 감지 -&gt; RUL 정량화 -&gt; 경보  (오경보 DOWN, 정보량 UP)
  ML만 있을 때  : '고장 가능성 있음'
  ML+DL 결합   : '열화 감지됨 + 잔여수명 약 47분 -&gt; 다음 교대조 전 교체 권장'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42316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2. ML 과제 + DL 과제 통합 시 PdM 커버리지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788920"/>
            <a:ext cx="1154887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  ML 과제 (mlfactoryautomation.streamlit.app)
    대상: CNC 공작기계 (선삭/밀링)
    고장: 공구마모, 열발산, 전력과부하, 오버스트레인, 무작위 고장 5종
    방법: 랜덤포레스트/XGBoost 이진 분류
  DL 과제 (이 앱 - dlfactoryautomation.streamlit.app)
    대상: 회전기계 베어링 (FEMTO-ST IEEE PHM 2012)
    고장: 피로균열, 표면마모 등 진동 기반 열화
    방법: ML(열화 분류) + LSTM(잔여수명 예측) 2단 진단
  두 시스템 통합
    가공 장비(CNC) + 회전체(베어링) = 제조 라인 전체 PdM 커버
    장비 유형별 전문 모델 -&gt; 스마트 팩토리 예지보전 플랫폼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532120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00000"/>
                </a:solidFill>
              </a:rPr>
              <a:t>결론: 두 시스템을 함께 운영하면 '가공 장비 고장'과 '베어링 마모'를 모두 사전에 감지하고 정량화할 수 있어, PdM 예지보전 대상 범위와 예측 정밀도가 동시에 향상됩니다.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부록 A. 성능 개선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Performance Improvement — All 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아키텍처 5종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5394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41960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741.50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1D-CNN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938.03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754.87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CNN-LSTM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996.61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789.89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BiLSTM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1021.19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805.53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1036.91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846.21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0515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단계별 성능 개선 요약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463040"/>
          <a:ext cx="5760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57200">
                <a:tc>
                  <a:txBody>
                    <a:bodyPr/>
                    <a:lstStyle/>
                    <a:p>
                      <a:r>
                        <a:t>단계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RF 베이스라인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954.52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아키텍처 선택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4.67%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배치=16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836.60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12.33%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③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BN+LN 정규화 (v2)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그리드서치 TOP 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6634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04800">
                <a:tc>
                  <a:txBody>
                    <a:bodyPr/>
                    <a:lstStyle/>
                    <a:p>
                      <a:r>
                        <a:t>순위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window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units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dropout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956.05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959.55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968.52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971.71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부록 B. 데이터 프로파일링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FEMTO-ST Bearing Data Profile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r>
                        <a:t>베어링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용도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운전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수명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~2,832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~911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~870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~797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~1,637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Bearing1_3~7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28~339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Bearing2_3~7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339~1,637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394960"/>
            <a:ext cx="11612880" cy="114300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데이터 품질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결측치: 온도(temp_mean)만 발생 — 선형 보간 처리 완료</a:t>
            </a:r>
          </a:p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중복: 0건 (1분 간격 스냅샷, 중복 없음)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이상치: 말기 h_rms 급등은 열화 신호이므로 제거하지 않음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Confusion Matrix — DL 이진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CNN+LSTM (Validation Set, 179 samples)  ·  Threshold = 0.50  ·  Accuracy = 0.80</a:t>
            </a:r>
          </a:p>
        </p:txBody>
      </p:sp>
      <p:pic>
        <p:nvPicPr>
          <p:cNvPr id="6" name="Picture 5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3035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10515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Confusion Matrix 수치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463040"/>
          <a:ext cx="61264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/>
                <a:gridCol w="2042160"/>
                <a:gridCol w="204216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예측: 정상(0)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예측: 고장(1)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실제: 정상(0)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TN = 93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FP = 12 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실제: 고장(1)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FN = 24 ✗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TP = 50 ✓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27889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분류 성능 지표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52160" y="3200400"/>
          <a:ext cx="61264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/>
                <a:gridCol w="2042160"/>
                <a:gridCol w="2042160"/>
              </a:tblGrid>
              <a:tr h="308610">
                <a:tc>
                  <a:txBody>
                    <a:bodyPr/>
                    <a:lstStyle/>
                    <a:p>
                      <a:r>
                        <a:t>지표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클래스 0 (정상)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클래스 1 (고장)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0.79  (93/(93+24))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0.81  (50/(50+12))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Recall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0.89  (93/(93+12))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0.68  (50/(50+24)) ↓</a:t>
                      </a:r>
                    </a:p>
                  </a:txBody>
                  <a:tcPr>
                    <a:solidFill>
                      <a:srgbClr val="FFE0E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852160" y="4572000"/>
            <a:ext cx="6126480" cy="1554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6177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맑은 고딕"/>
              </a:rPr>
              <a:t>핵심 문제: FN = 24 (미감지) 가 더 심각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029200"/>
            <a:ext cx="5943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맑은 고딕"/>
              </a:rPr>
              <a:t>• FP 12건: 정상 → 고장 오판 → 불필요한 점검 (비용↑, 안전 무관)
• FN 24건: 실제 고장 미감지 → 설비 손상·라인 정지 위험 ★
• Class 1 Recall 0.68 → 고장 32% 놓침 → 개선 필요
• Threshold 0.50→0.35 하향 시 FN 대폭 감소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FP / FN 개선 방향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False Positive(오경보) vs False Negative(미감지)  ·  우선순위 기반 개선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11612880" cy="7772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오경보(FP) vs 미감지(FN) — 제조업 관점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356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맑은 고딕"/>
              </a:rPr>
              <a:t>FP(오경보): 안전 측면 위험 없음, 불필요한 유지보수 비용 발생  |  FN(미감지): 실제 고장 방치 → 설비 파손·생산 중단 → 비용/안전 모두 위험 ★★★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539496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맑은 고딕"/>
              </a:rPr>
              <a:t>FP = 12 개선 (오경보 줄이기)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5212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맑은 고딕"/>
              </a:rPr>
              <a:t>① Threshold 상향 (0.50 → 0.65~0.75)
   → 예측 확신도 높을 때만 고장 판정
   → FP 감소, FN 증가 가능성
② 정상 구간 말기 데이터 추가 수집
   → 고장 초기와 구분되는 패턴 학습
③ Class 0 가중치 소폭 증가
   (class_weight={0:1.2, 1:1.0})
⚠ 주의: FP를 줄이면 FN이 증가할 수 있음
  → 제조업에서는 FN 최소화가 우선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965960"/>
            <a:ext cx="5943600" cy="41148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0116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3600"/>
                </a:solidFill>
                <a:latin typeface="맑은 고딕"/>
              </a:rPr>
              <a:t>FN = 24 개선 ★ 우선순위 높음 (미감지 줄이기)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423160"/>
            <a:ext cx="57607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맑은 고딕"/>
              </a:rPr>
              <a:t>① Threshold 하향 (0.50 → 0.30~0.40) ← 즉시 적용 가능
   Streamlit 슬라이더로 현장에서 바로 조정
   예상: Recall 0.68 → 0.80~0.85
② Class 1 가중치 증가 (재학습 필요)
   class_weight={0:1.0, 1:2.0~3.0}
   → 학습 시 고장 샘플에 더 높은 손실 부과
③ SMOTE 오버샘플링
   Class 1(74건) 합성 샘플 추가
   → 불균형 해소, 고장 패턴 학습 강화
④ 피처 추가 (장기 개선)
   진동 변화율, 주파수 도메인 특성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199632"/>
            <a:ext cx="11612880" cy="274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1순위: Threshold 하향(슬라이더)  →  2순위: class_weight 재학습  →  3순위: SMOTE  →  4순위: 피처 엔지니어링 (Phase 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</a:rPr>
              <a:t>부록 C. SHAP 예측 설명 분석 (로컬 CPU 1시간 이내)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33333"/>
                </a:solidFill>
              </a:rPr>
              <a:t>[SHAP란?]
게임이론 기반 피처 기여도 분해. 각 피처가 개별 예측에 얼마나 기여했는지 정량화.
[적용 모델 및 방법]
  1. 분류 모델 (LogisticRegression) - LinearExplainer : 선형 계수 기반 즉시 계산 (&lt;1초)
  2. GRU v2 RUL 회귀 모델 - KernelExplainer (시간축 평균 근사) : 약 25초 (CPU)
     * DeepExplainer/GradientExplainer는 Keras 커스텀 ops 미지원으로 KernelExplainer 폴백 사용
[로컬 실행 방법]
  pip install shap
  python -m src.femto_shap
  -&gt; 산출물/_imgs/S1_shap_clf.png, S2_shap_gru.png, S3_shap_bar.png 생성
[해석 포인트]
  Beeswarm: X축 = SHAP값 (+면 예측 증가, -면 예측 감소) | 색상 = 피처값 크기
  막대: |SHAP| 평균 -&gt; 피처 전체 중요도 순위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</a:rPr>
              <a:t>SHAP Beeswarm - 분류 모델 열화 감지 (LogisticRegression, Class1 기여도)</a:t>
            </a:r>
          </a:p>
        </p:txBody>
      </p:sp>
      <p:pic>
        <p:nvPicPr>
          <p:cNvPr id="3" name="Picture 2" descr="S1_shap_c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7863840" cy="51891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2745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[해석]
  h_rms (수평 RMS): SHAP 절대값 최대 -&gt; 열화 감지 핵심 피처. 클수록 열화 확률 상승
  h_kurt (첨도): 충격성 이상 반영. 높을수록 열화 확률 상승
  rms_ratio (h/v 불균형): 방향성 이상 반영
  temp_mean: 데이터 없어 0 처리 -&gt; 기여도 0 (온도 센서 미활용 환경)
  결론: 수평 진동의 크기 + 충격성 조합이 열화 여부 결정에 지배적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</a:rPr>
              <a:t>SHAP - GRU v2 RUL 예측 (왼쪽) &amp; 두 모델 피처 중요도 비교 (오른쪽)</a:t>
            </a:r>
          </a:p>
        </p:txBody>
      </p:sp>
      <p:pic>
        <p:nvPicPr>
          <p:cNvPr id="3" name="Picture 2" descr="S2_shap_g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206240" cy="2786727"/>
          </a:xfrm>
          <a:prstGeom prst="rect">
            <a:avLst/>
          </a:prstGeom>
        </p:spPr>
      </p:pic>
      <p:pic>
        <p:nvPicPr>
          <p:cNvPr id="4" name="Picture 3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14400"/>
            <a:ext cx="4297680" cy="16116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112745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[GRU RUL 모델 - 왼쪽]
  energy (총 진동 에너지) + h_rms 가 RUL 예측에 최대 기여 | 에너지 높을수록 잔여수명 단축(RUL-)
[두 모델 비교 - 오른쪽]
  분류(열화감지): h_rms &gt; h_kurt &gt; rms_ratio 순
  GRU(RUL회귀):  energy &gt; h_rms &gt; health_idx 순
  -&gt; energy 파생 피처가 RUL 회귀에서 추가 변별력 제공 / 두 모델 모두 h_rms 핵심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SHAP 분석으로 얻은 핵심 인사이트 -- 예측 설명 가능성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303520" cy="19888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640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핵심 인사이트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05156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1. 어느 신호가 중요한가?
   h_rms(수평 진동 RMS)가 두 모델 공통 1위
   -&gt; 열화 초기부터 진폭 변화가 가장 큰 지표
2. 두 모델 비교
   ML(분류): 특징 위계가 뚜렷 (RMS &gt; 첨도 &gt; 왜도)
   DL(RUL): 시간축 평균화로 전반적 패턴 반영
3. 포트폴리오 차별점
   '블랙박스' DL에 SHAP 적용 -&gt; 신뢰 가능한
   예지보전 시스템으로 발전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577840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00000"/>
                </a:solidFill>
              </a:rPr>
              <a:t>* DL(GRU) SHAP: 시간 축 평균화 근사 (KernelExplainer) 사용 -- 계산 비용(CPU 1분+)으로 실시간 설명은 제한적. ML 모델은 LinearExplainer로 정확한 SHAP 산출.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