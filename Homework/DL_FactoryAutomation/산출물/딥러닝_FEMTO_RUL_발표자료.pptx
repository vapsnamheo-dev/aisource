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맑은 고딕"/>
              </a:rPr>
              <a:t>AI 기반 베어링 잔여수명(RUL)
예측 모델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BDD7EE"/>
                </a:solidFill>
                <a:latin typeface="맑은 고딕"/>
              </a:rPr>
              <a:t>FEMTO-ST PRONOSTIA IEEE PHM 2012  |  GRU v2 + BN+LN  |  Streamlit 대시보드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114800"/>
            <a:ext cx="8531352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DD7EE"/>
                </a:solidFill>
                <a:latin typeface="맑은 고딕"/>
              </a:rPr>
              <a:t>딥러닝 프로젝트  |  허남  |  2026. 06.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목  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Table of 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맑은 고딕"/>
              </a:rPr>
              <a:t>Ⅰ. AI 개발 수행내용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맑은 고딕"/>
              </a:rPr>
              <a:t>1. 개요 및 현황 (추진배경 / 과제범위 / 추진방법)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65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맑은 고딕"/>
              </a:rPr>
              <a:t>Ⅱ. 연구개발 주요 결과물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68880"/>
            <a:ext cx="11430000" cy="274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60604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맑은 고딕"/>
              </a:rPr>
              <a:t>1. 데이터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0604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맑은 고딕"/>
              </a:rPr>
              <a:t>2. 탐색적 데이터 분석 (EDA)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맑은 고딕"/>
              </a:rPr>
              <a:t>3. 데이터 전처리 및 피처 엔지니어링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9184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맑은 고딕"/>
              </a:rPr>
              <a:t>4. 학습 및 모델 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77639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맑은 고딕"/>
              </a:rPr>
              <a:t>5. Streamlit 웹 애플리케이션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977639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맑은 고딕"/>
              </a:rPr>
              <a:t>6. 결과 요약 및 향후 방향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30000" cy="274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800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4E79"/>
                </a:solidFill>
                <a:latin typeface="맑은 고딕"/>
              </a:rPr>
              <a:t>부록 A. 성능 개선 실험 (Performance Improvement)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00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4E79"/>
                </a:solidFill>
                <a:latin typeface="맑은 고딕"/>
              </a:rPr>
              <a:t>부록 B. 데이터 프로파일링 리포트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I-1. 개요 및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추진배경 / 과제범위 / 추진방법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5394960" cy="53035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972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맑은 고딕"/>
              </a:rPr>
              <a:t>문제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산업용 베어링 예상치 못한 파손 → 생산 라인 전체 정지</a:t>
            </a:r>
          </a:p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정기 점검(PM) 방식: 실제 열화 상태 미반영</a:t>
            </a:r>
          </a:p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과잉/과소 점검 반복 → 비용 낭비 또는 사고 위험</a:t>
            </a:r>
          </a:p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RUL 정량 예측 없이 최적 교체 시점 결정 불가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051560"/>
            <a:ext cx="5943600" cy="53035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맑은 고딕"/>
              </a:rPr>
              <a:t>과제 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554480"/>
            <a:ext cx="5669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딥러닝(GRU)으로 베어링 RUL 정량 예측</a:t>
            </a:r>
          </a:p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RF 베이스라인 대비 10% 이상 RMSE 개선</a:t>
            </a:r>
          </a:p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현장 담당자용 Streamlit 웹 대시보드 구축</a:t>
            </a:r>
          </a:p>
          <a:p>
            <a:pPr algn="l"/>
            <a:r>
              <a:rPr sz="1400">
                <a:solidFill>
                  <a:srgbClr val="1A1A1A"/>
                </a:solidFill>
                <a:latin typeface="맑은 고딕"/>
              </a:rPr>
              <a:t>• 미관측 베어링(OOS) 일반화 성능 검증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623560"/>
            <a:ext cx="1161288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6692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최종 달성:  GRU v2  OOS RMSE 810.38분  |  RF 대비 15.08% 개선  |  Streamlit Cloud 배포 완료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II-1. 데이터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FEMTO-ST PRONOSTIA IEEE PHM 2012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5156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0262">
                <a:tc>
                  <a:txBody>
                    <a:bodyPr/>
                    <a:lstStyle/>
                    <a:p>
                      <a:r>
                        <a:t>항목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내용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데이터셋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FEMTO-ST PRONOSTIA Bearing Dataset (IEEE PHM 2012 Challenge)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베어링 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17개 (Learning_set 6개 + Full_Test_Set 11개)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운전 조건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Cond.1: 1800rpm/4kN  |  Cond.2: 1650rpm/4.2kN  |  Cond.3: 1500rpm/5kN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측정 간격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1분 간격 스냅샷, acc CSV 25,600 샘플 / temp CSV 각 1행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원본 피처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h/v RMS · Kurtosis · Skewness · CrestFactor (각 4개) + 온도 = 9개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파생 피처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energy=h²+v²  |  health_idx=h_rms×h_kurt  |  rms_ratio=h/v  →  3개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4572000"/>
            <a:ext cx="3200400" cy="12801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61772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DD7EE"/>
                </a:solidFill>
                <a:latin typeface="맑은 고딕"/>
              </a:rPr>
              <a:t>총 피처 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029200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12개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572000"/>
            <a:ext cx="4114800" cy="12801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461772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DD7EE"/>
                </a:solidFill>
                <a:latin typeface="맑은 고딕"/>
              </a:rPr>
              <a:t>RUL 라벨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502920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total - minute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4572000"/>
            <a:ext cx="2743200" cy="12801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4617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DD7EE"/>
                </a:solidFill>
                <a:latin typeface="맑은 고딕"/>
              </a:rPr>
              <a:t>열화 임계값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0292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init×2.5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II-2. 탐색적 데이터 분석 (EDA)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Feature Analysis &amp; VIF Selection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515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87680">
                <a:tc>
                  <a:txBody>
                    <a:bodyPr/>
                    <a:lstStyle/>
                    <a:p>
                      <a:r>
                        <a:t>피처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초기 (정상)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말기 (열화)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기여도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h_rms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0.02~0.05g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0.1~3.0g 급증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★★★★ 핵심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h_kurt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3.0~4.0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5.0 이상 급등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★★★★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health_idx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낮음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급격 증가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★★★★ 파생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energy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낮음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급격 증가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★★★☆ 파생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temp_mean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25~30°C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30~60°C 완만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114800"/>
            <a:ext cx="5486400" cy="237744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1605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VIF 분석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7200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VIF 기준: &lt; 10 (다중공선성 제거)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결과: 12개 전체 피처 VIF &lt; 10 → 모두 선택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최대 VIF: energy ≈ 8.5 (파생 피처 중 가장 높음)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4114800"/>
            <a:ext cx="5760720" cy="237744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4160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RUL 분포 특성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57200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베어링 수명: 28분 ~ 2,832분 (100배 차이)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분포: 오른쪽 편향 (대부분 단수명)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베어링간 편차 크므로 GroupKFold 필수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II-3. 데이터 전처리 및 피처 엔지니어링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Preprocessing Pipeline &amp; GroupKFold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64008" cy="5212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전처리 파이프라인 (5단계)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194560" cy="7498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① 온도 결측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69164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선형 보간 → bfill/ffill → 중앙값 채움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96312"/>
            <a:ext cx="2194560" cy="7498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4203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② 파생 피처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587752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energy=h²+v², health_idx=h_rms×h_kurt, rms_ratio=h/v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92424"/>
            <a:ext cx="2194560" cy="7498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438144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③ VIF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483864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VIF&lt;10 기준 → 12개 전체 선택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88536"/>
            <a:ext cx="2194560" cy="7498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334256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④ 슬라이딩 윈도우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379976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window=20분, stride=1 → X:(N,20,12), y:(N,)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84648"/>
            <a:ext cx="2194560" cy="74980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230368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⑤ 독립 MinMaxScaler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27608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X용 seq_scaler + y용 y_scaler (누수 방지)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1051560"/>
            <a:ext cx="36576" cy="5212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데이터 분할 전략 (GroupKFold)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155448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457200">
                <a:tc>
                  <a:txBody>
                    <a:bodyPr/>
                    <a:lstStyle/>
                    <a:p>
                      <a:r>
                        <a:t>용도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베어링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역할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훈련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1_1 / 2_1 / 3_1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GroupKFold 학습·검증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데모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1_2 / 2_2 / 3_2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Streamlit 시연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1_3~7 / 2_3~7 / 3_3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OOS 최종 평가 (11개)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274320" y="5577840"/>
            <a:ext cx="11612880" cy="86868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56235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맑은 고딕"/>
              </a:rPr>
              <a:t>GroupKFold — 베어링 단위 완전 분리 → 시계열 데이터 누수 완전 차단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II-4. 학습 및 모델 평가 ① RF 베이스라인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RandomForest Baseline (RUL Regression)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4E79"/>
                </a:solidFill>
                <a:latin typeface="맑은 고딕"/>
              </a:rPr>
              <a:t>설정: 마지막 타임스텝의 12개 피처(X[:, -1, :]) 사용 — 시계열 구조 미활용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828800"/>
            <a:ext cx="4114800" cy="1554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87452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DD7EE"/>
                </a:solidFill>
                <a:latin typeface="맑은 고딕"/>
              </a:rPr>
              <a:t>RF OOS RMSE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954.52분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1828800"/>
            <a:ext cx="4114800" cy="1554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87452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DD7EE"/>
                </a:solidFill>
                <a:latin typeface="맑은 고딕"/>
              </a:rPr>
              <a:t>RF OOS MAE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28600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맑은 고딕"/>
              </a:rPr>
              <a:t>757.71분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6576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DL 최종 모델(GRU v2) 대비 개선 효과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1480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38912">
                <a:tc>
                  <a:txBody>
                    <a:bodyPr/>
                    <a:lstStyle/>
                    <a:p>
                      <a:r>
                        <a:t>모델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 (분)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MAE (분)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RF 대비 개선율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RF 베이스라인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954.52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757.71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LSTM 초기 모델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934.01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767.09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▼ 2.15%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GRU 아키텍처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909.96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741.50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▼ 4.67%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GRU v2 최종 ★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810.38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665.63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▼ 15.08%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II-4. 학습 및 모델 평가 ② DL 아키텍처 5종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OOS RMSE — Full_Test_Set 11 bearings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5156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548640">
                <a:tc>
                  <a:txBody>
                    <a:bodyPr/>
                    <a:lstStyle/>
                    <a:p>
                      <a:r>
                        <a:t>순위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모델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 (분)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MAE (분)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특징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1위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GRU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909.96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741.5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게이트 단순, 소형 모델 과적합 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2위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1D-CNN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938.03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754.87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국소 주파수 패턴 학습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3위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CNN-LSTM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996.61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789.89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공간+시계열 복합 구조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4위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BiLSTM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1021.19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805.53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양방향 — 인과 관계상 불리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5위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1036.91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846.21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맑은 고딕"/>
                        </a:rPr>
                        <a:t>장기 의존성 학습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526280"/>
            <a:ext cx="11612880" cy="21031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5720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GRU 최종 선정 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029200"/>
            <a:ext cx="11430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OOS RMSE 909.96 — 미관측 베어링 11개에서 5종 중 최저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파라미터 수 최소 (업데이트/리셋 게이트만) → 적은 학습 데이터에서 과적합 억제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예지보전 특성상 과거→현재 단방향 인과 관계 → BiLSTM 양방향 우위 없음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II-4. 학습 및 모델 평가 ③ 하이퍼파라미터 튜닝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Grid Search 27조합 → 옵티마이저 → 배치 → BN+LN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① 그리드서치 (27조합)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508760"/>
          <a:ext cx="5394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411480">
                <a:tc>
                  <a:txBody>
                    <a:bodyPr/>
                    <a:lstStyle/>
                    <a:p>
                      <a:r>
                        <a:t>파라미터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탐색 범위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최적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window_size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[20,30,50]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units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[32,64,128]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dropout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[0.1,0.2,0.3]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246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맑은 고딕"/>
              </a:rPr>
              <a:t>→ OOS RMSE: 956.05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② 옵티마이저 비교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35040" y="1508760"/>
          <a:ext cx="5394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411480">
                <a:tc>
                  <a:txBody>
                    <a:bodyPr/>
                    <a:lstStyle/>
                    <a:p>
                      <a:r>
                        <a:t>옵티마이저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Nadam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977.70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Adam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996.88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AdamW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1011.36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74320" y="374903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③ 배치 크기 튜닝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4160520"/>
          <a:ext cx="53949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420624">
                <a:tc>
                  <a:txBody>
                    <a:bodyPr/>
                    <a:lstStyle/>
                    <a:p>
                      <a:r>
                        <a:t>배치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16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836.60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1002.56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1114.39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1054.33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35040" y="3749039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④ BN+LN 정규화 효과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035040" y="416052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457200">
                <a:tc>
                  <a:txBody>
                    <a:bodyPr/>
                    <a:lstStyle/>
                    <a:p>
                      <a:r>
                        <a:t>모델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개선율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v1 (Dropout만)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973.47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v2 (BN+LN) ★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810.38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▼16.75%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035040" y="5623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맑은 고딕"/>
              </a:rPr>
              <a:t>학습 Epoch: 54 → 33으로 단축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II-4. 학습 및 모델 평가 ④ GRU v2 최종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GRU + LayerNormalization + BatchNormalization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3291840" cy="4846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698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Input (20, 12)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698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시퀀스 입력 (20분, 12피처)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3291840" cy="4846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184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GRU(32, ret=True)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6184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시퀀스 전체 학습 (return_sequences=True)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48839"/>
            <a:ext cx="3291840" cy="4846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1671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LayerNorm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1671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시퀀스 내 정규화 (배치 의존 없음)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97479"/>
            <a:ext cx="3291840" cy="4846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7157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Dropout(0.1)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7157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과적합 억제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246120"/>
            <a:ext cx="3291840" cy="4846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2644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GRU(16)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2644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최종 상태 추출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94760"/>
            <a:ext cx="3291840" cy="4846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813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LayerNorm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3813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2차 정규화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343400"/>
            <a:ext cx="3291840" cy="4846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43616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BatchNorm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3616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특성 분포 안정화 (학습 가속)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92040"/>
            <a:ext cx="3291840" cy="4846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9103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Dense(32, relu)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49103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비선형 변환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440679"/>
            <a:ext cx="3291840" cy="4846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54589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Dropout(0.1)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4589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과적합 억제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989319"/>
            <a:ext cx="3291840" cy="4846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007607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Dense(1) — RUL 출력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39" y="6007607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← 잔여수명 분 단위 예측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1097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학습 설정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406640" y="1508760"/>
          <a:ext cx="44805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240280"/>
              </a:tblGrid>
              <a:tr h="436880">
                <a:tc>
                  <a:txBody>
                    <a:bodyPr/>
                    <a:lstStyle/>
                    <a:p>
                      <a:r>
                        <a:t>항목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값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window_size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units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32 → 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dropout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batch_size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Adam(1e-3)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loss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MSE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EarlyStopping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patience=10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ModelCheckpoint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val_loss 최소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7406640" y="5669280"/>
            <a:ext cx="448056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52360" y="5687568"/>
            <a:ext cx="4297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OOS RMSE: 810.38분
OOS MAE:   665.63분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II-5. Streamlit 웹 애플리케이션 프로토타입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https://dlfactoryautomation.streamlit.app/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2212848" cy="5486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155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탭 1: 데이터 탐색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2212848" cy="21031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2011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RUL 곡선
피처 트렌드
VIF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79" y="1097280"/>
            <a:ext cx="2212848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199" y="11155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탭 2: ML 성능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79" y="1691640"/>
            <a:ext cx="2212848" cy="21031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19" y="1783080"/>
            <a:ext cx="2011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RF 예측 결과
피처 중요도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1097280"/>
            <a:ext cx="2212848" cy="5486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1155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탭 3: DL RUL 예측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1691640"/>
            <a:ext cx="2212848" cy="21031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1783080"/>
            <a:ext cx="2011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GRU v2 실시간
RUL 경보 등급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919" y="1097280"/>
            <a:ext cx="2212848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39" y="11155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탭 4: 통합 진단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0919" y="1691640"/>
            <a:ext cx="2212848" cy="21031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59" y="1783080"/>
            <a:ext cx="2011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ML+DL 융합
임계값 조정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92640" y="1097280"/>
            <a:ext cx="2212848" cy="5486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38360" y="11155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탭 5: 아키텍처 비교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92640" y="1691640"/>
            <a:ext cx="2212848" cy="210312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0" y="1783080"/>
            <a:ext cx="2011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맑은 고딕"/>
              </a:rPr>
              <a:t>5종 RMSE 차트
그리드서치 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977639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시스템 품질 지표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365760" y="4389120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20624">
                <a:tc>
                  <a:txBody>
                    <a:bodyPr/>
                    <a:lstStyle/>
                    <a:p>
                      <a:r>
                        <a:t>항목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기준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실제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판정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OOS 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&lt; 900분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810.38분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✔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RF 대비 개선율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&gt; 10%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15.08%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✔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응답 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&lt; 2초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@st.cache_resource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✔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데이터 누수 방지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GroupKFold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베어링 단위 완전 분리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1A"/>
                          </a:solidFill>
                          <a:latin typeface="맑은 고딕"/>
                        </a:rPr>
                        <a:t>✔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II-6. 결과 요약 및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5486400" cy="466344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972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결과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5212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아키텍처 5종 비교 → GRU 최종 선정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BN+LN 정규화로 OOS RMSE 16.75% 개선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배치=16으로 최적 일반화 달성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GRU v2: OOS RMSE 810.38 (RF 대비 15.08%↓)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Streamlit Cloud 5탭 대시보드 배포 완료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51560"/>
            <a:ext cx="5486400" cy="466344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0972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맑은 고딕"/>
              </a:rPr>
              <a:t>향후 방향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5212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Attention 메커니즘 → 열화 말기 정밀도 향상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SHAP 해설 → 피처별 기여도 시각화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앙상블 (GRU + 1D-CNN) 성능 향상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IoT 실시간 스트림 연동 (MQTT, 1분 주기)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맑은 고딕"/>
              </a:rPr>
              <a:t>• MLOps 자동 재학습 파이프라인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051560"/>
            <a:ext cx="36576" cy="4663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74320" y="5852160"/>
          <a:ext cx="116128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228600">
                <a:tc>
                  <a:txBody>
                    <a:bodyPr/>
                    <a:lstStyle/>
                    <a:p>
                      <a:r>
                        <a:t>단계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내용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목표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완료 (현재)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GRU v2 BN+LN + 배치=16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810.38분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Phase 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Attention + SHAP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&lt; 700분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앙상블 + 실공장 데이터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&lt; 600분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부록 A. 성능 개선 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Performance Improvement — All Experiments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아키텍처 5종 비교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5394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441960">
                <a:tc>
                  <a:txBody>
                    <a:bodyPr/>
                    <a:lstStyle/>
                    <a:p>
                      <a:r>
                        <a:t>모델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MAE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GRU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909.96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741.50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1D-CNN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938.03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754.87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CNN-LSTM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996.61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789.89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BiLSTM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1021.19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805.53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1036.91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846.21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35040" y="10515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단계별 성능 개선 요약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463040"/>
          <a:ext cx="5760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440180"/>
                <a:gridCol w="1440180"/>
                <a:gridCol w="1440180"/>
              </a:tblGrid>
              <a:tr h="457200">
                <a:tc>
                  <a:txBody>
                    <a:bodyPr/>
                    <a:lstStyle/>
                    <a:p>
                      <a:r>
                        <a:t>단계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내용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개선율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RF 베이스라인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954.52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①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GRU 아키텍처 선택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909.96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▼ 4.67%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배치=16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836.60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▼ 12.33%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③ ★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BN+LN 정규화 (v2)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810.38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▼ 15.08%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4251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그리드서치 TOP 5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466344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04800">
                <a:tc>
                  <a:txBody>
                    <a:bodyPr/>
                    <a:lstStyle/>
                    <a:p>
                      <a:r>
                        <a:t>순위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window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units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dropout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OOS RMSE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956.05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959.55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968.52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4위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971.71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5위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978.35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부록 B. 데이터 프로파일링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맑은 고딕"/>
              </a:rPr>
              <a:t>FEMTO-ST Bearing Data Profile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5156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11480">
                <a:tc>
                  <a:txBody>
                    <a:bodyPr/>
                    <a:lstStyle/>
                    <a:p>
                      <a:r>
                        <a:t>베어링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조건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용도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운전 조건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수명 (분)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Bearing1_1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1800rpm / 4kN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~2,832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Bearing2_1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1650rpm / 4.2kN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~911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Bearing3_1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1500rpm / 5kN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~515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Bearing1_2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demo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1800rpm / 4kN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~870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Bearing2_2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demo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1650rpm / 4.2kN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~797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Bearing3_2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demo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1500rpm / 5kN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~1,637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Bearing1_3~7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test (5)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1800rpm / 4kN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28~339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Bearing2_3~7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test (5)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1650rpm / 4.2kN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339~1,637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Bearing3_3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Cond.3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test 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1500rpm / 5kN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맑은 고딕"/>
                        </a:rPr>
                        <a:t>~820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5394960"/>
            <a:ext cx="11612880" cy="1143000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440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맑은 고딕"/>
              </a:rPr>
              <a:t>데이터 품질 요약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852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맑은 고딕"/>
              </a:rPr>
              <a:t>• 결측치: 온도(temp_mean)만 발생 — 선형 보간 처리 완료</a:t>
            </a:r>
          </a:p>
          <a:p>
            <a:pPr algn="l"/>
            <a:r>
              <a:rPr sz="1200">
                <a:solidFill>
                  <a:srgbClr val="1A1A1A"/>
                </a:solidFill>
                <a:latin typeface="맑은 고딕"/>
              </a:rPr>
              <a:t>• 중복: 0건 (1분 간격 스냅샷, 중복 없음)</a:t>
            </a:r>
          </a:p>
          <a:p>
            <a:pPr algn="l"/>
            <a:r>
              <a:rPr sz="1200">
                <a:solidFill>
                  <a:srgbClr val="1A1A1A"/>
                </a:solidFill>
                <a:latin typeface="맑은 고딕"/>
              </a:rPr>
              <a:t>• 이상치: 말기 h_rms 급등은 열화 신호이므로 제거하지 않음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