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맑은 고딕"/>
              </a:rPr>
              <a:t>AI 기반 베어링 잔여수명(RUL)
예측 모델 개발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BDD7EE"/>
                </a:solidFill>
                <a:latin typeface="맑은 고딕"/>
              </a:rPr>
              <a:t>FEMTO-ST PRONOSTIA IEEE PHM 2012  |  GRU v2 + BN+LN  |  Streamlit 대시보드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4114800"/>
            <a:ext cx="8531352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DD7EE"/>
                </a:solidFill>
                <a:latin typeface="맑은 고딕"/>
              </a:rPr>
              <a:t>딥러닝 프로젝트  |  허남  |  2026. 06. 29.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목  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맑은 고딕"/>
              </a:rPr>
              <a:t>Table of 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맑은 고딕"/>
              </a:rPr>
              <a:t>Ⅰ. AI 개발 수행내용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맑은 고딕"/>
              </a:rPr>
              <a:t>1. 개요 및 현황 (추진배경 / 과제범위 / 추진방법)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659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맑은 고딕"/>
              </a:rPr>
              <a:t>Ⅱ. 연구개발 주요 결과물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468880"/>
            <a:ext cx="11430000" cy="274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606040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맑은 고딕"/>
              </a:rPr>
              <a:t>1. 데이터 수집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606040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맑은 고딕"/>
              </a:rPr>
              <a:t>2. 탐색적 데이터 분석 (EDA)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91840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맑은 고딕"/>
              </a:rPr>
              <a:t>3. 데이터 전처리 및 피처 엔지니어링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291840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맑은 고딕"/>
              </a:rPr>
              <a:t>4. 학습 및 모델 평가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77639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맑은 고딕"/>
              </a:rPr>
              <a:t>5. Streamlit 웹 애플리케이션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977639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맑은 고딕"/>
              </a:rPr>
              <a:t>6. 결과 요약 및 향후 방향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709160"/>
            <a:ext cx="11430000" cy="274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800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4E79"/>
                </a:solidFill>
                <a:latin typeface="맑은 고딕"/>
              </a:rPr>
              <a:t>부록 A. 성능 개선 실험 (Performance Improvement)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00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4E79"/>
                </a:solidFill>
                <a:latin typeface="맑은 고딕"/>
              </a:rPr>
              <a:t>부록 B. 데이터 프로파일링 리포트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I-1. 개요 및 현황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맑은 고딕"/>
              </a:rPr>
              <a:t>추진배경 / 과제범위 / 추진방법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5394960" cy="530352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맑은 고딕"/>
              </a:rPr>
              <a:t>문제 정의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맑은 고딕"/>
              </a:rPr>
              <a:t>• 산업용 베어링 예상치 못한 파손 → 생산 라인 전체 정지</a:t>
            </a:r>
          </a:p>
          <a:p>
            <a:pPr algn="l"/>
            <a:r>
              <a:rPr sz="1400">
                <a:solidFill>
                  <a:srgbClr val="1A1A1A"/>
                </a:solidFill>
                <a:latin typeface="맑은 고딕"/>
              </a:rPr>
              <a:t>• 정기 점검(PM) 방식: 실제 열화 상태 미반영</a:t>
            </a:r>
          </a:p>
          <a:p>
            <a:pPr algn="l"/>
            <a:r>
              <a:rPr sz="1400">
                <a:solidFill>
                  <a:srgbClr val="1A1A1A"/>
                </a:solidFill>
                <a:latin typeface="맑은 고딕"/>
              </a:rPr>
              <a:t>• 과잉/과소 점검 반복 → 비용 낭비 또는 사고 위험</a:t>
            </a:r>
          </a:p>
          <a:p>
            <a:pPr algn="l"/>
            <a:r>
              <a:rPr sz="1400">
                <a:solidFill>
                  <a:srgbClr val="1A1A1A"/>
                </a:solidFill>
                <a:latin typeface="맑은 고딕"/>
              </a:rPr>
              <a:t>• RUL 정량 예측 없이 최적 교체 시점 결정 불가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051560"/>
            <a:ext cx="5943600" cy="530352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10972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맑은 고딕"/>
              </a:rPr>
              <a:t>과제 목표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1554480"/>
            <a:ext cx="5669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맑은 고딕"/>
              </a:rPr>
              <a:t>• 딥러닝(GRU)으로 베어링 RUL 정량 예측</a:t>
            </a:r>
          </a:p>
          <a:p>
            <a:pPr algn="l"/>
            <a:r>
              <a:rPr sz="1400">
                <a:solidFill>
                  <a:srgbClr val="1A1A1A"/>
                </a:solidFill>
                <a:latin typeface="맑은 고딕"/>
              </a:rPr>
              <a:t>• RF 베이스라인 대비 10% 이상 RMSE 개선</a:t>
            </a:r>
          </a:p>
          <a:p>
            <a:pPr algn="l"/>
            <a:r>
              <a:rPr sz="1400">
                <a:solidFill>
                  <a:srgbClr val="1A1A1A"/>
                </a:solidFill>
                <a:latin typeface="맑은 고딕"/>
              </a:rPr>
              <a:t>• 현장 담당자용 Streamlit 웹 대시보드 구축</a:t>
            </a:r>
          </a:p>
          <a:p>
            <a:pPr algn="l"/>
            <a:r>
              <a:rPr sz="1400">
                <a:solidFill>
                  <a:srgbClr val="1A1A1A"/>
                </a:solidFill>
                <a:latin typeface="맑은 고딕"/>
              </a:rPr>
              <a:t>• 미관측 베어링(OOS) 일반화 성능 검증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5623560"/>
            <a:ext cx="11612880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56692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최종 달성:  GRU v2  OOS RMSE 810.38분  |  RF 대비 15.08% 개선  |  Streamlit Cloud 배포 완료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II-1. 데이터 수집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맑은 고딕"/>
              </a:rPr>
              <a:t>FEMTO-ST PRONOSTIA IEEE PHM 2012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114300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470262">
                <a:tc>
                  <a:txBody>
                    <a:bodyPr/>
                    <a:lstStyle/>
                    <a:p>
                      <a:r>
                        <a:t>항목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내용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데이터셋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FEMTO-ST PRONOSTIA Bearing Dataset (IEEE PHM 2012 Challenge)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베어링 수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17개 (Learning_set 6개 + Full_Test_Set 11개)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운전 조건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Cond.1: 1800rpm/4kN  |  Cond.2: 1650rpm/4.2kN  |  Cond.3: 1500rpm/5kN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측정 간격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1분 간격 스냅샷, acc CSV 25,600 샘플 / temp CSV 각 1행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원본 피처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h/v RMS · Kurtosis · Skewness · CrestFactor (각 4개) + 온도 = 9개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파생 피처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energy=h²+v²  |  health_idx=h_rms×h_kurt  |  rms_ratio=h/v  →  3개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914400" y="4572000"/>
            <a:ext cx="3200400" cy="12801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61772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DD7EE"/>
                </a:solidFill>
                <a:latin typeface="맑은 고딕"/>
              </a:rPr>
              <a:t>총 피처 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029200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맑은 고딕"/>
              </a:rPr>
              <a:t>12개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4572000"/>
            <a:ext cx="4114800" cy="12801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4617720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DD7EE"/>
                </a:solidFill>
                <a:latin typeface="맑은 고딕"/>
              </a:rPr>
              <a:t>RUL 라벨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5029200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맑은 고딕"/>
              </a:rPr>
              <a:t>total - minute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0" y="4572000"/>
            <a:ext cx="2743200" cy="12801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461772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DD7EE"/>
                </a:solidFill>
                <a:latin typeface="맑은 고딕"/>
              </a:rPr>
              <a:t>열화 임계값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502920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맑은 고딕"/>
              </a:rPr>
              <a:t>init×2.5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II-2. 탐색적 데이터 분석 (EDA)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맑은 고딕"/>
              </a:rPr>
              <a:t>Feature Analysis &amp; VIF Selection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11430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487680">
                <a:tc>
                  <a:txBody>
                    <a:bodyPr/>
                    <a:lstStyle/>
                    <a:p>
                      <a:r>
                        <a:t>피처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초기 (정상)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말기 (열화)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기여도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h_rms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0.02~0.05g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0.1~3.0g 급증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★★★★ 핵심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h_kurt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3.0~4.0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5.0 이상 급등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★★★★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health_idx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낮음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급격 증가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★★★★ 파생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energy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낮음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급격 증가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★★★☆ 파생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temp_mean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25~30°C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30~60°C 완만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★★☆☆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274320" y="4114800"/>
            <a:ext cx="5486400" cy="237744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41605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맑은 고딕"/>
              </a:rPr>
              <a:t>VIF 분석 결과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57200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A1A1A"/>
                </a:solidFill>
                <a:latin typeface="맑은 고딕"/>
              </a:rPr>
              <a:t>• VIF 기준: &lt; 10 (다중공선성 제거)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맑은 고딕"/>
              </a:rPr>
              <a:t>• 결과: 12개 전체 피처 VIF &lt; 10 → 모두 선택</a:t>
            </a:r>
          </a:p>
          <a:p>
            <a:pPr algn="l"/>
            <a:r>
              <a:rPr sz="1300">
                <a:solidFill>
                  <a:srgbClr val="1A1A1A"/>
                </a:solidFill>
                <a:latin typeface="맑은 고딕"/>
              </a:rPr>
              <a:t>• 최대 VIF: energy ≈ 8.5 (파생 피처 중 가장 높음)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4114800"/>
            <a:ext cx="5760720" cy="237744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4160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맑은 고딕"/>
              </a:rPr>
              <a:t>RUL 분포 특성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4572000"/>
            <a:ext cx="5486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A1A1A"/>
                </a:solidFill>
                <a:latin typeface="맑은 고딕"/>
              </a:rPr>
              <a:t>• 베어링 수명: 28분 ~ 2,832분 (100배 차이)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맑은 고딕"/>
              </a:rPr>
              <a:t>• 분포: 오른쪽 편향 (대부분 단수명)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맑은 고딕"/>
              </a:rPr>
              <a:t>• 베어링간 편차 크므로 GroupKFold 필수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II-3. 데이터 전처리 및 피처 엔지니어링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맑은 고딕"/>
              </a:rPr>
              <a:t>Preprocessing Pipeline &amp; GroupKFold Split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64008" cy="5212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맑은 고딕"/>
              </a:rPr>
              <a:t>전처리 파이프라인 (5단계)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2194560" cy="74980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45920"/>
            <a:ext cx="2103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① 온도 결측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169164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맑은 고딕"/>
              </a:rPr>
              <a:t>선형 보간 → bfill/ffill → 중앙값 채움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496312"/>
            <a:ext cx="2194560" cy="74980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542032"/>
            <a:ext cx="2103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② 파생 피처 생성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587752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맑은 고딕"/>
              </a:rPr>
              <a:t>energy=h²+v², health_idx=h_rms×h_kurt, rms_ratio=h/v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92424"/>
            <a:ext cx="2194560" cy="74980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438144"/>
            <a:ext cx="2103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③ VIF 분석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3483864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맑은 고딕"/>
              </a:rPr>
              <a:t>VIF&lt;10 기준 → 12개 전체 선택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288536"/>
            <a:ext cx="2194560" cy="74980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334256"/>
            <a:ext cx="2103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④ 슬라이딩 윈도우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4379976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맑은 고딕"/>
              </a:rPr>
              <a:t>window=20분, stride=1 → X:(N,20,12), y:(N,)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184648"/>
            <a:ext cx="2194560" cy="74980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230368"/>
            <a:ext cx="2103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⑤ 독립 MinMaxScaler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5276088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맑은 고딕"/>
              </a:rPr>
              <a:t>X용 seq_scaler + y용 y_scaler (누수 방지)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1051560"/>
            <a:ext cx="36576" cy="5212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10972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맑은 고딕"/>
              </a:rPr>
              <a:t>데이터 분할 전략 (GroupKFold)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6126480" y="1554480"/>
          <a:ext cx="56692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</a:tblGrid>
              <a:tr h="457200">
                <a:tc>
                  <a:txBody>
                    <a:bodyPr/>
                    <a:lstStyle/>
                    <a:p>
                      <a:r>
                        <a:t>용도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베어링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역할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훈련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1_1 / 2_1 / 3_1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GroupKFold 학습·검증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데모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1_2 / 2_2 / 3_2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Streamlit 시연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테스트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1_3~7 / 2_3~7 / 3_3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OOS 최종 평가 (11개)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Rectangle 25"/>
          <p:cNvSpPr/>
          <p:nvPr/>
        </p:nvSpPr>
        <p:spPr>
          <a:xfrm>
            <a:off x="274320" y="5577840"/>
            <a:ext cx="11612880" cy="86868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56235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4E79"/>
                </a:solidFill>
                <a:latin typeface="맑은 고딕"/>
              </a:rPr>
              <a:t>GroupKFold — 베어링 단위 완전 분리 → 시계열 데이터 누수 완전 차단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II-4. 학습 및 모델 평가 ① RF 베이스라인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맑은 고딕"/>
              </a:rPr>
              <a:t>RandomForest Baseline (RUL Regression)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4E79"/>
                </a:solidFill>
                <a:latin typeface="맑은 고딕"/>
              </a:rPr>
              <a:t>설정: 마지막 타임스텝의 12개 피처(X[:, -1, :]) 사용 — 시계열 구조 미활용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828800"/>
            <a:ext cx="4114800" cy="15544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874520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DD7EE"/>
                </a:solidFill>
                <a:latin typeface="맑은 고딕"/>
              </a:rPr>
              <a:t>RF OOS RMSE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286000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맑은 고딕"/>
              </a:rPr>
              <a:t>954.52분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1828800"/>
            <a:ext cx="4114800" cy="15544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874520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DD7EE"/>
                </a:solidFill>
                <a:latin typeface="맑은 고딕"/>
              </a:rPr>
              <a:t>RF OOS MAE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286000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맑은 고딕"/>
              </a:rPr>
              <a:t>757.71분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6576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맑은 고딕"/>
              </a:rPr>
              <a:t>DL 최종 모델(GRU v2) 대비 개선 효과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5760" y="4114800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438912">
                <a:tc>
                  <a:txBody>
                    <a:bodyPr/>
                    <a:lstStyle/>
                    <a:p>
                      <a:r>
                        <a:t>모델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OOS RMSE (분)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OOS MAE (분)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RF 대비 개선율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RF 베이스라인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954.52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757.71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LSTM 초기 모델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934.01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767.09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▼ 2.15%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GRU 아키텍처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909.96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741.50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▼ 4.67%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GRU v2 최종 ★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810.38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665.63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▼ 15.08%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II-4. 학습 및 모델 평가 ② DL 아키텍처 5종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맑은 고딕"/>
              </a:rPr>
              <a:t>OOS RMSE — Full_Test_Set 11 bearings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114300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548640">
                <a:tc>
                  <a:txBody>
                    <a:bodyPr/>
                    <a:lstStyle/>
                    <a:p>
                      <a:r>
                        <a:t>순위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모델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OOS RMSE (분)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OOS MAE (분)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특징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1위 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GRU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909.96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741.5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게이트 단순, 소형 모델 과적합 억제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2위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1D-CNN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938.03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754.87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국소 주파수 패턴 학습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3위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CNN-LSTM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996.61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789.89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공간+시계열 복합 구조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4위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BiLSTM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1021.19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805.53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양방향 — 인과 관계상 불리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5위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LSTM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1036.91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846.21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맑은 고딕"/>
                        </a:rPr>
                        <a:t>장기 의존성 학습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274320" y="4526280"/>
            <a:ext cx="11612880" cy="210312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45720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맑은 고딕"/>
              </a:rPr>
              <a:t>GRU 최종 선정 근거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029200"/>
            <a:ext cx="11430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A1A1A"/>
                </a:solidFill>
                <a:latin typeface="맑은 고딕"/>
              </a:rPr>
              <a:t>• OOS RMSE 909.96 — 미관측 베어링 11개에서 5종 중 최저</a:t>
            </a:r>
          </a:p>
          <a:p>
            <a:pPr algn="l"/>
            <a:r>
              <a:rPr sz="1300">
                <a:solidFill>
                  <a:srgbClr val="1A1A1A"/>
                </a:solidFill>
                <a:latin typeface="맑은 고딕"/>
              </a:rPr>
              <a:t>• 파라미터 수 최소 (업데이트/리셋 게이트만) → 적은 학습 데이터에서 과적합 억제</a:t>
            </a:r>
          </a:p>
          <a:p>
            <a:pPr algn="l"/>
            <a:r>
              <a:rPr sz="1300">
                <a:solidFill>
                  <a:srgbClr val="1A1A1A"/>
                </a:solidFill>
                <a:latin typeface="맑은 고딕"/>
              </a:rPr>
              <a:t>• 예지보전 특성상 과거→현재 단방향 인과 관계 → BiLSTM 양방향 우위 없음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II-4. 학습 및 모델 평가 ③ 하이퍼파라미터 튜닝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맑은 고딕"/>
              </a:rPr>
              <a:t>Grid Search 27조합 → 옵티마이저 → 배치 → BN+LN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0972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맑은 고딕"/>
              </a:rPr>
              <a:t>① 그리드서치 (27조합)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508760"/>
          <a:ext cx="53949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320"/>
                <a:gridCol w="1798320"/>
                <a:gridCol w="1798320"/>
              </a:tblGrid>
              <a:tr h="411480">
                <a:tc>
                  <a:txBody>
                    <a:bodyPr/>
                    <a:lstStyle/>
                    <a:p>
                      <a:r>
                        <a:t>파라미터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탐색 범위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최적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window_size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[20,30,50]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units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[32,64,128]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32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dropout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[0.1,0.2,0.3]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3246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0000"/>
                </a:solidFill>
                <a:latin typeface="맑은 고딕"/>
              </a:rPr>
              <a:t>→ OOS RMSE: 956.05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0972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맑은 고딕"/>
              </a:rPr>
              <a:t>② 옵티마이저 비교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035040" y="1508760"/>
          <a:ext cx="53949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</a:tblGrid>
              <a:tr h="411480">
                <a:tc>
                  <a:txBody>
                    <a:bodyPr/>
                    <a:lstStyle/>
                    <a:p>
                      <a:r>
                        <a:t>옵티마이저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OOS RMSE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Nadam 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977.70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Adam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996.88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AdamW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1011.36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74320" y="3749039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맑은 고딕"/>
              </a:rPr>
              <a:t>③ 배치 크기 튜닝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74320" y="4160520"/>
          <a:ext cx="539496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</a:tblGrid>
              <a:tr h="420624">
                <a:tc>
                  <a:txBody>
                    <a:bodyPr/>
                    <a:lstStyle/>
                    <a:p>
                      <a:r>
                        <a:t>배치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OOS RMSE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16 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836.60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32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1002.56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1114.39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128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1054.33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035040" y="3749039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맑은 고딕"/>
              </a:rPr>
              <a:t>④ BN+LN 정규화 효과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035040" y="4160520"/>
          <a:ext cx="57607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</a:tblGrid>
              <a:tr h="457200">
                <a:tc>
                  <a:txBody>
                    <a:bodyPr/>
                    <a:lstStyle/>
                    <a:p>
                      <a:r>
                        <a:t>모델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OOS RMSE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개선율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v1 (Dropout만)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973.47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v2 (BN+LN) ★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810.38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▼16.75%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035040" y="56235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0000"/>
                </a:solidFill>
                <a:latin typeface="맑은 고딕"/>
              </a:rPr>
              <a:t>학습 Epoch: 54 → 33으로 단축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II-4. 학습 및 모델 평가 ④ GRU v2 최종 모델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맑은 고딕"/>
              </a:rPr>
              <a:t>GRU + LayerNormalization + BatchNormalization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3291840" cy="4846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6984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Input (20, 12)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06984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← 시퀀스 입력 (20분, 12피처)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00200"/>
            <a:ext cx="3291840" cy="4846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6184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GRU(32, ret=True)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16184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← 시퀀스 전체 학습 (return_sequences=True)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148839"/>
            <a:ext cx="3291840" cy="4846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16712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LayerNorm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16712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← 시퀀스 내 정규화 (배치 의존 없음)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697479"/>
            <a:ext cx="3291840" cy="4846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71576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Dropout(0.1)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271576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← 과적합 억제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246120"/>
            <a:ext cx="3291840" cy="4846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26440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GRU(16)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326440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← 최종 상태 추출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794760"/>
            <a:ext cx="3291840" cy="4846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381304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LayerNorm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381304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← 2차 정규화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343400"/>
            <a:ext cx="3291840" cy="4846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43616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BatchNorm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43616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← 특성 분포 안정화 (학습 가속)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892040"/>
            <a:ext cx="3291840" cy="4846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491032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Dense(32, relu)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39" y="491032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← 비선형 변환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440679"/>
            <a:ext cx="3291840" cy="4846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545896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Dropout(0.1)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49039" y="545896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← 과적합 억제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989319"/>
            <a:ext cx="3291840" cy="4846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007607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Dense(1) — RUL 출력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49039" y="6007607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← 잔여수명 분 단위 예측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0" y="10972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맑은 고딕"/>
              </a:rPr>
              <a:t>학습 설정</a:t>
            </a: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406640" y="1508760"/>
          <a:ext cx="448056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2240280"/>
              </a:tblGrid>
              <a:tr h="436880">
                <a:tc>
                  <a:txBody>
                    <a:bodyPr/>
                    <a:lstStyle/>
                    <a:p>
                      <a:r>
                        <a:t>항목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값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window_size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units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32 → 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dropout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batch_size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optimizer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Adam(1e-3)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loss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MSE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EarlyStopping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patience=10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ModelCheckpoint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val_loss 최소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38" name="Rectangle 37"/>
          <p:cNvSpPr/>
          <p:nvPr/>
        </p:nvSpPr>
        <p:spPr>
          <a:xfrm>
            <a:off x="7406640" y="5669280"/>
            <a:ext cx="4480560" cy="777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52360" y="5687568"/>
            <a:ext cx="42976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OOS RMSE: 810.38분
OOS MAE:   665.63분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II-5. Streamlit 웹 애플리케이션 프로토타입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맑은 고딕"/>
              </a:rPr>
              <a:t>https://dlfactoryautomation.streamlit.app/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24128"/>
            <a:ext cx="2560320" cy="384048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  <a:latin typeface="맑은 고딕"/>
              </a:rPr>
              <a:t>⚙️ 사이드바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46304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맑은 고딕"/>
              </a:rPr>
              <a:t>• ML 임계값 슬라이더 (기본 0.50)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맑은 고딕"/>
              </a:rPr>
              <a:t>• RUL 경보 기준 (기본 60분)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맑은 고딕"/>
              </a:rPr>
              <a:t>• 변경 이력 expander</a:t>
            </a:r>
          </a:p>
          <a:p>
            <a:pPr algn="l"/>
            <a:r>
              <a:rPr sz="1100">
                <a:solidFill>
                  <a:srgbClr val="1A1A1A"/>
                </a:solidFill>
                <a:latin typeface="맑은 고딕"/>
              </a:rPr>
              <a:t>• 실행 순서 안내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024128"/>
            <a:ext cx="1737360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40" y="1042415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📊 탭 1
데이터 탐색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1691640"/>
            <a:ext cx="1737360" cy="269748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90672" y="1755648"/>
            <a:ext cx="1600200" cy="2578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h_rms 추이
열화 라벨 분포
피처 박스플롯
4개 KPI 메트릭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1024128"/>
            <a:ext cx="1737360" cy="640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1042415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🤖 탭 2
ML 성능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1691640"/>
            <a:ext cx="1737360" cy="269748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19472" y="1755648"/>
            <a:ext cx="1600200" cy="2578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VIF 분석 표
모델 3종 비교
Feature Importance
Confusion Matrix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1024128"/>
            <a:ext cx="1737360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1042415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🔮 탭 3
DL RUL 예측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1691640"/>
            <a:ext cx="1737360" cy="269748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48272" y="1755648"/>
            <a:ext cx="1600200" cy="2578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ML vs LSTM 비교
LSTM 학습곡선
베어링 RUL 추이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0" y="1024128"/>
            <a:ext cx="1737360" cy="640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9640" y="1042415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🏭 탭 4
통합 진단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03920" y="1691640"/>
            <a:ext cx="1737360" cy="269748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77072" y="1755648"/>
            <a:ext cx="1600200" cy="2578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진동값 9개 슬라이더
진단하기 버튼
ML 열화 판정
RUL &amp; 경보 등급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332720" y="1024128"/>
            <a:ext cx="1737360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78440" y="1042415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🔬 탭 5
아키텍처 비교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332720" y="1691640"/>
            <a:ext cx="1737360" cy="269748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05872" y="1755648"/>
            <a:ext cx="1600200" cy="2578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5종 성능 비교표
EarlyStopping 분석
학습곡선 PNG
OOS 예측 PNG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461772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맑은 고딕"/>
              </a:rPr>
              <a:t>시스템 품질 지표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274320" y="5010912"/>
          <a:ext cx="1161288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356616">
                <a:tc>
                  <a:txBody>
                    <a:bodyPr/>
                    <a:lstStyle/>
                    <a:p>
                      <a:r>
                        <a:t>항목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기준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실제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판정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OOS RMSE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&lt; 900분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810.38분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✔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RF 대비 개선율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&gt; 10%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15.08%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✔ PASS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응답 시간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&lt; 2초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@st.cache_resource ~0.1초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✔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데이터 누수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GroupKFold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베어링 단위 완전 분리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✔ PASS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II-6. 결과 요약 및 향후 방향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맑은 고딕"/>
              </a:rPr>
              <a:t>Conclusion &amp; Future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5486400" cy="466344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맑은 고딕"/>
              </a:rPr>
              <a:t>결과 요약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5212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A1A1A"/>
                </a:solidFill>
                <a:latin typeface="맑은 고딕"/>
              </a:rPr>
              <a:t>• 아키텍처 5종 비교 → GRU 최종 선정</a:t>
            </a:r>
          </a:p>
          <a:p>
            <a:pPr algn="l"/>
            <a:r>
              <a:rPr sz="1300">
                <a:solidFill>
                  <a:srgbClr val="1A1A1A"/>
                </a:solidFill>
                <a:latin typeface="맑은 고딕"/>
              </a:rPr>
              <a:t>• BN+LN 정규화로 OOS RMSE 16.75% 개선</a:t>
            </a:r>
          </a:p>
          <a:p>
            <a:pPr algn="l"/>
            <a:r>
              <a:rPr sz="1300">
                <a:solidFill>
                  <a:srgbClr val="1A1A1A"/>
                </a:solidFill>
                <a:latin typeface="맑은 고딕"/>
              </a:rPr>
              <a:t>• 배치=16으로 최적 일반화 달성</a:t>
            </a:r>
          </a:p>
          <a:p>
            <a:pPr algn="l"/>
            <a:r>
              <a:rPr sz="1300">
                <a:solidFill>
                  <a:srgbClr val="1A1A1A"/>
                </a:solidFill>
                <a:latin typeface="맑은 고딕"/>
              </a:rPr>
              <a:t>• GRU v2: OOS RMSE 810.38 (RF 대비 15.08%↓)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맑은 고딕"/>
              </a:rPr>
              <a:t>• Streamlit Cloud 5탭 대시보드 배포 완료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051560"/>
            <a:ext cx="5486400" cy="466344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0972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맑은 고딕"/>
              </a:rPr>
              <a:t>향후 방향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554480"/>
            <a:ext cx="5212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A1A1A"/>
                </a:solidFill>
                <a:latin typeface="맑은 고딕"/>
              </a:rPr>
              <a:t>• Attention 메커니즘 → 열화 말기 정밀도 향상</a:t>
            </a:r>
          </a:p>
          <a:p>
            <a:pPr algn="l"/>
            <a:r>
              <a:rPr sz="1300">
                <a:solidFill>
                  <a:srgbClr val="1A1A1A"/>
                </a:solidFill>
                <a:latin typeface="맑은 고딕"/>
              </a:rPr>
              <a:t>• SHAP 해설 → 피처별 기여도 시각화</a:t>
            </a:r>
          </a:p>
          <a:p>
            <a:pPr algn="l"/>
            <a:r>
              <a:rPr sz="1300">
                <a:solidFill>
                  <a:srgbClr val="1A1A1A"/>
                </a:solidFill>
                <a:latin typeface="맑은 고딕"/>
              </a:rPr>
              <a:t>• 앙상블 (GRU + 1D-CNN) 성능 향상</a:t>
            </a:r>
          </a:p>
          <a:p>
            <a:pPr algn="l"/>
            <a:r>
              <a:rPr sz="1300">
                <a:solidFill>
                  <a:srgbClr val="1A1A1A"/>
                </a:solidFill>
                <a:latin typeface="맑은 고딕"/>
              </a:rPr>
              <a:t>• IoT 실시간 스트림 연동 (MQTT, 1분 주기)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맑은 고딕"/>
              </a:rPr>
              <a:t>• MLOps 자동 재학습 파이프라인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89320" y="1051560"/>
            <a:ext cx="36576" cy="46634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274320" y="5852160"/>
          <a:ext cx="1161288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960"/>
                <a:gridCol w="3870960"/>
                <a:gridCol w="3870960"/>
              </a:tblGrid>
              <a:tr h="228600">
                <a:tc>
                  <a:txBody>
                    <a:bodyPr/>
                    <a:lstStyle/>
                    <a:p>
                      <a:r>
                        <a:t>단계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내용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목표 RMSE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완료 (현재)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GRU v2 BN+LN + 배치=16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810.38분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Phase 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Attention + SHAP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&lt; 700분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Phase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앙상블 + 실공장 데이터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&lt; 600분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부록 A. 성능 개선 실험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맑은 고딕"/>
              </a:rPr>
              <a:t>Performance Improvement — All Experiments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맑은 고딕"/>
              </a:rPr>
              <a:t>아키텍처 5종 비교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463040"/>
          <a:ext cx="539496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320"/>
                <a:gridCol w="1798320"/>
                <a:gridCol w="1798320"/>
              </a:tblGrid>
              <a:tr h="441960">
                <a:tc>
                  <a:txBody>
                    <a:bodyPr/>
                    <a:lstStyle/>
                    <a:p>
                      <a:r>
                        <a:t>모델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OOS RMSE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OOS MAE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GRU 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909.96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741.50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1D-CNN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938.03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754.87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CNN-LSTM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996.61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789.89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BiLSTM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1021.19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805.53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LSTM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1036.91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846.21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35040" y="10515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맑은 고딕"/>
              </a:rPr>
              <a:t>단계별 성능 개선 요약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035040" y="1463040"/>
          <a:ext cx="57607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80"/>
                <a:gridCol w="1440180"/>
                <a:gridCol w="1440180"/>
                <a:gridCol w="1440180"/>
              </a:tblGrid>
              <a:tr h="457200">
                <a:tc>
                  <a:txBody>
                    <a:bodyPr/>
                    <a:lstStyle/>
                    <a:p>
                      <a:r>
                        <a:t>단계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내용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OOS RMSE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개선율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기준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RF 베이스라인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954.52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①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GRU 아키텍처 선택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909.96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▼ 4.67%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배치=16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836.60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▼ 12.33%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③ ★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BN+LN 정규화 (v2)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810.38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▼ 15.08%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42519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맑은 고딕"/>
              </a:rPr>
              <a:t>그리드서치 TOP 5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4663440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304800">
                <a:tc>
                  <a:txBody>
                    <a:bodyPr/>
                    <a:lstStyle/>
                    <a:p>
                      <a:r>
                        <a:t>순위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window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units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dropout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OOS RMSE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1위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956.05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2위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64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0.1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959.55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3위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968.52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4위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64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0.2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971.71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5위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978.35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부록 B. 데이터 프로파일링 리포트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맑은 고딕"/>
              </a:rPr>
              <a:t>FEMTO-ST Bearing Data Profile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11430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411480">
                <a:tc>
                  <a:txBody>
                    <a:bodyPr/>
                    <a:lstStyle/>
                    <a:p>
                      <a:r>
                        <a:t>베어링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조건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용도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운전 조건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수명 (분)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Bearing1_1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Cond.1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train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1800rpm / 4kN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~2,832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Bearing2_1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Cond.2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train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1650rpm / 4.2kN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~911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Bearing3_1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Cond.3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train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1500rpm / 5kN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~515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Bearing1_2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Cond.1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demo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1800rpm / 4kN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~870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Bearing2_2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Cond.2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demo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1650rpm / 4.2kN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~797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Bearing3_2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Cond.3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demo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1500rpm / 5kN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~1,637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Bearing1_3~7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Cond.1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test (5)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1800rpm / 4kN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28~339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Bearing2_3~7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Cond.2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test (5)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1650rpm / 4.2kN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339~1,637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Bearing3_3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Cond.3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test (1)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1500rpm / 5kN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~820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274320" y="5394960"/>
            <a:ext cx="11612880" cy="11430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440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맑은 고딕"/>
              </a:rPr>
              <a:t>데이터 품질 요약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852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맑은 고딕"/>
              </a:rPr>
              <a:t>• 결측치: 온도(temp_mean)만 발생 — 선형 보간 처리 완료</a:t>
            </a:r>
          </a:p>
          <a:p>
            <a:pPr algn="l"/>
            <a:r>
              <a:rPr sz="1200">
                <a:solidFill>
                  <a:srgbClr val="1A1A1A"/>
                </a:solidFill>
                <a:latin typeface="맑은 고딕"/>
              </a:rPr>
              <a:t>• 중복: 0건 (1분 간격 스냅샷, 중복 없음)</a:t>
            </a:r>
          </a:p>
          <a:p>
            <a:pPr algn="l"/>
            <a:r>
              <a:rPr sz="1200">
                <a:solidFill>
                  <a:srgbClr val="1A1A1A"/>
                </a:solidFill>
                <a:latin typeface="맑은 고딕"/>
              </a:rPr>
              <a:t>• 이상치: 말기 h_rms 급등은 열화 신호이므로 제거하지 않음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Confusion Matrix — DL 이진 분류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맑은 고딕"/>
              </a:rPr>
              <a:t>CNN+LSTM (Validation Set, 179 samples)  ·  Threshold = 0.50  ·  Accuracy = 0.80</a:t>
            </a:r>
          </a:p>
        </p:txBody>
      </p:sp>
      <p:pic>
        <p:nvPicPr>
          <p:cNvPr id="6" name="Picture 5" descr="05_con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530352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52160" y="105156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맑은 고딕"/>
              </a:rPr>
              <a:t>Confusion Matrix 수치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852160" y="1463040"/>
          <a:ext cx="612648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2160"/>
                <a:gridCol w="2042160"/>
                <a:gridCol w="2042160"/>
              </a:tblGrid>
              <a:tr h="396240">
                <a:tc>
                  <a:txBody>
                    <a:bodyPr/>
                    <a:lstStyle/>
                    <a:p/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예측: 정상(0)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예측: 고장(1)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실제: 정상(0)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TN = 93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FP = 12 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실제: 고장(1)</a:t>
                      </a:r>
                    </a:p>
                  </a:txBody>
                  <a:tcPr>
                    <a:solidFill>
                      <a:srgbClr val="FFE0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FN = 24 ✗</a:t>
                      </a:r>
                    </a:p>
                  </a:txBody>
                  <a:tcPr>
                    <a:solidFill>
                      <a:srgbClr val="FFE0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맑은 고딕"/>
                        </a:rPr>
                        <a:t>TP = 50 ✓</a:t>
                      </a:r>
                    </a:p>
                  </a:txBody>
                  <a:tcPr>
                    <a:solidFill>
                      <a:srgbClr val="FFE0E0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852160" y="278892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맑은 고딕"/>
              </a:rPr>
              <a:t>분류 성능 지표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852160" y="3200400"/>
          <a:ext cx="612648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2160"/>
                <a:gridCol w="2042160"/>
                <a:gridCol w="2042160"/>
              </a:tblGrid>
              <a:tr h="308610">
                <a:tc>
                  <a:txBody>
                    <a:bodyPr/>
                    <a:lstStyle/>
                    <a:p>
                      <a:r>
                        <a:t>지표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클래스 0 (정상)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클래스 1 (고장)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Precision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0.79  (93/(93+24))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0.81  (50/(50+12))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Recall</a:t>
                      </a:r>
                    </a:p>
                  </a:txBody>
                  <a:tcPr>
                    <a:solidFill>
                      <a:srgbClr val="FFE0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0.89  (93/(93+12))</a:t>
                      </a:r>
                    </a:p>
                  </a:txBody>
                  <a:tcPr>
                    <a:solidFill>
                      <a:srgbClr val="FFE0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0.68  (50/(50+24)) ↓</a:t>
                      </a:r>
                    </a:p>
                  </a:txBody>
                  <a:tcPr>
                    <a:solidFill>
                      <a:srgbClr val="FFE0E0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F1-Score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0.84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0.74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852160" y="4572000"/>
            <a:ext cx="6126480" cy="155448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46177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  <a:latin typeface="맑은 고딕"/>
              </a:rPr>
              <a:t>핵심 문제: FN = 24 (미감지) 가 더 심각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5029200"/>
            <a:ext cx="5943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맑은 고딕"/>
              </a:rPr>
              <a:t>• FP 12건: 정상 → 고장 오판 → 불필요한 점검 (비용↑, 안전 무관)
• FN 24건: 실제 고장 미감지 → 설비 손상·라인 정지 위험 ★
• Class 1 Recall 0.68 → 고장 32% 놓침 → 개선 필요
• Threshold 0.50→0.35 하향 시 FN 대폭 감소 가능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FP / FN 개선 방향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맑은 고딕"/>
              </a:rPr>
              <a:t>False Positive(오경보) vs False Negative(미감지)  ·  우선순위 기반 개선 로드맵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11612880" cy="77724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7899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맑은 고딕"/>
              </a:rPr>
              <a:t>오경보(FP) vs 미감지(FN) — 제조업 관점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356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맑은 고딕"/>
              </a:rPr>
              <a:t>FP(오경보): 안전 측면 위험 없음, 불필요한 유지보수 비용 발생  |  FN(미감지): 실제 고장 방치 → 설비 파손·생산 중단 → 비용/안전 모두 위험 ★★★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965960"/>
            <a:ext cx="5394960" cy="4114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0116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  <a:latin typeface="맑은 고딕"/>
              </a:rPr>
              <a:t>FP = 12 개선 (오경보 줄이기)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423160"/>
            <a:ext cx="521208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맑은 고딕"/>
              </a:rPr>
              <a:t>① Threshold 상향 (0.50 → 0.65~0.75)
   → 예측 확신도 높을 때만 고장 판정
   → FP 감소, FN 증가 가능성
② 정상 구간 말기 데이터 추가 수집
   → 고장 초기와 구분되는 패턴 학습
③ Class 0 가중치 소폭 증가
   (class_weight={0:1.2, 1:1.0})
⚠ 주의: FP를 줄이면 FN이 증가할 수 있음
  → 제조업에서는 FN 최소화가 우선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965960"/>
            <a:ext cx="5943600" cy="411480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201168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B3600"/>
                </a:solidFill>
                <a:latin typeface="맑은 고딕"/>
              </a:rPr>
              <a:t>FN = 24 개선 ★ 우선순위 높음 (미감지 줄이기)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423160"/>
            <a:ext cx="576072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맑은 고딕"/>
              </a:rPr>
              <a:t>① Threshold 하향 (0.50 → 0.30~0.40) ← 즉시 적용 가능
   Streamlit 슬라이더로 현장에서 바로 조정
   예상: Recall 0.68 → 0.80~0.85
② Class 1 가중치 증가 (재학습 필요)
   class_weight={0:1.0, 1:2.0~3.0}
   → 학습 시 고장 샘플에 더 높은 손실 부과
③ SMOTE 오버샘플링
   Class 1(74건) 합성 샘플 추가
   → 불균형 해소, 고장 패턴 학습 강화
④ 피처 추가 (장기 개선)
   진동 변화율, 주파수 도메인 특성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6199632"/>
            <a:ext cx="11612880" cy="2743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21792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1순위: Threshold 하향(슬라이더)  →  2순위: class_weight 재학습  →  3순위: SMOTE  →  4순위: 피처 엔지니어링 (Phase 2)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</a:rPr>
              <a:t>부록 C. SHAP 예측 설명 분석 (로컬 CPU 1시간 이내)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[SHAP란?]
게임이론 기반 피처 기여도 분해. 각 피처가 개별 예측에 얼마나 기여했는지 정량화.
[적용 모델 및 방법]
  1. 분류 모델 (LogisticRegression) - LinearExplainer : 선형 계수 기반 즉시 계산 (&lt;1초)
  2. GRU v2 RUL 회귀 모델 - KernelExplainer (시간축 평균 근사) : 약 25초 (CPU)
     * DeepExplainer/GradientExplainer는 Keras 커스텀 ops 미지원으로 KernelExplainer 폴백 사용
[로컬 실행 방법]
  pip install shap
  python -m src.femto_shap
  -&gt; 산출물/_imgs/S1_shap_clf.png, S2_shap_gru.png, S3_shap_bar.png 생성
[해석 포인트]
  Beeswarm: X축 = SHAP값 (+면 예측 증가, -면 예측 감소) | 색상 = 피처값 크기
  막대: |SHAP| 평균 -&gt; 피처 전체 중요도 순위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</a:rPr>
              <a:t>SHAP Beeswarm - 분류 모델 열화 감지 (LogisticRegression, Class1 기여도)</a:t>
            </a:r>
          </a:p>
        </p:txBody>
      </p:sp>
      <p:pic>
        <p:nvPicPr>
          <p:cNvPr id="3" name="Picture 2" descr="S1_shap_cl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14400"/>
            <a:ext cx="7863840" cy="51891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29200"/>
            <a:ext cx="112745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33333"/>
                </a:solidFill>
              </a:rPr>
              <a:t>[해석]
  h_rms (수평 RMS): SHAP 절대값 최대 -&gt; 열화 감지 핵심 피처. 클수록 열화 확률 상승
  h_kurt (첨도): 충격성 이상 반영. 높을수록 열화 확률 상승
  rms_ratio (h/v 불균형): 방향성 이상 반영
  temp_mean: 데이터 없어 0 처리 -&gt; 기여도 0 (온도 센서 미활용 환경)
  결론: 수평 진동의 크기 + 충격성 조합이 열화 여부 결정에 지배적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</a:rPr>
              <a:t>SHAP - GRU v2 RUL 예측 (왼쪽) &amp; 두 모델 피처 중요도 비교 (오른쪽)</a:t>
            </a:r>
          </a:p>
        </p:txBody>
      </p:sp>
      <p:pic>
        <p:nvPicPr>
          <p:cNvPr id="3" name="Picture 2" descr="S2_shap_gr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4206240" cy="2786727"/>
          </a:xfrm>
          <a:prstGeom prst="rect">
            <a:avLst/>
          </a:prstGeom>
        </p:spPr>
      </p:pic>
      <p:pic>
        <p:nvPicPr>
          <p:cNvPr id="4" name="Picture 3" descr="S3_shap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914400"/>
            <a:ext cx="4297680" cy="16116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120640"/>
            <a:ext cx="112745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33333"/>
                </a:solidFill>
              </a:rPr>
              <a:t>[GRU RUL 모델 - 왼쪽]
  energy (총 진동 에너지) + h_rms 가 RUL 예측에 최대 기여 | 에너지 높을수록 잔여수명 단축(RUL-)
[두 모델 비교 - 오른쪽]
  분류(열화감지): h_rms &gt; h_kurt &gt; rms_ratio 순
  GRU(RUL회귀):  energy &gt; h_rms &gt; health_idx 순
  -&gt; energy 파생 피처가 RUL 회귀에서 추가 변별력 제공 / 두 모델 모두 h_rms 핵심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