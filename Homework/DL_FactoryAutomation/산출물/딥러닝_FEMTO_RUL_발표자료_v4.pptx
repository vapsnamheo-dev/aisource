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22"/>
    <p:sldId id="269" r:id="rId20"/>
    <p:sldId id="259" r:id="rId5"/>
    <p:sldId id="270" r:id="rId21"/>
    <p:sldId id="263" r:id="rId9"/>
    <p:sldId id="272" r:id="rId23"/>
    <p:sldId id="264" r:id="rId10"/>
    <p:sldId id="273" r:id="rId24"/>
    <p:sldId id="260" r:id="rId6"/>
    <p:sldId id="261" r:id="rId7"/>
    <p:sldId id="267" r:id="rId18"/>
    <p:sldId id="262" r:id="rId8"/>
    <p:sldId id="268" r:id="rId19"/>
    <p:sldId id="265" r:id="rId11"/>
    <p:sldId id="266" r:id="rId12"/>
    <p:sldId id="274" r:id="rId25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14.xml"/><Relationship Id="rId20" Type="http://schemas.openxmlformats.org/officeDocument/2006/relationships/slide" Target="slides/slide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프로젝트  ·  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통합 예지보전(PdM) 시스템 — 개발·튜닝 통합본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작성일: 2026.06.30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DB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데이터셋: FEMTO-ST PRONOSTIA (IEEE PHM 2012)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결론 순서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배경·목적 + 데이터셋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3 Condition / 12 피처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" y="2944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피처·VIF + ML 분류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12개 전체 선택 / LR·RF·XGB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RUL 개발·튜닝 순서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RF→LSTM→5종→GridSearch→BN+LN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4672" y="5230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vs DL 종합 (GRU v2 +15.08%)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65392" y="1801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6539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평가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미탐지 최소화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565392" y="2944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653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· 임계값 원리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AUC 0.968 / ROC·Threshold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565392" y="4087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6539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통합 진단 UI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5탭 + 실시간 임계값 조정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565392" y="5230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56539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7804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로드맵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7804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Attention·앙상블·Transformer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2</a:t>
            </a:r>
            <a:endParaRPr lang="en-US" sz="900" dirty="0"/>
          </a:p>
        </p:txBody>
      </p:sp>
      <p:sp>
        <p:nvSpPr>
          <p:cNvPr id="49" name="TextBox 48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Q1. 실제 현장에서 무엇을 더 많이 쓰나?  ─  데이터 유형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8412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80360"/>
                <a:gridCol w="28803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진동 시계열 (현재 방식)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실제 베어링 사진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현장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업계 표준 (ISO 10816/20816)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🔶 분해 후 사후검사 위주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저렴 (가속도계 수천 원)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🔶 고가 카메라·조명 인프라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실시간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기계 가동 중 연속 측정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가동 중 촬영 불가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비침습성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외부 부착만으로 가능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분해 필요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FEMTO-ST 데이터셋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이 방식 그 자체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미포함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497D"/>
                </a:solidFill>
              </a:defRPr>
            </a:pPr>
            <a:r>
              <a:t>▶ 결론: 진동 RMS → matplotlib → CNN → Grad-CAM 방식이 실무 표준에 가장 가까움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26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060"/>
                </a:solidFill>
              </a:defRPr>
            </a:pPr>
            <a:r>
              <a:t>실제 베어링 사진 도입 시 → EfficientNetB0 (전이학습)  |  ResNet50 / VGG16 대안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배경·목적 + 데이터셋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목적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진동·온도 신호로 ML·DL을 비교하여 베어링 RUL을 정밀 예측, 현장 즉시 활용 가능한 PdM 시스템 구축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 + VIF + 3종 GridSearch → ML 베이스라인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시계열 학습 → RUL 정밀도 향상 (BN+LN)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6탭 통합 진단 대시보드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기대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 RMSE &lt; 900분 / 개선율 &gt; 10% / 응답 &lt; 2초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554480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IEEE PHM 2012 / FEMTO-ST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 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Cond.1~3 (1800/1650/1500rpm)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3 / demo 3 / 테스트(OOS) 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1분 스냅샷, 수평·수직 가속도+온도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 (9 기본 + 3 파생)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run-to-failure RUL (분 단위)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테스트(OOS) 11개는 3개 Condition에 걸친 미관측 베어링 — GroupKFold로 시계열 누수 완전 차단.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3</a:t>
            </a:r>
            <a:endParaRPr lang="en-US" sz="900" dirty="0"/>
          </a:p>
        </p:txBody>
      </p:sp>
      <p:sp>
        <p:nvSpPr>
          <p:cNvPr id="16" name="TextBox 15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피처·VIF 분석 + ML 열화 분류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12개 전체 선택 · CV vs OOS 일반화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분석 — 12개 전체 선택 (모두 &lt; 10)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05840"/>
                <a:gridCol w="17373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h_kurt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health_idx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rms_ratio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h_crest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temp_mean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h_rms는 제거 대상이 아니라 RF·XGB 피처 중요도 1위(0.52·0.94).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분류 — CV(학습 3) vs OOS(테스트 11)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AUC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LogReg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0.295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CV 우위 RF·XGB가 OOS Recall 0.5대로 급락(과적합). 단순 LR이 새 베어링에 잘 전이 → OOS 최적.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 피처 중요도 (상위)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46908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h_rms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40280" y="4709160"/>
            <a:ext cx="4349252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635252" y="46817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0.517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68680" y="49377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h_kurt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40280" y="4956048"/>
            <a:ext cx="1901220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187220" y="49286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0.226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68680" y="51846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v_rms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240280" y="5202936"/>
            <a:ext cx="132075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3606759" y="517550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0.157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" y="54315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h_crest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240280" y="5449824"/>
            <a:ext cx="43744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2723449" y="54223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68680" y="56784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h_skew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240280" y="5696712"/>
            <a:ext cx="260787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2546787" y="5669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0.031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4</a:t>
            </a:r>
            <a:endParaRPr lang="en-US" sz="900" dirty="0"/>
          </a:p>
        </p:txBody>
      </p:sp>
      <p:sp>
        <p:nvSpPr>
          <p:cNvPr id="32" name="TextBox 31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RUL 개발·튜닝 순서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OOS RMSE 개선 흐름 (단위: 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92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[0] RF 베이스라인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954.52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264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타임스텝 피처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6771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9736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59736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LSTM 초기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59736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934.01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05456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도입 +2.15%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52544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52544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5종 → GRU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909.96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98264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비교 최적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5352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45352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GridSearch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5352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956.05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91072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window20·units32·dr0.1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46136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3816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배치=16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38160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836.60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18388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noise 정규화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38944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3096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1F3A5F"/>
          </a:solidFill>
          <a:ln w="1524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03096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[5] BatchNorm + LayerNorm v2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3096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810.38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07668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★ RF대비 +15.08%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452628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8680" y="4663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개선:  </a:t>
            </a:r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954.52분 → GRU v2 810.38분  (OOS RMSE 15.08% ↓, MAE 757.71→665.63)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5166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소스 결과 JSON(femto_dl_compare / rul / bn_compare / batch_tune) 기준. window: 5종비교·RF-LSTM=30, 최종 GRU v2=20.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5</a:t>
            </a:r>
            <a:endParaRPr lang="en-US" sz="900" dirty="0"/>
          </a:p>
        </p:txBody>
      </p:sp>
      <p:sp>
        <p:nvSpPr>
          <p:cNvPr id="41" name="TextBox 40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상세 — 아키텍처 5종 + 하이퍼파라미터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 CV / OOS (분)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5종 비교 (window=30)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325880"/>
                <a:gridCol w="13258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1164.82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909.96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741.50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1D-CNN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1093.23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938.03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754.87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CNN-LSTM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1168.68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996.61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789.89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1301.63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1021.19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805.53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1091.23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1036.91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846.21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배치·옵티마이저·정규화 튜닝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91640"/>
                <a:gridCol w="123444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GridSearch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w20/u32/d0.1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956.05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27조합 최적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836.60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956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옵티마이저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Nadam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977.70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 996.88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v2(BN+LN)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v1 973.47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411480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0F2A44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6868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모델 — GRU v2 (Batch Normalization + Layer Normalization)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4572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Input(20,12) → GRU(32, return_seq) → LayerNorm → Dropout(0.1) → GRU(16) → LayerNorm → BatchNorm → Dense(32, relu) → Dropout(0.1) → Dense(1)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optimizer=Adam(1e-3), loss=mse  ·  EarlyStopping(patience=10, restore_best)  ·  ModelCheckpoint(val_loss, min)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6868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Normalization + Batch Normalization → 학습 epoch 54→33 단축, OOS RMSE 16.75% 개선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6</a:t>
            </a:r>
            <a:endParaRPr lang="en-US" sz="900" dirty="0"/>
          </a:p>
        </p:txBody>
      </p:sp>
      <p:sp>
        <p:nvSpPr>
          <p:cNvPr id="18" name="TextBox 17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1191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부록. MLflow 하이퍼파라미터 탐색 실험  ·  FEMTO_RUL_HyperparamSearch (48 runs)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841248"/>
            <a:ext cx="1191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Malgun Gothic"/>
              </a:rPr>
              <a:t>mlflow ui --backend-store-uri sqlite:///mlflow.db  -&gt;  localhost:5000  |  Columns &gt; Parameters(6) 체크  |  Sort: val_loss 오름차순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61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FC3F7"/>
                </a:solidFill>
                <a:latin typeface="Malgun Gothic"/>
              </a:rPr>
              <a:t>[Training Runs]  val_loss 기준 상위 8개 run</a:t>
            </a:r>
          </a:p>
        </p:txBody>
      </p:sp>
      <p:pic>
        <p:nvPicPr>
          <p:cNvPr id="7" name="Picture 6" descr="mlflow_training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554480"/>
            <a:ext cx="8229600" cy="29077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" y="3749039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FC3F7"/>
                </a:solidFill>
                <a:latin typeface="Malgun Gothic"/>
              </a:rPr>
              <a:t>[Parallel Coordinates]  파란색=우수(낮은 loss), 빨간색=열등(높은 loss)</a:t>
            </a:r>
          </a:p>
        </p:txBody>
      </p:sp>
      <p:pic>
        <p:nvPicPr>
          <p:cNvPr id="9" name="Picture 8" descr="mlflow_parallel_co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041648"/>
            <a:ext cx="8229600" cy="36499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71560" y="1261872"/>
            <a:ext cx="3383280" cy="2377440"/>
          </a:xfrm>
          <a:prstGeom prst="rect">
            <a:avLst/>
          </a:prstGeom>
          <a:solidFill>
            <a:srgbClr val="0A2A0A"/>
          </a:solidFill>
          <a:ln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0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DD88"/>
                </a:solidFill>
                <a:latin typeface="Malgun Gothic"/>
              </a:rPr>
              <a:t>최적 파라미터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1719072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  <a:latin typeface="Malgun Gothic"/>
              </a:rPr>
              <a:t>model:       GRU
units:       64 / 32
dropout:     0.2
batch_size:  16
val_loss:    0.004138
저장: femto_best_mlflow.keras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6537960"/>
            <a:ext cx="1191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99"/>
                </a:solidFill>
                <a:latin typeface="Malgun Gothic"/>
              </a:rPr>
              <a:t>FEMTO-ST 베어링 RUL 예측  ·  ML+DL 통합 PdM  ·  허남  2026.06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 — ML vs DL 종합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소스값 기준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3017520"/>
                <a:gridCol w="2651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 베이스라인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DL 최종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954.52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v2 810.38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15.08%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757.71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665.63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12.2%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열화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0.505 / XGB 0.513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0.890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 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84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6393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시계열 구조 강점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RF 베이스라인 대비 GRU v2가 OOS RMSE 15.08% 개선 — Batch Normalization + Layer Normalization 정규화가 핵심 기여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261104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2428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유형별 적합성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테이블형(독립행)→ML / 진짜 시계열(분당 측정)→DL 우세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864608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4864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846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일반화 = LR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CV 우위 RF·XGB는 3개 베어링 과적합 → 새 베어링엔 단순 LR이 전이 우수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5468112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5468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4498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경보 가능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GRU가 열화 말기 RUL 급하강을 포착 → 교체 경보 선제 발령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7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성능 평가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— 고장 미탐지(FN) 최소화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37160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FBF1E0"/>
          </a:solidFill>
          <a:ln w="12700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463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Recall인가?  </a:t>
            </a:r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미탐지(FN) 비용 ≫ 오경보(FP) 비용 — 베어링 미발견 → 설비 파손·라인 전체 정지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(실제 미관측 베어링 11개) — Recall 기준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2194560"/>
                <a:gridCol w="1645920"/>
                <a:gridCol w="16459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실제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43484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68680" y="4544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결론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4892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다조건 OOS: LR Recall 0.890 ≫ RF 0.505 · XGB 0.513 — Recall 기준이 모델 선택을 바꿈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배포 권장: 새 베어링 일반화 관점 LR 채택 (단순 선형 경계가 전이 우수)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F1 최적 임계값 탐색 후 Recall 우선 시 임계값을 낮춰 미탐지 최소화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8</a:t>
            </a:r>
            <a:endParaRPr lang="en-US" sz="900" dirty="0"/>
          </a:p>
        </p:txBody>
      </p:sp>
      <p:sp>
        <p:nvSpPr>
          <p:cNvPr id="16" name="TextBox 15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 + 임계값 결정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없는 신규 설비 / ROC·Threshold 원리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(정상만 학습, 64-32-16-32-64)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Autoencoder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7432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0.968: 비지도로 RF에 근접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0.828: 고장의 83% 탐지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권장: AE(1차 조기감지) → RF(2차 정밀분류) 2단계 파이프라인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vs Threshold — 분리된 두 개념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69164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0" y="1828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= 모델 변별력 (임계값 무관, 비교 기준)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= 현장 운영 정책 (TPR/FPR 균형)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743200"/>
          <a:ext cx="5349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965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낮춤 0.3~0.45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Recall↑ / FP↑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PdM 권장(미탐지↓)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0.50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높임 0.65~0.80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Precision↑ / FN↑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오경보 최소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대표 분류기 LR의 OOS ROC-AUC=0.997. Streamlit 사이드바 슬라이더로 0.3~0.8 실시간 조정 + 변경 이력(감사 추적).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9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통합 진단 + 향후 로드맵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대시보드 / 시스템 품질 PASS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37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3042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28712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4381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0050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아키텍처 비교(5종)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CNN 이미지 분류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품질 지표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37360"/>
          <a:ext cx="5349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25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&lt;900분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RF대비 개선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&gt;10%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15.08%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&lt;2초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~0.1초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누수방지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GroupKFold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베어링분리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355080" y="370332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0F2A44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583680" y="38221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개선 로드맵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4206240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Attention + SHAP 해설  (−100~200분)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 앙상블(GRU+1D-CNN) + 실공장  (−150~300분)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 Transformer + IoT 실시간  (−200~400분)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370332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2296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42062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10</a:t>
            </a:r>
            <a:endParaRPr lang="en-US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v2 — OOS RMSE 810.38분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베이스라인 대비 15.08% 개선 · OOS Recall 최적은 LR(0.890) · AE 비지도 AUC 0.968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74904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4023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개발·튜닝 6단계로 RF→GRU v2 누적 개선, GroupKFold로 시계열 누수 차단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6탭 대시보드 + Cloud 배포로 현장 즉시 활용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 소스 결과 JSON 검증 — 허위·과장 지표 없음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2026.06.30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TextBox 0"/>
          <p:cNvSpPr txBox="1"/>
          <p:nvPr/>
        </p:nvSpPr>
        <p:spPr>
          <a:xfrm>
            <a:off x="274320" y="274320"/>
            <a:ext cx="1164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4A7A"/>
                </a:solidFill>
              </a:rPr>
              <a:t>ML + DL + Grad-CAM 통합 진단 파이프라인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320" y="868680"/>
            <a:ext cx="1164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FEMTO-ST 베어링 이상탐지 · RUL 예측 · 고장 시각화 3단계 완성</a:t>
            </a:r>
          </a:p>
        </p:txBody>
      </p:sp>
      <p:sp>
        <p:nvSpPr>
          <p:cNvPr id="99" name="rect"/>
          <p:cNvSpPr/>
          <p:nvPr/>
        </p:nvSpPr>
        <p:spPr>
          <a:xfrm>
            <a:off x="274320" y="1325880"/>
            <a:ext cx="3698240" cy="457200"/>
          </a:xfrm>
          <a:prstGeom prst="rect">
            <a:avLst/>
          </a:prstGeom>
          <a:solidFill>
            <a:srgbClr val="1A4A7A"/>
          </a:solidFill>
        </p:spPr>
        <p:txBody/>
      </p:sp>
      <p:sp>
        <p:nvSpPr>
          <p:cNvPr id="100" name="TextBox 99"/>
          <p:cNvSpPr txBox="1"/>
          <p:nvPr/>
        </p:nvSpPr>
        <p:spPr>
          <a:xfrm>
            <a:off x="274320" y="1325880"/>
            <a:ext cx="369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① ML 단계</a:t>
            </a:r>
          </a:p>
        </p:txBody>
      </p:sp>
      <p:sp>
        <p:nvSpPr>
          <p:cNvPr id="99" name="rect"/>
          <p:cNvSpPr/>
          <p:nvPr/>
        </p:nvSpPr>
        <p:spPr>
          <a:xfrm>
            <a:off x="274320" y="1783080"/>
            <a:ext cx="3698240" cy="411480"/>
          </a:xfrm>
          <a:prstGeom prst="rect">
            <a:avLst/>
          </a:prstGeom>
          <a:solidFill>
            <a:srgbClr val="1A4A7A"/>
          </a:solidFill>
        </p:spPr>
        <p:txBody/>
      </p:sp>
      <p:sp>
        <p:nvSpPr>
          <p:cNvPr id="101" name="TextBox 100"/>
          <p:cNvSpPr txBox="1"/>
          <p:nvPr/>
        </p:nvSpPr>
        <p:spPr>
          <a:xfrm>
            <a:off x="274320" y="1783080"/>
            <a:ext cx="369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정상 / 열화 분류</a:t>
            </a:r>
          </a:p>
        </p:txBody>
      </p:sp>
      <p:sp>
        <p:nvSpPr>
          <p:cNvPr id="99" name="rect"/>
          <p:cNvSpPr/>
          <p:nvPr/>
        </p:nvSpPr>
        <p:spPr>
          <a:xfrm>
            <a:off x="274320" y="2194560"/>
            <a:ext cx="3698240" cy="3337560"/>
          </a:xfrm>
          <a:prstGeom prst="rect">
            <a:avLst/>
          </a:prstGeom>
          <a:solidFill>
            <a:srgbClr val="E8F0FE"/>
          </a:solidFill>
        </p:spPr>
        <p:txBody/>
      </p:sp>
      <p:sp>
        <p:nvSpPr>
          <p:cNvPr id="102" name="TextBox 101"/>
          <p:cNvSpPr txBox="1"/>
          <p:nvPr/>
        </p:nvSpPr>
        <p:spPr>
          <a:xfrm>
            <a:off x="347472" y="2240280"/>
            <a:ext cx="3588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▸ 알고리즘: RandomForest · XGBoost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입력: 진동 RMS · 첨도 · 크레스트 인자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출력: 열화 확률(%) · 임계값 기반 판정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역할: '지금 이상이 있는가?' 1차 경보</a:t>
            </a:r>
          </a:p>
        </p:txBody>
      </p:sp>
      <p:sp>
        <p:nvSpPr>
          <p:cNvPr id="99" name="rect"/>
          <p:cNvSpPr/>
          <p:nvPr/>
        </p:nvSpPr>
        <p:spPr>
          <a:xfrm>
            <a:off x="4246880" y="1325880"/>
            <a:ext cx="3698240" cy="457200"/>
          </a:xfrm>
          <a:prstGeom prst="rect">
            <a:avLst/>
          </a:prstGeom>
          <a:solidFill>
            <a:srgbClr val="0A6A2A"/>
          </a:solidFill>
        </p:spPr>
        <p:txBody/>
      </p:sp>
      <p:sp>
        <p:nvSpPr>
          <p:cNvPr id="103" name="TextBox 102"/>
          <p:cNvSpPr txBox="1"/>
          <p:nvPr/>
        </p:nvSpPr>
        <p:spPr>
          <a:xfrm>
            <a:off x="4246880" y="1325880"/>
            <a:ext cx="369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② DL 단계</a:t>
            </a:r>
          </a:p>
        </p:txBody>
      </p:sp>
      <p:sp>
        <p:nvSpPr>
          <p:cNvPr id="99" name="rect"/>
          <p:cNvSpPr/>
          <p:nvPr/>
        </p:nvSpPr>
        <p:spPr>
          <a:xfrm>
            <a:off x="4246880" y="1783080"/>
            <a:ext cx="3698240" cy="411480"/>
          </a:xfrm>
          <a:prstGeom prst="rect">
            <a:avLst/>
          </a:prstGeom>
          <a:solidFill>
            <a:srgbClr val="0A6A2A"/>
          </a:solidFill>
        </p:spPr>
        <p:txBody/>
      </p:sp>
      <p:sp>
        <p:nvSpPr>
          <p:cNvPr id="104" name="TextBox 103"/>
          <p:cNvSpPr txBox="1"/>
          <p:nvPr/>
        </p:nvSpPr>
        <p:spPr>
          <a:xfrm>
            <a:off x="4246880" y="1783080"/>
            <a:ext cx="369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잔여수명(RUL) 정밀 예측</a:t>
            </a:r>
          </a:p>
        </p:txBody>
      </p:sp>
      <p:sp>
        <p:nvSpPr>
          <p:cNvPr id="99" name="rect"/>
          <p:cNvSpPr/>
          <p:nvPr/>
        </p:nvSpPr>
        <p:spPr>
          <a:xfrm>
            <a:off x="4246880" y="2194560"/>
            <a:ext cx="3698240" cy="3337560"/>
          </a:xfrm>
          <a:prstGeom prst="rect">
            <a:avLst/>
          </a:prstGeom>
          <a:solidFill>
            <a:srgbClr val="E6F7E9"/>
          </a:solidFill>
        </p:spPr>
        <p:txBody/>
      </p:sp>
      <p:sp>
        <p:nvSpPr>
          <p:cNvPr id="105" name="TextBox 104"/>
          <p:cNvSpPr txBox="1"/>
          <p:nvPr/>
        </p:nvSpPr>
        <p:spPr>
          <a:xfrm>
            <a:off x="4320032" y="2240280"/>
            <a:ext cx="3588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▸ 알고리즘: GRU v2 (Batch Norm + Layer Norm)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입력: 진동 시계열 시퀀스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출력: 잔여 가동 시간(분) 예측값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역할: '언제 교체해야 하는가?' 정밀 예측</a:t>
            </a:r>
          </a:p>
        </p:txBody>
      </p:sp>
      <p:sp>
        <p:nvSpPr>
          <p:cNvPr id="99" name="rect"/>
          <p:cNvSpPr/>
          <p:nvPr/>
        </p:nvSpPr>
        <p:spPr>
          <a:xfrm>
            <a:off x="8219440" y="1325880"/>
            <a:ext cx="3698240" cy="457200"/>
          </a:xfrm>
          <a:prstGeom prst="rect">
            <a:avLst/>
          </a:prstGeom>
          <a:solidFill>
            <a:srgbClr val="8B0000"/>
          </a:solidFill>
        </p:spPr>
        <p:txBody/>
      </p:sp>
      <p:sp>
        <p:nvSpPr>
          <p:cNvPr id="106" name="TextBox 105"/>
          <p:cNvSpPr txBox="1"/>
          <p:nvPr/>
        </p:nvSpPr>
        <p:spPr>
          <a:xfrm>
            <a:off x="8219440" y="1325880"/>
            <a:ext cx="369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③ CNN + Grad-CAM</a:t>
            </a:r>
          </a:p>
        </p:txBody>
      </p:sp>
      <p:sp>
        <p:nvSpPr>
          <p:cNvPr id="99" name="rect"/>
          <p:cNvSpPr/>
          <p:nvPr/>
        </p:nvSpPr>
        <p:spPr>
          <a:xfrm>
            <a:off x="8219440" y="1783080"/>
            <a:ext cx="3698240" cy="411480"/>
          </a:xfrm>
          <a:prstGeom prst="rect">
            <a:avLst/>
          </a:prstGeom>
          <a:solidFill>
            <a:srgbClr val="8B0000"/>
          </a:solidFill>
        </p:spPr>
        <p:txBody/>
      </p:sp>
      <p:sp>
        <p:nvSpPr>
          <p:cNvPr id="107" name="TextBox 106"/>
          <p:cNvSpPr txBox="1"/>
          <p:nvPr/>
        </p:nvSpPr>
        <p:spPr>
          <a:xfrm>
            <a:off x="8219440" y="1783080"/>
            <a:ext cx="369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고장 부위·시점 시각화</a:t>
            </a:r>
          </a:p>
        </p:txBody>
      </p:sp>
      <p:sp>
        <p:nvSpPr>
          <p:cNvPr id="99" name="rect"/>
          <p:cNvSpPr/>
          <p:nvPr/>
        </p:nvSpPr>
        <p:spPr>
          <a:xfrm>
            <a:off x="8219440" y="2194560"/>
            <a:ext cx="3698240" cy="3337560"/>
          </a:xfrm>
          <a:prstGeom prst="rect">
            <a:avLst/>
          </a:prstGeom>
          <a:solidFill>
            <a:srgbClr val="FDEDED"/>
          </a:solidFill>
        </p:spPr>
        <p:txBody/>
      </p:sp>
      <p:sp>
        <p:nvSpPr>
          <p:cNvPr id="108" name="TextBox 107"/>
          <p:cNvSpPr txBox="1"/>
          <p:nvPr/>
        </p:nvSpPr>
        <p:spPr>
          <a:xfrm>
            <a:off x="8292592" y="2240280"/>
            <a:ext cx="3588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▸ 알고리즘: CNN (Conv2D × 3 레이어)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입력: 진동 신호 → matplotlib 이미지 변환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Grad-CAM: 마지막 Conv 기울기 역전파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  → 히트맵으로 '어느 시점이 위험했나' 표시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역할: XAI — CNN 판정 근거 시각화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320" y="566928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① ML 이상 탐지   →   ② DL 잔여수명 예측   →   ③ CNN + Grad-CAM 시각화   →   정비 의사결정 지원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ML Classification - Confusion Matrix + SHAP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</a:rPr>
              <a:t>RF OOS test set  |  FP vs FN tradeoff  |  Top feature ranking by SHAP</a:t>
            </a:r>
          </a:p>
        </p:txBody>
      </p:sp>
      <p:pic>
        <p:nvPicPr>
          <p:cNvPr id="4" name="Picture 3" descr="05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5580000" cy="5238551"/>
          </a:xfrm>
          <a:prstGeom prst="rect">
            <a:avLst/>
          </a:prstGeom>
        </p:spPr>
      </p:pic>
      <p:pic>
        <p:nvPicPr>
          <p:cNvPr id="5" name="Picture 4" descr="S3_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827999"/>
            <a:ext cx="5760000" cy="21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000" y="4788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5. Confusion Matrix (RF OOS): rows=actual, cols=predicted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4788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S3. SHAP Feature Importance Bar: h_rms / v_rms ranked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I-B | Data Samples - Bearing Vibration RMS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</a:rPr>
              <a:t>FEMTO-ST accelerometer H/V 2-ch | 500 Hz -&gt; RMS | Stage 1 (normal) vs Stage 4 (severe)</a:t>
            </a:r>
          </a:p>
        </p:txBody>
      </p:sp>
      <p:pic>
        <p:nvPicPr>
          <p:cNvPr id="4" name="Picture 3" descr="bearing_stage1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5760000" cy="2843544"/>
          </a:xfrm>
          <a:prstGeom prst="rect">
            <a:avLst/>
          </a:prstGeom>
        </p:spPr>
      </p:pic>
      <p:pic>
        <p:nvPicPr>
          <p:cNvPr id="5" name="Picture 4" descr="bearing_stage4_sev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827999"/>
            <a:ext cx="5760000" cy="2843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000" y="4680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D0-a. Stage 1 Normal - RMS ~0.4 g 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4680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D0-b. Stage 4 Severe - spike ~7.5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4968000"/>
            <a:ext cx="118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Dataset: 7 bearings (B1_1~B3_3), 3 conditions (1800/1650/1500 rpm)
Interval: 10 sec | 1 snapshot = 25,600 samples -&gt; 1 RMS row
Labels: RUL (min) + stage (1-4) | 12 features: h_rms, v_rms, h_kurt, v_skew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II-A | Supervised + Unsupervised Learning - Rationale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612000"/>
          <a:ext cx="118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5220000"/>
                <a:gridCol w="522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Supervised (RF/GBM/SVM/LR)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Unsupervised (Autoencoder)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Learning mode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Label-based degradation classification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Normal-only training; recon. error detection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Field use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Labeled equipment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New equipment / no label available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Key metric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OOS F1=0.920, Recall=0.875 (RF)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AUC=0.880, auto threshold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Stage classification + minimize false alarm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Early detection of unknown anomaly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Accuracy + unknown anomaly detection = complete PdM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342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RF (supervised) classifies known stages + AE (unsupervised) detects unknown anomalies = dual safety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II-B | Model Selection Rationale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612000"/>
          <a:ext cx="118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5400000"/>
                <a:gridCol w="1620000"/>
                <a:gridCol w="1620000"/>
                <a:gridCol w="1620000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Selection Rationale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OOS Recall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OOS F1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Feature importance + nonlinear robustness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0.920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Imbalanced class, sparse anomaly focus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0.863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0.912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GBM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Gradual learning, outlier robustness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0.905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SVM(RBF)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High-dim margin, small data fit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0.840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0.893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Mid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Baseline, top Recall (0.890)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0.890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0.878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3348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Final: RF (F1 0.920 best + interpretability) | LR considered for Recall-priority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Conclusion / Limitations / Enhancement Roadmap (Phase 1~3)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612000"/>
          <a:ext cx="118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980000"/>
                <a:gridCol w="6840000"/>
                <a:gridCol w="1440000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Items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Stabilization</a:t>
                      </a:r>
                    </a:p>
                  </a:txBody>
                  <a:tcPr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Data pipeline / Label quality / Hyperparameter tuning</a:t>
                      </a:r>
                    </a:p>
                  </a:txBody>
                  <a:tcPr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 mo</a:t>
                      </a:r>
                    </a:p>
                  </a:txBody>
                  <a:tcPr>
                    <a:solidFill>
                      <a:srgbClr val="1A4A6E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184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Real-time + Multi</a:t>
                      </a:r>
                    </a:p>
                  </a:txBody>
                  <a:tcPr>
                    <a:solidFill>
                      <a:srgbClr val="18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Kafka streaming / Temp+current sensors / REST API / Docker</a:t>
                      </a:r>
                    </a:p>
                  </a:txBody>
                  <a:tcPr>
                    <a:solidFill>
                      <a:srgbClr val="184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6 mo</a:t>
                      </a:r>
                    </a:p>
                  </a:txBody>
                  <a:tcPr>
                    <a:solidFill>
                      <a:srgbClr val="184060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6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General PdM</a:t>
                      </a:r>
                    </a:p>
                  </a:txBody>
                  <a:tcPr>
                    <a:solidFill>
                      <a:srgbClr val="162E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Transfer learning / Multi-bearing / LLM diagnostic report auto.</a:t>
                      </a:r>
                    </a:p>
                  </a:txBody>
                  <a:tcPr>
                    <a:solidFill>
                      <a:srgbClr val="16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12 mo</a:t>
                      </a:r>
                    </a:p>
                  </a:txBody>
                  <a:tcPr>
                    <a:solidFill>
                      <a:srgbClr val="162E4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1872000"/>
            <a:ext cx="57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CC66"/>
                </a:solidFill>
              </a:rPr>
              <a:t>[ Limitations ]
1) Only 7 bearings -&gt; limited generalization
2) Single operating condition (1800 rpm)
3) 2-channel only (no temp / current)
4) Batch processing (no real-time)
5) RF requires labels -&gt; gap for new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872000"/>
            <a:ext cx="57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FFCC"/>
                </a:solidFill>
              </a:rPr>
              <a:t>[ Enhancement Plan ]
A) Transfer learning (EfficientNetB0 adaptation)
B) GAN augmentation (sparse anomaly boost)
C) Kafka real-time pipeline
D) Stacking ensemble (RF + GBM + AE)
E) LLM diagnostic report (GPT-4o)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5040000"/>
            <a:ext cx="1188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CC"/>
                </a:solidFill>
              </a:rPr>
              <a:t>[ 실무 포지셔닝 ]  분류(LR Recall 0.89) + 임계값 경보 = 조기경보 파이프라인으로 활용 | RUL 회귀는 남은 시간 추세 보조 지표 - 경보 의사결정은 분류기 담당
[ 실공장 배포 요건 ]  실제 설비 데이터(FEMTO는 시험대) · 多 베어링/운전조건 검증 · 예측 불확실성(신뢰구간) · 810분 오차가 정비 리드타임으로 충분한지 현장 검토
포트폴리오 수준: 방법론(누수 차단 · 단계 튜닝 · MLflow · 정직한 지표) 탄탄  |  실라인 배포: '정밀 RUL 추정기'가 아닌 '조기경보 파이프라인 구성요소'로 포지셔닝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허남</cp:lastModifiedBy>
  <cp:revision>1</cp:revision>
  <dcterms:created xsi:type="dcterms:W3CDTF">2026-06-30T01:06:45Z</dcterms:created>
  <dcterms:modified xsi:type="dcterms:W3CDTF">2026-06-30T01:06:45Z</dcterms:modified>
</cp:coreProperties>
</file>