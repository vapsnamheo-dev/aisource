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20"/>
    <p:sldId id="258" r:id="rId4"/>
    <p:sldId id="259" r:id="rId5"/>
    <p:sldId id="260" r:id="rId6"/>
    <p:sldId id="261" r:id="rId7"/>
    <p:sldId id="267" r:id="rId18"/>
    <p:sldId id="262" r:id="rId8"/>
    <p:sldId id="263" r:id="rId9"/>
    <p:sldId id="264" r:id="rId10"/>
    <p:sldId id="265" r:id="rId11"/>
    <p:sldId id="266" r:id="rId12"/>
    <p:sldId id="268" r:id="rId19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프로젝트  ·  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시스템 — 개발·튜닝 통합본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작성일: 2026.06.30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데이터셋: FEMTO-ST PRONOSTIA (IEEE PHM 2012)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결론 순서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3 Condition / 12 피처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+ ML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/ LR·RF·XGB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RF→LSTM→5종→GridSearch→BN+LN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 (GRU v2 +15.08%)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 최소화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· 임계값 원리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/ ROC·Threshold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UI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5탭 + 실시간 임계값 조정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로드맵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Attention·앙상블·Transformer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목적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진동·온도 신호로 ML·DL을 비교하여 베어링 RUL을 정밀 예측, 현장 즉시 활용 가능한 PdM 시스템 구축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+ VIF + 3종 GridSearch → ML 베이스라인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시계열 학습 → RUL 정밀도 향상 (BN+LN)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6탭 통합 진단 대시보드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794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기대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 RMSE &lt; 900분 / 개선율 &gt; 10% / 응답 &lt; 2초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테스트(OOS) 11개는 3개 Condition에 걸친 미관측 베어링 — GroupKFold로 시계열 누수 완전 차단.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분석 + ML 열화 분류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058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아니라 RF·XGB 피처 중요도 1위(0.52·0.94).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CV 우위 RF·XGB가 OOS Recall 0.5대로 급락(과적합). 단순 LR이 새 베어링에 잘 전이 → OOS 최적.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69087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709160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635252" y="468172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493776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4956048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187220" y="49286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18464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202936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3606759" y="517550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43153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449824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2723449" y="542239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6784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696712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2546787" y="5669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개선:  </a:t>
            </a:r>
            <a:pPr indent="0" marL="0">
              <a:buNone/>
            </a:pPr>
            <a:r>
              <a:rPr lang="en-US" sz="14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954.52분 → GRU v2 810.38분  (OOS RMSE 15.08% ↓, MAE 757.71→665.63)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8680" y="5166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25880"/>
                <a:gridCol w="13258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23444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4FC3F7"/>
                </a:solidFill>
                <a:latin typeface="Malgun Gothic"/>
              </a:rPr>
              <a:t>[Training Runs]  val_loss 기준 상위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54480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3749039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4FC3F7"/>
                </a:solidFill>
                <a:latin typeface="Malgun Gothic"/>
              </a:rPr>
              <a:t>[Parallel Coordinates]  파란색=우수(낮은 loss), 빨간색=열등(높은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041648"/>
            <a:ext cx="8229600" cy="364990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6537960"/>
            <a:ext cx="1191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8899"/>
                </a:solidFill>
                <a:latin typeface="Malgun Gothic"/>
              </a:rPr>
              <a:t>FEMTO-ST 베어링 RUL 예측  ·  ML+DL 통합 PdM  ·  허남  2026.06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 — ML vs DL 종합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소스값 기준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3017520"/>
                <a:gridCol w="265176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 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363931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OOS RMSE 15.08% 개선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261104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42611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2428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테이블형(독립행)→ML / 진짜 시계열(분당 측정)→DL 우세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864608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48646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46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CV 우위 RF·XGB는 3개 베어링 과적합 → 새 베어링엔 단순 LR이 전이 우수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5468112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5468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44982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교체 경보 선제 발령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194560"/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8872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vs Threshold — 분리된 두 개념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583680" y="18288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= 모델 변별력 (임계값 무관, 비교 기준)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현장 운영 정책 (TPR/FPR 균형)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965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대표 분류기 LR의 OOS ROC-AUC=0.997. Streamlit 사이드바 슬라이더로 0.3~0.8 실시간 조정 + 변경 이력(감사 추적).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+ 향후 로드맵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/ 시스템 품질 PASS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737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04288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30428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871216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287121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43814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3814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00507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258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355080" y="370332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F2A44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583680" y="382219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로드맵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4206240"/>
            <a:ext cx="4983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 Attention + SHAP 해설  (−100~200분)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 앙상블(GRU+1D-CNN) + 실공장  (−150~300분)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 Transformer + IoT 실시간  (−200~400분)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0080" y="3703320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22960" y="3822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420624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754880"/>
            <a:ext cx="4114800" cy="411480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v2 — OOS RMSE 810.38분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베이스라인 대비 15.08% 개선 · OOS Recall 최적은 LR(0.890) · AE 비지도 AUC 0.968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74904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40233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개발·튜닝 6단계로 RF→GRU v2 누적 개선, GroupKFold로 시계열 누수 차단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6탭 대시보드 + Cloud 배포로 현장 즉시 활용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 소스 결과 JSON 검증 — 허위·과장 지표 없음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2026.06.30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TextBox 0"/>
          <p:cNvSpPr txBox="1"/>
          <p:nvPr/>
        </p:nvSpPr>
        <p:spPr>
          <a:xfrm>
            <a:off x="274320" y="274320"/>
            <a:ext cx="1164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4A7A"/>
                </a:solidFill>
              </a:rPr>
              <a:t>ML + DL + Grad-CAM 통합 진단 파이프라인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86868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FEMTO-ST 베어링 이상탐지 · RUL 예측 · 고장 시각화 3단계 완성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1325880"/>
            <a:ext cx="3698240" cy="457200"/>
          </a:xfrm>
          <a:prstGeom prst="rect">
            <a:avLst/>
          </a:prstGeom>
          <a:solidFill>
            <a:srgbClr val="1A4A7A"/>
          </a:solidFill>
        </p:spPr>
        <p:txBody/>
      </p:sp>
      <p:sp>
        <p:nvSpPr>
          <p:cNvPr id="100" name="TextBox 99"/>
          <p:cNvSpPr txBox="1"/>
          <p:nvPr/>
        </p:nvSpPr>
        <p:spPr>
          <a:xfrm>
            <a:off x="27432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① ML 단계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1783080"/>
            <a:ext cx="3698240" cy="411480"/>
          </a:xfrm>
          <a:prstGeom prst="rect">
            <a:avLst/>
          </a:prstGeom>
          <a:solidFill>
            <a:srgbClr val="1A4A7A"/>
          </a:solidFill>
        </p:spPr>
        <p:txBody/>
      </p:sp>
      <p:sp>
        <p:nvSpPr>
          <p:cNvPr id="101" name="TextBox 100"/>
          <p:cNvSpPr txBox="1"/>
          <p:nvPr/>
        </p:nvSpPr>
        <p:spPr>
          <a:xfrm>
            <a:off x="27432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정상 / 열화 분류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2194560"/>
            <a:ext cx="3698240" cy="3337560"/>
          </a:xfrm>
          <a:prstGeom prst="rect">
            <a:avLst/>
          </a:prstGeom>
          <a:solidFill>
            <a:srgbClr val="E8F0FE"/>
          </a:solidFill>
        </p:spPr>
        <p:txBody/>
      </p:sp>
      <p:sp>
        <p:nvSpPr>
          <p:cNvPr id="102" name="TextBox 101"/>
          <p:cNvSpPr txBox="1"/>
          <p:nvPr/>
        </p:nvSpPr>
        <p:spPr>
          <a:xfrm>
            <a:off x="34747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▸ 알고리즘: RandomForest · XGBoost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RMS · 첨도 · 크레스트 인자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출력: 열화 확률(%) · 임계값 기반 판정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'지금 이상이 있는가?' 1차 경보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1325880"/>
            <a:ext cx="3698240" cy="457200"/>
          </a:xfrm>
          <a:prstGeom prst="rect">
            <a:avLst/>
          </a:prstGeom>
          <a:solidFill>
            <a:srgbClr val="0A6A2A"/>
          </a:solidFill>
        </p:spPr>
        <p:txBody/>
      </p:sp>
      <p:sp>
        <p:nvSpPr>
          <p:cNvPr id="103" name="TextBox 102"/>
          <p:cNvSpPr txBox="1"/>
          <p:nvPr/>
        </p:nvSpPr>
        <p:spPr>
          <a:xfrm>
            <a:off x="424688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② DL 단계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1783080"/>
            <a:ext cx="3698240" cy="411480"/>
          </a:xfrm>
          <a:prstGeom prst="rect">
            <a:avLst/>
          </a:prstGeom>
          <a:solidFill>
            <a:srgbClr val="0A6A2A"/>
          </a:solidFill>
        </p:spPr>
        <p:txBody/>
      </p:sp>
      <p:sp>
        <p:nvSpPr>
          <p:cNvPr id="104" name="TextBox 103"/>
          <p:cNvSpPr txBox="1"/>
          <p:nvPr/>
        </p:nvSpPr>
        <p:spPr>
          <a:xfrm>
            <a:off x="424688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잔여수명(RUL) 정밀 예측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2194560"/>
            <a:ext cx="3698240" cy="3337560"/>
          </a:xfrm>
          <a:prstGeom prst="rect">
            <a:avLst/>
          </a:prstGeom>
          <a:solidFill>
            <a:srgbClr val="E6F7E9"/>
          </a:solidFill>
        </p:spPr>
        <p:txBody/>
      </p:sp>
      <p:sp>
        <p:nvSpPr>
          <p:cNvPr id="105" name="TextBox 104"/>
          <p:cNvSpPr txBox="1"/>
          <p:nvPr/>
        </p:nvSpPr>
        <p:spPr>
          <a:xfrm>
            <a:off x="432003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▸ 알고리즘: GRU v2 (Batch Norm + Layer Norm)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시계열 시퀀스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출력: 잔여 가동 시간(분) 예측값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'언제 교체해야 하는가?' 정밀 예측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1325880"/>
            <a:ext cx="3698240" cy="457200"/>
          </a:xfrm>
          <a:prstGeom prst="rect">
            <a:avLst/>
          </a:prstGeom>
          <a:solidFill>
            <a:srgbClr val="8B0000"/>
          </a:solidFill>
        </p:spPr>
        <p:txBody/>
      </p:sp>
      <p:sp>
        <p:nvSpPr>
          <p:cNvPr id="106" name="TextBox 105"/>
          <p:cNvSpPr txBox="1"/>
          <p:nvPr/>
        </p:nvSpPr>
        <p:spPr>
          <a:xfrm>
            <a:off x="821944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③ CNN + Grad-CAM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1783080"/>
            <a:ext cx="3698240" cy="411480"/>
          </a:xfrm>
          <a:prstGeom prst="rect">
            <a:avLst/>
          </a:prstGeom>
          <a:solidFill>
            <a:srgbClr val="8B0000"/>
          </a:solidFill>
        </p:spPr>
        <p:txBody/>
      </p:sp>
      <p:sp>
        <p:nvSpPr>
          <p:cNvPr id="107" name="TextBox 106"/>
          <p:cNvSpPr txBox="1"/>
          <p:nvPr/>
        </p:nvSpPr>
        <p:spPr>
          <a:xfrm>
            <a:off x="821944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고장 부위·시점 시각화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2194560"/>
            <a:ext cx="3698240" cy="3337560"/>
          </a:xfrm>
          <a:prstGeom prst="rect">
            <a:avLst/>
          </a:prstGeom>
          <a:solidFill>
            <a:srgbClr val="FDEDED"/>
          </a:solidFill>
        </p:spPr>
        <p:txBody/>
      </p:sp>
      <p:sp>
        <p:nvSpPr>
          <p:cNvPr id="108" name="TextBox 107"/>
          <p:cNvSpPr txBox="1"/>
          <p:nvPr/>
        </p:nvSpPr>
        <p:spPr>
          <a:xfrm>
            <a:off x="829259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▸ 알고리즘: CNN (Conv2D × 3 레이어)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신호 → matplotlib 이미지 변환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Grad-CAM: 마지막 Conv 기울기 역전파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  → 히트맵으로 '어느 시점이 위험했나' 표시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XAI — CNN 판정 근거 시각화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4320" y="566928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</a:rPr>
              <a:t>① ML 이상 탐지   →   ② DL 잔여수명 예측   →   ③ CNN + Grad-CAM 시각화   →   정비 의사결정 지원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t>Q1. 실제 현장에서 무엇을 더 많이 쓰나?  ─  데이터 유형 비교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880360"/>
                <a:gridCol w="28803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t>실제 베어링 사진 도입 시 → EfficientNetB0 (전이학습)  |  ResNet50 / VGG16 대안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허남</cp:lastModifiedBy>
  <cp:revision>1</cp:revision>
  <dcterms:created xsi:type="dcterms:W3CDTF">2026-06-30T01:06:45Z</dcterms:created>
  <dcterms:modified xsi:type="dcterms:W3CDTF">2026-06-30T01:06:45Z</dcterms:modified>
</cp:coreProperties>
</file>