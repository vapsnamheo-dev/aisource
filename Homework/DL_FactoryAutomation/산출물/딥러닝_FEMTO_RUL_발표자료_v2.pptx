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7" r:id="rId18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8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463040"/>
            <a:ext cx="4206240" cy="4206240"/>
          </a:xfrm>
          <a:prstGeom prst="ellipse">
            <a:avLst/>
          </a:prstGeom>
          <a:solidFill>
            <a:srgbClr val="284B73"/>
          </a:solidFill>
          <a:ln/>
        </p:spPr>
      </p:sp>
      <p:sp>
        <p:nvSpPr>
          <p:cNvPr id="3" name="Shape 1"/>
          <p:cNvSpPr/>
          <p:nvPr/>
        </p:nvSpPr>
        <p:spPr>
          <a:xfrm>
            <a:off x="10607040" y="4297680"/>
            <a:ext cx="3108960" cy="3108960"/>
          </a:xfrm>
          <a:prstGeom prst="ellipse">
            <a:avLst/>
          </a:prstGeom>
          <a:solidFill>
            <a:srgbClr val="2A4A6E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554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DC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딥러닝 프로젝트  ·  AI 개발 수행내역서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822960" y="214884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베어링 잔여수명(RUL) 예측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822960" y="30632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B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ML+DL 통합 예지보전(PdM) 시스템 — 개발·튜닝 통합본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868680" y="3886200"/>
            <a:ext cx="2926080" cy="0"/>
          </a:xfrm>
          <a:prstGeom prst="line">
            <a:avLst/>
          </a:prstGeom>
          <a:noFill/>
          <a:ln w="31750">
            <a:solidFill>
              <a:srgbClr val="13849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411480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2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담당자: 허남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2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작성일: 2026.06.30</a:t>
            </a:r>
            <a:endParaRPr lang="en-US" sz="1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DB6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데이터셋: FEMTO-ST PRONOSTIA (IEEE PHM 2012)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 → 튜닝 → 결론 순서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554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04672" y="1801368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</p:sp>
      <p:sp>
        <p:nvSpPr>
          <p:cNvPr id="9" name="Text 7"/>
          <p:cNvSpPr/>
          <p:nvPr/>
        </p:nvSpPr>
        <p:spPr>
          <a:xfrm>
            <a:off x="804672" y="1801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Ⅰ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17320" y="1700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배경·목적 + 데이터셋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17320" y="2048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3 Condition / 12 피처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2697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04672" y="2944368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</p:sp>
      <p:sp>
        <p:nvSpPr>
          <p:cNvPr id="14" name="Text 12"/>
          <p:cNvSpPr/>
          <p:nvPr/>
        </p:nvSpPr>
        <p:spPr>
          <a:xfrm>
            <a:off x="804672" y="2944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Ⅱ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417320" y="2843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피처·VIF + ML 분류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417320" y="3191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VIF 12개 전체 선택 / LR·RF·XGB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3840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4087368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</p:sp>
      <p:sp>
        <p:nvSpPr>
          <p:cNvPr id="19" name="Text 17"/>
          <p:cNvSpPr/>
          <p:nvPr/>
        </p:nvSpPr>
        <p:spPr>
          <a:xfrm>
            <a:off x="804672" y="4087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1417320" y="3986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 RUL 개발·튜닝 순서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417320" y="4334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RF→LSTM→5종→GridSearch→BN+LN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" y="4983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04672" y="5230368"/>
            <a:ext cx="457200" cy="457200"/>
          </a:xfrm>
          <a:prstGeom prst="ellipse">
            <a:avLst/>
          </a:prstGeom>
          <a:solidFill>
            <a:srgbClr val="2E75B6"/>
          </a:solidFill>
          <a:ln/>
        </p:spPr>
      </p:sp>
      <p:sp>
        <p:nvSpPr>
          <p:cNvPr id="24" name="Text 22"/>
          <p:cNvSpPr/>
          <p:nvPr/>
        </p:nvSpPr>
        <p:spPr>
          <a:xfrm>
            <a:off x="804672" y="5230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417320" y="5129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결론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417320" y="5477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vs DL 종합 (GRU v2 +15.08%)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0" y="1554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565392" y="1801368"/>
            <a:ext cx="457200" cy="457200"/>
          </a:xfrm>
          <a:prstGeom prst="ellipse">
            <a:avLst/>
          </a:prstGeom>
          <a:solidFill>
            <a:srgbClr val="138496"/>
          </a:solidFill>
          <a:ln/>
        </p:spPr>
      </p:sp>
      <p:sp>
        <p:nvSpPr>
          <p:cNvPr id="29" name="Text 27"/>
          <p:cNvSpPr/>
          <p:nvPr/>
        </p:nvSpPr>
        <p:spPr>
          <a:xfrm>
            <a:off x="6565392" y="1801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7178040" y="1700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Recall 중심 평가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7178040" y="2048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PdM 미탐지 최소화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0" y="2697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65392" y="2944368"/>
            <a:ext cx="457200" cy="457200"/>
          </a:xfrm>
          <a:prstGeom prst="ellipse">
            <a:avLst/>
          </a:prstGeom>
          <a:solidFill>
            <a:srgbClr val="138496"/>
          </a:solidFill>
          <a:ln/>
        </p:spPr>
      </p:sp>
      <p:sp>
        <p:nvSpPr>
          <p:cNvPr id="34" name="Text 32"/>
          <p:cNvSpPr/>
          <p:nvPr/>
        </p:nvSpPr>
        <p:spPr>
          <a:xfrm>
            <a:off x="6565392" y="2944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7178040" y="2843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Autoencoder · 임계값 원리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7178040" y="3191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비지도 AUC 0.968 / ROC·Threshold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400800" y="3840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565392" y="4087368"/>
            <a:ext cx="457200" cy="457200"/>
          </a:xfrm>
          <a:prstGeom prst="ellipse">
            <a:avLst/>
          </a:prstGeom>
          <a:solidFill>
            <a:srgbClr val="138496"/>
          </a:solidFill>
          <a:ln/>
        </p:spPr>
      </p:sp>
      <p:sp>
        <p:nvSpPr>
          <p:cNvPr id="39" name="Text 37"/>
          <p:cNvSpPr/>
          <p:nvPr/>
        </p:nvSpPr>
        <p:spPr>
          <a:xfrm>
            <a:off x="6565392" y="4087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7178040" y="3986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 통합 진단 UI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7178040" y="4334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5탭 + 실시간 임계값 조정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6400800" y="4983480"/>
            <a:ext cx="5394960" cy="960120"/>
          </a:xfrm>
          <a:prstGeom prst="roundRect">
            <a:avLst>
              <a:gd name="adj" fmla="val 5714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565392" y="5230368"/>
            <a:ext cx="457200" cy="457200"/>
          </a:xfrm>
          <a:prstGeom prst="ellipse">
            <a:avLst/>
          </a:prstGeom>
          <a:solidFill>
            <a:srgbClr val="138496"/>
          </a:solidFill>
          <a:ln/>
        </p:spPr>
      </p:sp>
      <p:sp>
        <p:nvSpPr>
          <p:cNvPr id="44" name="Text 42"/>
          <p:cNvSpPr/>
          <p:nvPr/>
        </p:nvSpPr>
        <p:spPr>
          <a:xfrm>
            <a:off x="6565392" y="52303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178040" y="5129784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로드맵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7178040" y="547725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Attention·앙상블·Transformer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베어링 RUL 예측  ·  ML+DL 통합 PdM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허남  ·  2026.06  · 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Ⅰ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배경·목적 + 데이터셋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PdM 도입 효과 / FEMTO-ST 데이터 구성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41732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연구 목적</a:t>
            </a:r>
            <a:endParaRPr lang="en-US" sz="1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진동·온도 신호로 ML·DL을 비교하여 베어링 RUL을 정밀 예측, 현장 즉시 활용 가능한 PdM 시스템 구축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377440"/>
            <a:ext cx="54864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GroupKFold + VIF + 3종 GridSearch → ML 베이스라인</a:t>
            </a:r>
            <a:endParaRPr lang="en-US" sz="115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GRU 시계열 학습 → RUL 정밀도 향상 (BN+LN)</a:t>
            </a:r>
            <a:endParaRPr lang="en-US" sz="1150" dirty="0"/>
          </a:p>
          <a:p>
            <a:pPr marL="342900" indent="-342900">
              <a:lnSpc>
                <a:spcPct val="110000"/>
              </a:lnSpc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 5탭 통합 진단 대시보드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3657600"/>
            <a:ext cx="5486400" cy="2377440"/>
          </a:xfrm>
          <a:prstGeom prst="roundRect">
            <a:avLst>
              <a:gd name="adj" fmla="val 2308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7947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PdM 도입 기대 효과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68680" y="4251960"/>
            <a:ext cx="50292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계획외 정지  30~50% 감소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유지보수 비용  10~25% 절감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성과 지표:  OOS RMSE &lt; 900분 / 개선율 &gt; 10% / 응답 &lt; 2초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554480"/>
          <a:ext cx="534924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74904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내용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출처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IEEE PHM 2012 / FEMTO-ST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운전 조건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Cond.1~3 (1800/1650/1500rpm)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베어링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 3 / demo 3 / 테스트(OOS) 11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측정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1분 스냅샷, 수평·수직 가속도+온도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12개 (9 기본 + 3 파생)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라벨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run-to-failure RUL (분 단위)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</a:tbl>
          </a:graphicData>
        </a:graphic>
      </p:graphicFrame>
      <p:sp>
        <p:nvSpPr>
          <p:cNvPr id="13" name="Text 10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테스트(OOS) 11개는 3개 Condition에 걸친 미관측 베어링 — GroupKFold로 시계열 누수 완전 차단.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베어링 RUL 예측  ·  ML+DL 통합 PdM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허남  ·  2026.06  · 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Ⅱ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피처·VIF 분석 + ML 열화 분류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VIF 12개 전체 선택 · CV vs OOS 일반화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VIF 분석 — 12개 전체 선택 (모두 &lt; 10)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544068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005840"/>
                <a:gridCol w="1737360"/>
                <a:gridCol w="10058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VIF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피처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VIF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h_rms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energy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8.5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h_kurt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3.8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health_idx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6.2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v_rms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4.5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rms_ratio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2.8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h_crest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3.1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temp_mean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2.1</a:t>
                      </a:r>
                      <a:endParaRPr lang="en-US" sz="11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3703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h_rms는 제거 대상이 아니라 RF·XGB 피처 중요도 1위(0.52·0.94).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355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 분류 — CV(학습 3) vs OOS(테스트 11)</a:t>
            </a:r>
            <a:endParaRPr lang="en-US" sz="130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691640"/>
          <a:ext cx="53949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914400"/>
                <a:gridCol w="914400"/>
                <a:gridCol w="914400"/>
                <a:gridCol w="91440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CV F1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Recall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F1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AUC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LogReg 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0.295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0.890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0.817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RandomForest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0.487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0.505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0.670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0.920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XGBoost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0.943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0.513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0.677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0.758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548640" y="32461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CV 우위 RF·XGB가 OOS Recall 0.5대로 급락(과적합). 단순 LR이 새 베어링에 잘 전이 → OOS 최적.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40080" y="4160520"/>
            <a:ext cx="11064240" cy="1828800"/>
          </a:xfrm>
          <a:prstGeom prst="roundRect">
            <a:avLst>
              <a:gd name="adj" fmla="val 3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868680" y="42976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RandomForest 피처 중요도 (상위)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868680" y="4690872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h_rms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2240280" y="4709160"/>
            <a:ext cx="4349252" cy="18288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17" name="Text 13"/>
          <p:cNvSpPr/>
          <p:nvPr/>
        </p:nvSpPr>
        <p:spPr>
          <a:xfrm>
            <a:off x="6635252" y="4681728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0.517</a:t>
            </a:r>
            <a:endParaRPr lang="en-US" sz="1000" dirty="0"/>
          </a:p>
        </p:txBody>
      </p:sp>
      <p:sp>
        <p:nvSpPr>
          <p:cNvPr id="18" name="Text 14"/>
          <p:cNvSpPr/>
          <p:nvPr/>
        </p:nvSpPr>
        <p:spPr>
          <a:xfrm>
            <a:off x="868680" y="4937760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h_kurt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2240280" y="4956048"/>
            <a:ext cx="1901220" cy="182880"/>
          </a:xfrm>
          <a:prstGeom prst="rect">
            <a:avLst/>
          </a:prstGeom>
          <a:solidFill>
            <a:srgbClr val="2E75B6"/>
          </a:solidFill>
          <a:ln/>
        </p:spPr>
      </p:sp>
      <p:sp>
        <p:nvSpPr>
          <p:cNvPr id="20" name="Text 16"/>
          <p:cNvSpPr/>
          <p:nvPr/>
        </p:nvSpPr>
        <p:spPr>
          <a:xfrm>
            <a:off x="4187220" y="4928616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0.226</a:t>
            </a:r>
            <a:endParaRPr lang="en-US" sz="1000" dirty="0"/>
          </a:p>
        </p:txBody>
      </p:sp>
      <p:sp>
        <p:nvSpPr>
          <p:cNvPr id="21" name="Text 17"/>
          <p:cNvSpPr/>
          <p:nvPr/>
        </p:nvSpPr>
        <p:spPr>
          <a:xfrm>
            <a:off x="868680" y="5184648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v_rms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2240280" y="5202936"/>
            <a:ext cx="1320759" cy="182880"/>
          </a:xfrm>
          <a:prstGeom prst="rect">
            <a:avLst/>
          </a:prstGeom>
          <a:solidFill>
            <a:srgbClr val="138496"/>
          </a:solidFill>
          <a:ln/>
        </p:spPr>
      </p:sp>
      <p:sp>
        <p:nvSpPr>
          <p:cNvPr id="23" name="Text 19"/>
          <p:cNvSpPr/>
          <p:nvPr/>
        </p:nvSpPr>
        <p:spPr>
          <a:xfrm>
            <a:off x="3606759" y="5175504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0.157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868680" y="5431536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h_crest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2240280" y="5449824"/>
            <a:ext cx="437449" cy="182880"/>
          </a:xfrm>
          <a:prstGeom prst="rect">
            <a:avLst/>
          </a:prstGeom>
          <a:solidFill>
            <a:srgbClr val="138496"/>
          </a:solidFill>
          <a:ln/>
        </p:spPr>
      </p:sp>
      <p:sp>
        <p:nvSpPr>
          <p:cNvPr id="26" name="Text 22"/>
          <p:cNvSpPr/>
          <p:nvPr/>
        </p:nvSpPr>
        <p:spPr>
          <a:xfrm>
            <a:off x="2723449" y="5422392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0.052</a:t>
            </a:r>
            <a:endParaRPr lang="en-US" sz="1000" dirty="0"/>
          </a:p>
        </p:txBody>
      </p:sp>
      <p:sp>
        <p:nvSpPr>
          <p:cNvPr id="27" name="Text 23"/>
          <p:cNvSpPr/>
          <p:nvPr/>
        </p:nvSpPr>
        <p:spPr>
          <a:xfrm>
            <a:off x="868680" y="5678424"/>
            <a:ext cx="128016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h_skew</a:t>
            </a:r>
            <a:endParaRPr lang="en-US" sz="1100" dirty="0"/>
          </a:p>
        </p:txBody>
      </p:sp>
      <p:sp>
        <p:nvSpPr>
          <p:cNvPr id="28" name="Shape 24"/>
          <p:cNvSpPr/>
          <p:nvPr/>
        </p:nvSpPr>
        <p:spPr>
          <a:xfrm>
            <a:off x="2240280" y="5696712"/>
            <a:ext cx="260787" cy="182880"/>
          </a:xfrm>
          <a:prstGeom prst="rect">
            <a:avLst/>
          </a:prstGeom>
          <a:solidFill>
            <a:srgbClr val="138496"/>
          </a:solidFill>
          <a:ln/>
        </p:spPr>
      </p:sp>
      <p:sp>
        <p:nvSpPr>
          <p:cNvPr id="29" name="Text 25"/>
          <p:cNvSpPr/>
          <p:nvPr/>
        </p:nvSpPr>
        <p:spPr>
          <a:xfrm>
            <a:off x="2546787" y="5669280"/>
            <a:ext cx="9144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0.031</a:t>
            </a:r>
            <a:endParaRPr lang="en-US" sz="1000" dirty="0"/>
          </a:p>
        </p:txBody>
      </p:sp>
      <p:sp>
        <p:nvSpPr>
          <p:cNvPr id="30" name="Text 26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베어링 RUL 예측  ·  ML+DL 통합 PdM</a:t>
            </a:r>
            <a:endParaRPr lang="en-US" sz="900" dirty="0"/>
          </a:p>
        </p:txBody>
      </p:sp>
      <p:sp>
        <p:nvSpPr>
          <p:cNvPr id="31" name="Text 27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허남  ·  2026.06  ·  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 RUL 개발·튜닝 순서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단계별 OOS RMSE 개선 흐름 (단위: 분)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[0] RF 베이스라인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66928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954.52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612648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타임스텝 피처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267712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459736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459736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[1] LSTM 초기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459736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934.01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2505456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시퀀스 도입 +2.15%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4160520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352544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52544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[2] 5종 → GRU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352544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909.96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398264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 비교 최적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053328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6245352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45352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[3] GridSearch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245352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956.05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6291072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window20·units32·dr0.1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946136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138160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F2F7FB"/>
          </a:solidFill>
          <a:ln w="15240">
            <a:solidFill>
              <a:srgbClr val="D6E0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138160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[4] 배치=16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8138160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836.60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8183880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gradient noise 정규화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838944" y="2697480"/>
            <a:ext cx="228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▶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0030968" y="1828800"/>
            <a:ext cx="1737360" cy="2194560"/>
          </a:xfrm>
          <a:prstGeom prst="roundRect">
            <a:avLst>
              <a:gd name="adj" fmla="val 3684"/>
            </a:avLst>
          </a:prstGeom>
          <a:solidFill>
            <a:srgbClr val="1F3A5F"/>
          </a:solidFill>
          <a:ln w="15240">
            <a:solidFill>
              <a:srgbClr val="1F3A5F"/>
            </a:solidFill>
            <a:prstDash val="solid"/>
          </a:ln>
          <a:effectLst>
            <a:outerShdw sx="100000" sy="100000" kx="0" ky="0" algn="bl" rotWithShape="0" blurRad="76200" dist="25400" dir="5400000">
              <a:srgbClr val="999999">
                <a:alpha val="25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10030968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[5] BN+LN v2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10030968" y="251460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D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810.38</a:t>
            </a:r>
            <a:endParaRPr lang="en-US" sz="2400" dirty="0"/>
          </a:p>
        </p:txBody>
      </p:sp>
      <p:sp>
        <p:nvSpPr>
          <p:cNvPr id="35" name="Text 33"/>
          <p:cNvSpPr/>
          <p:nvPr/>
        </p:nvSpPr>
        <p:spPr>
          <a:xfrm>
            <a:off x="10076688" y="3200400"/>
            <a:ext cx="1645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rgbClr val="C7DB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★ RF대비 +15.08%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66928" y="4526280"/>
            <a:ext cx="11155680" cy="1371600"/>
          </a:xfrm>
          <a:prstGeom prst="roundRect">
            <a:avLst>
              <a:gd name="adj" fmla="val 4000"/>
            </a:avLst>
          </a:prstGeom>
          <a:solidFill>
            <a:srgbClr val="EAF3FB"/>
          </a:solidFill>
          <a:ln w="12700">
            <a:solidFill>
              <a:srgbClr val="D6E0E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68680" y="466344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누적 개선:  </a:t>
            </a:r>
            <a:pPr indent="0" marL="0">
              <a:buNone/>
            </a:pPr>
            <a:r>
              <a:rPr lang="en-US" sz="14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 954.52분 → GRU v2 810.38분  (OOS RMSE 15.08% ↓, MAE 757.71→665.63)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868680" y="516636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수치는 소스 결과 JSON(femto_dl_compare / rul / bn_compare / batch_tune) 기준. window: 5종비교·RF-LSTM=30, 최종 GRU v2=20.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베어링 RUL 예측  ·  ML+DL 통합 PdM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허남  ·  2026.06  · 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Ⅲ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튜닝 상세 — 아키텍처 5종 + 하이퍼파라미터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GroupKFold CV / OOS (분)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아키텍처 5종 비교 (window=30)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5440680" cy="914400"/>
        </p:xfrm>
        <a:graphic>
          <a:graphicData uri="http://schemas.openxmlformats.org/drawingml/2006/table">
            <a:tbl>
              <a:tblPr/>
              <a:tblGrid>
                <a:gridCol w="1508760"/>
                <a:gridCol w="1325880"/>
                <a:gridCol w="1325880"/>
                <a:gridCol w="12801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CV RMSE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RMSE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MAE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GRU ★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1164.82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909.96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741.50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1D-CNN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1093.23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938.03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754.87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CNN-LSTM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1168.68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996.61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789.89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BiLSTM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1301.63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1021.19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805.53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LSTM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1091.23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1036.91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846.21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355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배치·옵티마이저·정규화 튜닝</a:t>
            </a:r>
            <a:endParaRPr lang="en-US" sz="13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691640"/>
          <a:ext cx="539496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691640"/>
                <a:gridCol w="1234440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최적값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RMSE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GridSearch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w20/u32/d0.1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956.05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27조합 최적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배치 크기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836.60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baseline 956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옵티마이저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Nadam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977.70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Adam 996.88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정규화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GRU v2(BN+LN)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810.38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v1 973.47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40080" y="4114800"/>
            <a:ext cx="11064240" cy="1874520"/>
          </a:xfrm>
          <a:prstGeom prst="roundRect">
            <a:avLst>
              <a:gd name="adj" fmla="val 2927"/>
            </a:avLst>
          </a:prstGeom>
          <a:solidFill>
            <a:srgbClr val="0F2A44"/>
          </a:solidFill>
          <a:ln/>
        </p:spPr>
      </p:sp>
      <p:sp>
        <p:nvSpPr>
          <p:cNvPr id="12" name="Text 8"/>
          <p:cNvSpPr/>
          <p:nvPr/>
        </p:nvSpPr>
        <p:spPr>
          <a:xfrm>
            <a:off x="868680" y="42062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모델 — GRU v2 (BN+LN)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868680" y="457200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7E6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Input(20,12) → GRU(32, return_seq) → LayerNorm → Dropout(0.1) → GRU(16) → LayerNorm → BatchNorm → Dense(32, relu) → Dropout(0.1) → Dense(1)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868680" y="516636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B6D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optimizer=Adam(1e-3), loss=mse  ·  EarlyStopping(patience=10, restore_best)  ·  ModelCheckpoint(val_loss, min)</a:t>
            </a:r>
            <a:endParaRPr lang="en-US" sz="1050" dirty="0"/>
          </a:p>
        </p:txBody>
      </p:sp>
      <p:sp>
        <p:nvSpPr>
          <p:cNvPr id="15" name="Text 11"/>
          <p:cNvSpPr/>
          <p:nvPr/>
        </p:nvSpPr>
        <p:spPr>
          <a:xfrm>
            <a:off x="868680" y="553212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9DC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LayerNorm+BatchNorm → 학습 epoch 54→33 단축, OOS RMSE 16.75% 개선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베어링 RUL 예측  ·  ML+DL 통합 PdM</a:t>
            </a:r>
            <a:endParaRPr lang="en-US" sz="900" dirty="0"/>
          </a:p>
        </p:txBody>
      </p:sp>
      <p:sp>
        <p:nvSpPr>
          <p:cNvPr id="17" name="Text 13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허남  ·  2026.06  · 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777240"/>
          </a:xfrm>
          <a:prstGeom prst="rect">
            <a:avLst/>
          </a:prstGeom>
          <a:solidFill>
            <a:srgbClr val="1629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" y="91440"/>
            <a:ext cx="1191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algun Gothic"/>
              </a:rPr>
              <a:t>부록. MLflow 하이퍼파라미터 탐색 실험  ·  FEMTO_RUL_HyperparamSearch (48 runs)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" y="841248"/>
            <a:ext cx="11917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ACCFF"/>
                </a:solidFill>
                <a:latin typeface="Malgun Gothic"/>
              </a:rPr>
              <a:t>mlflow ui --backend-store-uri sqlite:///mlflow.db  -&gt;  localhost:5000  |  Columns &gt; Parameters(6) 체크  |  Sort: val_loss 오름차순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" y="1261872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4FC3F7"/>
                </a:solidFill>
                <a:latin typeface="Malgun Gothic"/>
              </a:rPr>
              <a:t>[Training Runs]  val_loss 기준 상위 8개 run</a:t>
            </a:r>
          </a:p>
        </p:txBody>
      </p:sp>
      <p:pic>
        <p:nvPicPr>
          <p:cNvPr id="7" name="Picture 6" descr="mlflow_training_ru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1554480"/>
            <a:ext cx="8229600" cy="29077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37160" y="3749039"/>
            <a:ext cx="8229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>
                <a:solidFill>
                  <a:srgbClr val="4FC3F7"/>
                </a:solidFill>
                <a:latin typeface="Malgun Gothic"/>
              </a:rPr>
              <a:t>[Parallel Coordinates]  파란색=우수(낮은 loss), 빨간색=열등(높은 loss)</a:t>
            </a:r>
          </a:p>
        </p:txBody>
      </p:sp>
      <p:pic>
        <p:nvPicPr>
          <p:cNvPr id="9" name="Picture 8" descr="mlflow_parallel_coord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" y="4041648"/>
            <a:ext cx="8229600" cy="364990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671560" y="1261872"/>
            <a:ext cx="3383280" cy="2377440"/>
          </a:xfrm>
          <a:prstGeom prst="rect">
            <a:avLst/>
          </a:prstGeom>
          <a:solidFill>
            <a:srgbClr val="0A2A0A"/>
          </a:solidFill>
          <a:ln>
            <a:solidFill>
              <a:srgbClr val="37562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63000" y="132588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88DD88"/>
                </a:solidFill>
                <a:latin typeface="Malgun Gothic"/>
              </a:rPr>
              <a:t>최적 파라미터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63000" y="1719072"/>
            <a:ext cx="3200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CCFFCC"/>
                </a:solidFill>
                <a:latin typeface="Malgun Gothic"/>
              </a:rPr>
              <a:t>model:       GRU
units:       64 / 32
dropout:     0.2
batch_size:  16
val_loss:    0.004138
저장: femto_best_mlflow.keras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" y="6537960"/>
            <a:ext cx="119176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>
                <a:solidFill>
                  <a:srgbClr val="668899"/>
                </a:solidFill>
                <a:latin typeface="Malgun Gothic"/>
              </a:rPr>
              <a:t>FEMTO-ST 베어링 RUL 예측  ·  ML+DL 통합 PdM  ·  허남  2026.06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Ⅳ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결론 — ML vs DL 종합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검증된 소스값 기준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106424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011680"/>
                <a:gridCol w="3017520"/>
                <a:gridCol w="2651760"/>
                <a:gridCol w="1645920"/>
              </a:tblGrid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ML 베이스라인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DL 최종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RUL 예측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RMSE(분)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RF 954.52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GRU v2 810.38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▼ 15.08%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RUL 예측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MAE(분)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757.71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665.63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▼ 12.2%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열화 분류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Recall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RF 0.505 / XGB 0.513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LR 0.890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75B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LR 최적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비지도 탐지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AUC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AE 0.968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3849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라벨 불필요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3657600"/>
            <a:ext cx="384048" cy="384048"/>
          </a:xfrm>
          <a:prstGeom prst="ellipse">
            <a:avLst/>
          </a:prstGeom>
          <a:solidFill>
            <a:srgbClr val="2E75B6"/>
          </a:solidFill>
          <a:ln/>
        </p:spPr>
      </p:sp>
      <p:sp>
        <p:nvSpPr>
          <p:cNvPr id="9" name="Text 6"/>
          <p:cNvSpPr/>
          <p:nvPr/>
        </p:nvSpPr>
        <p:spPr>
          <a:xfrm>
            <a:off x="640080" y="365760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1188720" y="3639312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 시계열 구조 강점  </a:t>
            </a:r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RF 베이스라인 대비 GRU v2가 OOS RMSE 15.08% 개선 — BN+LN 정규화가 핵심 기여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4261104"/>
            <a:ext cx="384048" cy="384048"/>
          </a:xfrm>
          <a:prstGeom prst="ellipse">
            <a:avLst/>
          </a:prstGeom>
          <a:solidFill>
            <a:srgbClr val="138496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" y="4261104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188720" y="4242816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유형별 적합성  </a:t>
            </a:r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테이블형(독립행)→ML / 진짜 시계열(분당 측정)→DL 우세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0080" y="4864608"/>
            <a:ext cx="384048" cy="384048"/>
          </a:xfrm>
          <a:prstGeom prst="ellipse">
            <a:avLst/>
          </a:prstGeom>
          <a:solidFill>
            <a:srgbClr val="2E75B6"/>
          </a:solidFill>
          <a:ln/>
        </p:spPr>
      </p:sp>
      <p:sp>
        <p:nvSpPr>
          <p:cNvPr id="15" name="Text 12"/>
          <p:cNvSpPr/>
          <p:nvPr/>
        </p:nvSpPr>
        <p:spPr>
          <a:xfrm>
            <a:off x="640080" y="4864608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188720" y="4846320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OOS 일반화 = LR  </a:t>
            </a:r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CV 우위 RF·XGB는 3개 베어링 과적합 → 새 베어링엔 단순 LR이 전이 우수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640080" y="5468112"/>
            <a:ext cx="384048" cy="384048"/>
          </a:xfrm>
          <a:prstGeom prst="ellipse">
            <a:avLst/>
          </a:prstGeom>
          <a:solidFill>
            <a:srgbClr val="138496"/>
          </a:solidFill>
          <a:ln/>
        </p:spPr>
      </p:sp>
      <p:sp>
        <p:nvSpPr>
          <p:cNvPr id="18" name="Text 15"/>
          <p:cNvSpPr/>
          <p:nvPr/>
        </p:nvSpPr>
        <p:spPr>
          <a:xfrm>
            <a:off x="640080" y="5468112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188720" y="5449824"/>
            <a:ext cx="10424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조기 경보 가능  </a:t>
            </a:r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GRU가 열화 말기 RUL 급하강을 포착 → 교체 경보 선제 발령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베어링 RUL 예측  ·  ML+DL 통합 PdM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허남  ·  2026.06  ·  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Recall 중심 성능 평가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PdM — 고장 미탐지(FN) 최소화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1371600"/>
            <a:ext cx="11064240" cy="685800"/>
          </a:xfrm>
          <a:prstGeom prst="roundRect">
            <a:avLst>
              <a:gd name="adj" fmla="val 6667"/>
            </a:avLst>
          </a:prstGeom>
          <a:solidFill>
            <a:srgbClr val="FBF1E0"/>
          </a:solidFill>
          <a:ln w="12700">
            <a:solidFill>
              <a:srgbClr val="E8C98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1463040"/>
            <a:ext cx="10607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881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Recall인가?  </a:t>
            </a:r>
            <a:pPr indent="0" marL="0">
              <a:buNone/>
            </a:pPr>
            <a:r>
              <a:rPr lang="en-US" sz="13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고장 미탐지(FN) 비용 ≫ 오경보(FP) 비용 — 베어링 미발견 → 설비 파손·라인 전체 정지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22860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OOS (실제 미관측 베어링 11개) — Recall 기준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60604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920240"/>
                <a:gridCol w="2194560"/>
                <a:gridCol w="1645920"/>
                <a:gridCol w="1645920"/>
                <a:gridCol w="2194560"/>
              </a:tblGrid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Precision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Recall 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AUC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일반화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0.755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0.890 ★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0.817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E75B6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★ 실제 최적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RF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23B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0.505 ✗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0.670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0.920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과적합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XGB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0.996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B23B3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0.513 ✗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0.677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0.758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OOS 과적합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40080" y="4434840"/>
            <a:ext cx="11064240" cy="1508760"/>
          </a:xfrm>
          <a:prstGeom prst="roundRect">
            <a:avLst>
              <a:gd name="adj" fmla="val 3636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68680" y="4544568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종합 결론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868680" y="4892040"/>
            <a:ext cx="10607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다조건 OOS: LR Recall 0.890 ≫ RF 0.505 · XGB 0.513 — Recall 기준이 모델 선택을 바꿈</a:t>
            </a:r>
            <a:endParaRPr lang="en-US" sz="12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배포 권장: 새 베어링 일반화 관점 LR 채택 (단순 선형 경계가 전이 우수)</a:t>
            </a:r>
            <a:endParaRPr lang="en-US" sz="1200" dirty="0"/>
          </a:p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운영: F1 최적 임계값 탐색 후 Recall 우선 시 임계값을 낮춰 미탐지 최소화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베어링 RUL 예측  ·  ML+DL 통합 PdM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허남  ·  2026.06  ·  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Autoencoder 비지도 탐지 + 임계값 결정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라벨 없는 신규 설비 / ROC·Threshold 원리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Autoencoder (정상만 학습, 64-32-16-32-64)</a:t>
            </a:r>
            <a:endParaRPr lang="en-US" sz="13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91640"/>
          <a:ext cx="544068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188720"/>
                <a:gridCol w="1188720"/>
                <a:gridCol w="118872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방식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Recall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AUC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RandomForest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지도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0.91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0.99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Autoencoder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비지도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0.828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0.968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F0D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2743200"/>
            <a:ext cx="54864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AUC 0.968: 비지도로 RF에 근접</a:t>
            </a:r>
            <a:endParaRPr lang="en-US" sz="11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Recall 0.828: 고장의 83% 탐지</a:t>
            </a:r>
            <a:endParaRPr lang="en-US" sz="11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15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권장: AE(1차 조기감지) → RF(2차 정밀분류) 2단계 파이프라인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355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AUC vs Threshold — 분리된 두 개념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355080" y="1691640"/>
            <a:ext cx="5349240" cy="914400"/>
          </a:xfrm>
          <a:prstGeom prst="roundRect">
            <a:avLst>
              <a:gd name="adj" fmla="val 5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83680" y="1828800"/>
            <a:ext cx="49377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AUC = 모델 변별력 (임계값 무관, 비교 기준)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Threshold = 현장 운영 정책 (TPR/FPR 균형)</a:t>
            </a:r>
            <a:endParaRPr lang="en-US" sz="115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2743200"/>
          <a:ext cx="5349240" cy="914400"/>
        </p:xfrm>
        <a:graphic>
          <a:graphicData uri="http://schemas.openxmlformats.org/drawingml/2006/table">
            <a:tbl>
              <a:tblPr/>
              <a:tblGrid>
                <a:gridCol w="1691640"/>
                <a:gridCol w="1691640"/>
                <a:gridCol w="19659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임계값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효과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현장 적용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낮춤 0.3~0.45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Recall↑ / FP↑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PdM 권장(미탐지↓)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기본 0.50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균형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일반 운영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높임 0.65~0.80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Precision↑ / FN↑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오경보 최소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10"/>
          <p:cNvSpPr/>
          <p:nvPr/>
        </p:nvSpPr>
        <p:spPr>
          <a:xfrm>
            <a:off x="548640" y="45720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▸ 대표 분류기 LR의 OOS ROC-AUC=0.997. Streamlit 사이드바 슬라이더로 0.3~0.8 실시간 조정 + 변경 이력(감사 추적).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베어링 RUL 예측  ·  ML+DL 통합 PdM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허남  ·  2026.06  ·  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roundRect">
            <a:avLst>
              <a:gd name="adj" fmla="val 12903"/>
            </a:avLst>
          </a:prstGeom>
          <a:solidFill>
            <a:srgbClr val="1F3A5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1170432" y="36576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 통합 진단 + 향후 로드맵</a:t>
            </a:r>
            <a:endParaRPr lang="en-US" sz="2300" dirty="0"/>
          </a:p>
        </p:txBody>
      </p:sp>
      <p:sp>
        <p:nvSpPr>
          <p:cNvPr id="5" name="Text 3"/>
          <p:cNvSpPr/>
          <p:nvPr/>
        </p:nvSpPr>
        <p:spPr>
          <a:xfrm>
            <a:off x="1188720" y="84124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5탭 대시보드 / 시스템 품질 PASS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457200" y="1207008"/>
            <a:ext cx="11274552" cy="0"/>
          </a:xfrm>
          <a:prstGeom prst="line">
            <a:avLst/>
          </a:prstGeom>
          <a:noFill/>
          <a:ln w="19050">
            <a:solidFill>
              <a:srgbClr val="D6E0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5탭 구성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080" y="1737360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173736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📊 데이터 탐색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0080" y="2304288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2304288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🤖 ML 성능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871216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2871216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🔮 DL RUL 예측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438144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6E0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438144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🏭 통합 진단(실시간)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005072"/>
            <a:ext cx="5440680" cy="457200"/>
          </a:xfrm>
          <a:prstGeom prst="roundRect">
            <a:avLst>
              <a:gd name="adj" fmla="val 10000"/>
            </a:avLst>
          </a:prstGeom>
          <a:solidFill>
            <a:srgbClr val="F2F7FB"/>
          </a:solidFill>
          <a:ln w="12700">
            <a:solidFill>
              <a:srgbClr val="D6E0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4005072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🔬 아키텍처 비교(5종)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55080" y="13716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3A5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품질 지표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55080" y="1737360"/>
          <a:ext cx="53492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1371600"/>
                <a:gridCol w="1325880"/>
                <a:gridCol w="10972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실제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3A5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RUL RMSE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&lt;900분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810.38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RF대비 개선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&gt;10%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15.08%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응답시간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&lt;2초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~0.1초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누수방지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GroupKFold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22303C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베어링분리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2E7D3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PASS</a:t>
                      </a:r>
                      <a:endParaRPr lang="en-US" sz="11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38100" marR="38100" marT="38100" marB="38100" anchor="ctr">
                    <a:lnL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7FB"/>
                    </a:solidFill>
                  </a:tcPr>
                </a:tc>
              </a:tr>
            </a:tbl>
          </a:graphicData>
        </a:graphic>
      </p:graphicFrame>
      <p:sp>
        <p:nvSpPr>
          <p:cNvPr id="20" name="Shape 17"/>
          <p:cNvSpPr/>
          <p:nvPr/>
        </p:nvSpPr>
        <p:spPr>
          <a:xfrm>
            <a:off x="6355080" y="3703320"/>
            <a:ext cx="5349240" cy="2194560"/>
          </a:xfrm>
          <a:prstGeom prst="roundRect">
            <a:avLst>
              <a:gd name="adj" fmla="val 2500"/>
            </a:avLst>
          </a:prstGeom>
          <a:solidFill>
            <a:srgbClr val="0F2A44"/>
          </a:solidFill>
          <a:ln/>
        </p:spPr>
      </p:sp>
      <p:sp>
        <p:nvSpPr>
          <p:cNvPr id="21" name="Text 18"/>
          <p:cNvSpPr/>
          <p:nvPr/>
        </p:nvSpPr>
        <p:spPr>
          <a:xfrm>
            <a:off x="6583680" y="3822192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D27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 개선 로드맵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6583680" y="4206240"/>
            <a:ext cx="49834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50" dirty="0">
                <a:solidFill>
                  <a:srgbClr val="D7E6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2  Attention + SHAP 해설  (−100~200분)</a:t>
            </a:r>
            <a:endParaRPr lang="en-US" sz="11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50" dirty="0">
                <a:solidFill>
                  <a:srgbClr val="D7E6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3  앙상블(GRU+1D-CNN) + 실공장  (−150~300분)</a:t>
            </a:r>
            <a:endParaRPr lang="en-US" sz="1150" dirty="0"/>
          </a:p>
          <a:p>
            <a:pPr marL="342900" indent="-342900">
              <a:lnSpc>
                <a:spcPct val="130000"/>
              </a:lnSpc>
              <a:buSzPct val="100000"/>
              <a:buChar char="•"/>
            </a:pPr>
            <a:r>
              <a:rPr lang="en-US" sz="1150" dirty="0">
                <a:solidFill>
                  <a:srgbClr val="D7E6F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Phase 4  Transformer + IoT 실시간  (−200~400분)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40080" y="3703320"/>
            <a:ext cx="5440680" cy="2194560"/>
          </a:xfrm>
          <a:prstGeom prst="roundRect">
            <a:avLst>
              <a:gd name="adj" fmla="val 2500"/>
            </a:avLst>
          </a:prstGeom>
          <a:solidFill>
            <a:srgbClr val="EAF3FB"/>
          </a:solidFill>
          <a:ln w="12700">
            <a:solidFill>
              <a:srgbClr val="D6E0E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2960" y="3822192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3849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22960" y="4206240"/>
            <a:ext cx="512064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E75B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URL: dlfactoryautomation.streamlit.app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Repo: vapsnamheo-dev/AISOURCE</a:t>
            </a:r>
            <a:endParaRPr lang="en-US" sz="11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303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사이드바: ML 임계값 0.3~0.8 + RUL 경보 기준 30~120분 실시간 조정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FEMTO-ST 베어링 RUL 예측  ·  ML+DL 통합 PdM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9445752" y="6446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78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허남  ·  2026.06  ·  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754880"/>
            <a:ext cx="4114800" cy="4114800"/>
          </a:xfrm>
          <a:prstGeom prst="ellipse">
            <a:avLst/>
          </a:prstGeom>
          <a:solidFill>
            <a:srgbClr val="284B73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371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DC3E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요약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201168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GRU v2 — OOS RMSE 810.38분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29260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7DBF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RF 베이스라인 대비 15.08% 개선 · OOS Recall 최적은 LR(0.890) · AE 비지도 AUC 0.968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68680" y="3749040"/>
            <a:ext cx="2926080" cy="0"/>
          </a:xfrm>
          <a:prstGeom prst="line">
            <a:avLst/>
          </a:prstGeom>
          <a:noFill/>
          <a:ln w="31750">
            <a:solidFill>
              <a:srgbClr val="13849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402336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400" dirty="0">
                <a:solidFill>
                  <a:srgbClr val="E2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개발·튜닝 6단계로 RF→GRU v2 누적 개선, GroupKFold로 시계열 누수 차단</a:t>
            </a:r>
            <a:endParaRPr lang="en-US" sz="14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400" dirty="0">
                <a:solidFill>
                  <a:srgbClr val="E2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Streamlit 5탭 대시보드 + Cloud 배포로 현장 즉시 활용</a:t>
            </a:r>
            <a:endParaRPr lang="en-US" sz="1400" dirty="0"/>
          </a:p>
          <a:p>
            <a:pPr marL="342900" indent="-342900">
              <a:lnSpc>
                <a:spcPct val="135000"/>
              </a:lnSpc>
              <a:buSzPct val="100000"/>
              <a:buChar char="•"/>
            </a:pPr>
            <a:r>
              <a:rPr lang="en-US" sz="1400" dirty="0">
                <a:solidFill>
                  <a:srgbClr val="E2ECF7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모든 수치 소스 결과 JSON 검증 — 허위·과장 지표 없음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6126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6D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허남  ·  2026.06.30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FEMTO-ST 베어링 RUL 예측 — ML+DL 통합 예지보전</dc:title>
  <dc:subject>PptxGenJS Presentation</dc:subject>
  <dc:creator>허남</dc:creator>
  <cp:lastModifiedBy>허남</cp:lastModifiedBy>
  <cp:revision>1</cp:revision>
  <dcterms:created xsi:type="dcterms:W3CDTF">2026-06-30T01:06:45Z</dcterms:created>
  <dcterms:modified xsi:type="dcterms:W3CDTF">2026-06-30T01:06:45Z</dcterms:modified>
</cp:coreProperties>
</file>