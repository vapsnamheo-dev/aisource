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9" r:id="rId20"/>
    <p:sldId id="258" r:id="rId4"/>
    <p:sldId id="259" r:id="rId5"/>
    <p:sldId id="260" r:id="rId6"/>
    <p:sldId id="261" r:id="rId7"/>
    <p:sldId id="267" r:id="rId18"/>
    <p:sldId id="262" r:id="rId8"/>
    <p:sldId id="263" r:id="rId9"/>
    <p:sldId id="264" r:id="rId10"/>
    <p:sldId id="265" r:id="rId11"/>
    <p:sldId id="266" r:id="rId12"/>
    <p:sldId id="268" r:id="rId19"/>
    <p:sldId id="270" r:id="rId21"/>
    <p:sldId id="271" r:id="rId22"/>
    <p:sldId id="272" r:id="rId23"/>
    <p:sldId id="273" r:id="rId24"/>
    <p:sldId id="274" r:id="rId25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9.xml"/><Relationship Id="rId9" Type="http://schemas.openxmlformats.org/officeDocument/2006/relationships/slide" Target="slides/slide10.xml"/><Relationship Id="rId10" Type="http://schemas.openxmlformats.org/officeDocument/2006/relationships/slide" Target="slides/slide11.xml"/><Relationship Id="rId11" Type="http://schemas.openxmlformats.org/officeDocument/2006/relationships/slide" Target="slides/slide12.xml"/><Relationship Id="rId12" Type="http://schemas.openxmlformats.org/officeDocument/2006/relationships/slide" Target="slides/slide13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8.xml"/><Relationship Id="rId19" Type="http://schemas.openxmlformats.org/officeDocument/2006/relationships/slide" Target="slides/slide14.xml"/><Relationship Id="rId20" Type="http://schemas.openxmlformats.org/officeDocument/2006/relationships/slide" Target="slides/slide3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463040"/>
            <a:ext cx="4206240" cy="4206240"/>
          </a:xfrm>
          <a:prstGeom prst="ellipse">
            <a:avLst/>
          </a:prstGeom>
          <a:solidFill>
            <a:srgbClr val="284B7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4297680"/>
            <a:ext cx="3108960" cy="3108960"/>
          </a:xfrm>
          <a:prstGeom prst="ellipse">
            <a:avLst/>
          </a:prstGeom>
          <a:solidFill>
            <a:srgbClr val="2A4A6E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22960" y="1554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 b="1">
                <a:solidFill>
                  <a:srgbClr val="9DC3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딥러닝 프로젝트  ·  AI 개발 수행내역서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베어링 잔여수명(RUL) 예측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22960" y="30632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 b="1">
                <a:solidFill>
                  <a:srgbClr val="C7DB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ML+DL 통합 예지보전(PdM) 시스템 — 개발·튜닝 통합본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68680" y="3886200"/>
            <a:ext cx="2926080" cy="0"/>
          </a:xfrm>
          <a:prstGeom prst="line">
            <a:avLst/>
          </a:prstGeom>
          <a:noFill/>
          <a:ln w="31750">
            <a:solidFill>
              <a:srgbClr val="138496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68680" y="411480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800" dirty="0" b="1">
                <a:solidFill>
                  <a:srgbClr val="E2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담당자: 허남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E2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작성일: 2026.06.30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DB6D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데이터셋: FEMTO-ST PRONOSTIA (IEEE PHM 2012)</a:t>
            </a:r>
            <a:endParaRPr lang="en-US" sz="1400" dirty="0"/>
          </a:p>
        </p:txBody>
      </p:sp>
      <p:sp>
        <p:nvSpPr>
          <p:cNvPr id="9" name="TextBox 8"/>
          <p:cNvSpPr txBox="1"/>
          <p:nvPr/>
        </p:nvSpPr>
        <p:spPr>
          <a:xfrm>
            <a:off x="11292000" y="6534000"/>
            <a:ext cx="72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800" b="1">
                <a:solidFill>
                  <a:srgbClr val="808080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 b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→ 튜닝 → 결론 순서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1554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804672" y="1801368"/>
            <a:ext cx="457200" cy="457200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04672" y="1801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Ⅰ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1700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배경·목적 + 데이터셋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417320" y="2048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 b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3 Condition / 12 피처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" y="2697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04672" y="2944368"/>
            <a:ext cx="457200" cy="457200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04672" y="2944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Ⅱ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417320" y="2843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피처·VIF + ML 분류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3191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 b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VIF 12개 전체 선택 / LR·RF·XGB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840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04672" y="4087368"/>
            <a:ext cx="457200" cy="457200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804672" y="4087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Ⅲ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417320" y="3986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 RUL 개발·튜닝 순서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417320" y="4334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 b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RF→LSTM→5종→GridSearch→BN+LN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40080" y="4983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804672" y="5230368"/>
            <a:ext cx="457200" cy="457200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804672" y="5230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Ⅳ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417320" y="5129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결론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417320" y="5477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 b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vs DL 종합 (GRU v2 +15.08%)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0" y="1554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6565392" y="1801368"/>
            <a:ext cx="457200" cy="457200"/>
          </a:xfrm>
          <a:prstGeom prst="ellipse">
            <a:avLst/>
          </a:prstGeom>
          <a:solidFill>
            <a:srgbClr val="138496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6565392" y="1801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178040" y="1700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Recall 중심 평가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178040" y="2048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 b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PdM 미탐지 최소화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0" y="2697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6565392" y="2944368"/>
            <a:ext cx="457200" cy="457200"/>
          </a:xfrm>
          <a:prstGeom prst="ellipse">
            <a:avLst/>
          </a:prstGeom>
          <a:solidFill>
            <a:srgbClr val="138496"/>
          </a:solidFill>
          <a:ln/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6565392" y="2944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178040" y="2843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Autoencoder · 임계값 원리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78040" y="3191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 b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비지도 AUC 0.968 / ROC·Threshold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400800" y="3840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6565392" y="4087368"/>
            <a:ext cx="457200" cy="457200"/>
          </a:xfrm>
          <a:prstGeom prst="ellipse">
            <a:avLst/>
          </a:prstGeom>
          <a:solidFill>
            <a:srgbClr val="138496"/>
          </a:solidFill>
          <a:ln/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6565392" y="4087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78040" y="3986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 통합 진단 UI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7178040" y="4334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 b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5탭 + 실시간 임계값 조정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400800" y="4983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43" name="Shape 41"/>
          <p:cNvSpPr/>
          <p:nvPr/>
        </p:nvSpPr>
        <p:spPr>
          <a:xfrm>
            <a:off x="6565392" y="5230368"/>
            <a:ext cx="457200" cy="457200"/>
          </a:xfrm>
          <a:prstGeom prst="ellipse">
            <a:avLst/>
          </a:prstGeom>
          <a:solidFill>
            <a:srgbClr val="138496"/>
          </a:solidFill>
          <a:ln/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6565392" y="5230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7178040" y="5129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로드맵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7178040" y="5477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 b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Attention·앙상블·Transformer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 b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베어링 RUL 예측  ·  ML+DL 통합 PdM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dirty="0" b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허남  ·  2026.06  ·  2</a:t>
            </a:r>
            <a:endParaRPr lang="en-US" sz="900" dirty="0"/>
          </a:p>
        </p:txBody>
      </p:sp>
      <p:sp>
        <p:nvSpPr>
          <p:cNvPr id="49" name="TextBox 48"/>
          <p:cNvSpPr txBox="1"/>
          <p:nvPr/>
        </p:nvSpPr>
        <p:spPr>
          <a:xfrm>
            <a:off x="11292000" y="6534000"/>
            <a:ext cx="72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800" b="1">
                <a:solidFill>
                  <a:srgbClr val="808080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497D"/>
                </a:solidFill>
              </a:defRPr>
            </a:pPr>
            <a:r>
              <a:rPr sz="2800" b="1"/>
              <a:t>Q1. 실제 현장에서 무엇을 더 많이 쓰나?  ─  데이터 유형 비교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868680"/>
          <a:ext cx="84124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880360"/>
                <a:gridCol w="288036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/>
                        <a:t>비교 항목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/>
                        <a:t>진동 시계열 (현재 방식)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/>
                        <a:t>실제 베어링 사진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현장 적용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✅ 업계 표준 (ISO 10816/20816)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🔶 분해 후 사후검사 위주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비용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✅ 저렴 (가속도계 수천 원)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🔶 고가 카메라·조명 인프라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실시간 모니터링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✅ 기계 가동 중 연속 측정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❌ 가동 중 촬영 불가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비침습성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✅ 외부 부착만으로 가능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❌ 분해 필요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FEMTO-ST 데이터셋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✅ 이 방식 그 자체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❌ 미포함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4023360"/>
            <a:ext cx="8412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F497D"/>
                </a:solidFill>
              </a:defRPr>
            </a:pPr>
            <a:r>
              <a:rPr sz="2800" b="1"/>
              <a:t>▶ 결론: 진동 RMS → matplotlib → CNN → Grad-CAM 방식이 실무 표준에 가장 가까움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526280"/>
            <a:ext cx="8412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06060"/>
                </a:solidFill>
              </a:defRPr>
            </a:pPr>
            <a:r>
              <a:rPr sz="2800" b="1"/>
              <a:t>실제 베어링 사진 도입 시 → EfficientNetB0 (전이학습)  |  ResNet50 / VGG16 대안 가능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000" y="6534000"/>
            <a:ext cx="72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800" b="1">
                <a:solidFill>
                  <a:srgbClr val="808080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Ⅰ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배경·목적 + 데이터셋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 b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PdM 도입 효과 / FEMTO-ST 데이터 구성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목적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진동·온도 신호로 ML·DL을 비교하여 베어링 RUL을 정밀 예측, 현장 즉시 활용 가능한 PdM 시스템 구축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377440"/>
            <a:ext cx="5486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2800" dirty="0" b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GroupKFold + VIF + 3종 GridSearch → ML 베이스라인</a:t>
            </a:r>
            <a:endParaRPr lang="en-US" sz="115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15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GRU 시계열 학습 → RUL 정밀도 향상 (BN+LN)</a:t>
            </a:r>
            <a:endParaRPr lang="en-US" sz="115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15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 6탭 통합 진단 대시보드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3657600"/>
            <a:ext cx="5486400" cy="2377440"/>
          </a:xfrm>
          <a:prstGeom prst="roundRect">
            <a:avLst>
              <a:gd name="adj" fmla="val 2308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7947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PdM 도입 기대 효과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68680" y="4251960"/>
            <a:ext cx="50292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2800" dirty="0" b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계획외 정지  30~50% 감소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유지보수 비용  10~25% 절감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 지표:  OOS RMSE &lt; 900분 / 개선율 &gt; 10% / 응답 &lt; 2초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554480"/>
          <a:ext cx="534924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7490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IEEE PHM 2012 / FEMTO-ST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운전 조건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Cond.1~3 (1800/1650/1500rpm)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베어링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 3 / demo 3 / 테스트(OOS) 11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측정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1분 스냅샷, 수평·수직 가속도+온도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피처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12개 (9 기본 + 3 파생)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run-to-failure RUL (분 단위)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i="1" dirty="0" b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테스트(OOS) 11개는 3개 Condition에 걸친 미관측 베어링 — GroupKFold로 시계열 누수 완전 차단.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 b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베어링 RUL 예측  ·  ML+DL 통합 PdM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dirty="0" b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허남  ·  2026.06  ·  3</a:t>
            </a:r>
            <a:endParaRPr lang="en-US" sz="900" dirty="0"/>
          </a:p>
        </p:txBody>
      </p:sp>
      <p:sp>
        <p:nvSpPr>
          <p:cNvPr id="16" name="TextBox 15"/>
          <p:cNvSpPr txBox="1"/>
          <p:nvPr/>
        </p:nvSpPr>
        <p:spPr>
          <a:xfrm>
            <a:off x="11292000" y="6534000"/>
            <a:ext cx="72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800" b="1">
                <a:solidFill>
                  <a:srgbClr val="808080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Ⅱ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피처·VIF 분석 + ML 열화 분류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 b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VIF 12개 전체 선택 · CV vs OOS 일반화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VIF 분석 — 12개 전체 선택 (모두 &lt; 10)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54406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005840"/>
                <a:gridCol w="1737360"/>
                <a:gridCol w="10058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피처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VIF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피처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VIF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h_rms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4.2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energy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8.5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h_kurt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3.8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health_idx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6.2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v_rms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4.5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rms_ratio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2.8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h_crest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3.1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temp_mean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2.1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48640" y="3703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i="1" dirty="0" b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h_rms는 제거 대상이 아니라 RF·XGB 피처 중요도 1위(0.52·0.94).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355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분류 — CV(학습 3) vs OOS(테스트 11)</a:t>
            </a:r>
            <a:endParaRPr lang="en-US" sz="13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691640"/>
          <a:ext cx="53949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914400"/>
                <a:gridCol w="914400"/>
                <a:gridCol w="914400"/>
                <a:gridCol w="9144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CV F1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Recall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F1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AUC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LogReg 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0.295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0.890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0.817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0.997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RandomForest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0.487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0.505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0.670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0.920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XGBoost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0.943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0.513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0.677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0.758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548640" y="32461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i="1" dirty="0" b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CV 우위 RF·XGB가 OOS Recall 0.5대로 급락(과적합). 단순 LR이 새 베어링에 잘 전이 → OOS 최적.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40080" y="4160520"/>
            <a:ext cx="11064240" cy="1828800"/>
          </a:xfrm>
          <a:prstGeom prst="roundRect">
            <a:avLst>
              <a:gd name="adj" fmla="val 3000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14" name="Text 10"/>
          <p:cNvSpPr/>
          <p:nvPr/>
        </p:nvSpPr>
        <p:spPr>
          <a:xfrm>
            <a:off x="868680" y="42976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RandomForest 피처 중요도 (상위)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868680" y="4690872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 b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h_rms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2240280" y="4709160"/>
            <a:ext cx="4349252" cy="182880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6635252" y="4681728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 b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0.517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868680" y="4937760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 b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h_kurt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2240280" y="4956048"/>
            <a:ext cx="1901220" cy="182880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p/>
        </p:txBody>
      </p:sp>
      <p:sp>
        <p:nvSpPr>
          <p:cNvPr id="20" name="Text 16"/>
          <p:cNvSpPr/>
          <p:nvPr/>
        </p:nvSpPr>
        <p:spPr>
          <a:xfrm>
            <a:off x="4187220" y="49286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 b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0.226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868680" y="5184648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 b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v_rms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2240280" y="5202936"/>
            <a:ext cx="1320759" cy="182880"/>
          </a:xfrm>
          <a:prstGeom prst="rect">
            <a:avLst/>
          </a:prstGeom>
          <a:solidFill>
            <a:srgbClr val="138496"/>
          </a:solidFill>
          <a:ln/>
        </p:spPr>
        <p:txBody>
          <a:bodyPr/>
          <a:p/>
        </p:txBody>
      </p:sp>
      <p:sp>
        <p:nvSpPr>
          <p:cNvPr id="23" name="Text 19"/>
          <p:cNvSpPr/>
          <p:nvPr/>
        </p:nvSpPr>
        <p:spPr>
          <a:xfrm>
            <a:off x="3606759" y="5175504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 b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0.157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868680" y="5431536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 b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h_crest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2240280" y="5449824"/>
            <a:ext cx="437449" cy="182880"/>
          </a:xfrm>
          <a:prstGeom prst="rect">
            <a:avLst/>
          </a:prstGeom>
          <a:solidFill>
            <a:srgbClr val="138496"/>
          </a:solidFill>
          <a:ln/>
        </p:spPr>
        <p:txBody>
          <a:bodyPr/>
          <a:p/>
        </p:txBody>
      </p:sp>
      <p:sp>
        <p:nvSpPr>
          <p:cNvPr id="26" name="Text 22"/>
          <p:cNvSpPr/>
          <p:nvPr/>
        </p:nvSpPr>
        <p:spPr>
          <a:xfrm>
            <a:off x="2723449" y="5422392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 b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0.052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868680" y="5678424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 b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h_skew</a:t>
            </a:r>
            <a:endParaRPr lang="en-US" sz="1100" dirty="0"/>
          </a:p>
        </p:txBody>
      </p:sp>
      <p:sp>
        <p:nvSpPr>
          <p:cNvPr id="28" name="Shape 24"/>
          <p:cNvSpPr/>
          <p:nvPr/>
        </p:nvSpPr>
        <p:spPr>
          <a:xfrm>
            <a:off x="2240280" y="5696712"/>
            <a:ext cx="260787" cy="182880"/>
          </a:xfrm>
          <a:prstGeom prst="rect">
            <a:avLst/>
          </a:prstGeom>
          <a:solidFill>
            <a:srgbClr val="138496"/>
          </a:solidFill>
          <a:ln/>
        </p:spPr>
        <p:txBody>
          <a:bodyPr/>
          <a:p/>
        </p:txBody>
      </p:sp>
      <p:sp>
        <p:nvSpPr>
          <p:cNvPr id="29" name="Text 25"/>
          <p:cNvSpPr/>
          <p:nvPr/>
        </p:nvSpPr>
        <p:spPr>
          <a:xfrm>
            <a:off x="2546787" y="5669280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 b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0.031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 b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베어링 RUL 예측  ·  ML+DL 통합 PdM</a:t>
            </a:r>
            <a:endParaRPr lang="en-US" sz="900" dirty="0"/>
          </a:p>
        </p:txBody>
      </p:sp>
      <p:sp>
        <p:nvSpPr>
          <p:cNvPr id="31" name="Text 27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dirty="0" b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허남  ·  2026.06  ·  4</a:t>
            </a:r>
            <a:endParaRPr lang="en-US" sz="900" dirty="0"/>
          </a:p>
        </p:txBody>
      </p:sp>
      <p:sp>
        <p:nvSpPr>
          <p:cNvPr id="32" name="TextBox 31"/>
          <p:cNvSpPr txBox="1"/>
          <p:nvPr/>
        </p:nvSpPr>
        <p:spPr>
          <a:xfrm>
            <a:off x="11292000" y="6534000"/>
            <a:ext cx="72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800" b="1">
                <a:solidFill>
                  <a:srgbClr val="808080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Ⅲ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 RUL 개발·튜닝 순서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 b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단계별 OOS RMSE 개선 흐름 (단위: 분)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928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F2F7FB"/>
          </a:solidFill>
          <a:ln w="1524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66928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[0] RF 베이스라인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66928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954.52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12648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타임스텝 피처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267712" y="26974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459736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F2F7FB"/>
          </a:solidFill>
          <a:ln w="1524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459736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[1] LSTM 초기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459736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934.01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2505456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시퀀스 도입 +2.15%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160520" y="26974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352544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F2F7FB"/>
          </a:solidFill>
          <a:ln w="1524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352544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[2] 5종 → GRU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352544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909.96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4398264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아키텍처 비교 최적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053328" y="26974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245352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F2F7FB"/>
          </a:solidFill>
          <a:ln w="1524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245352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[3] GridSearch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245352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956.05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6291072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window20·units32·dr0.1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946136" y="26974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138160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F2F7FB"/>
          </a:solidFill>
          <a:ln w="1524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138160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[4] 배치=16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8138160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836.60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8183880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gradient noise 정규화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838944" y="26974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10030968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1F3A5F"/>
          </a:solidFill>
          <a:ln w="15240">
            <a:solidFill>
              <a:srgbClr val="1F3A5F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10030968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[5] BatchNorm + LayerNorm v2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10030968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D2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810.38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10076688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C7DB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★ RF대비 +15.08%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66928" y="4526280"/>
            <a:ext cx="11155680" cy="1371600"/>
          </a:xfrm>
          <a:prstGeom prst="roundRect">
            <a:avLst>
              <a:gd name="adj" fmla="val 4000"/>
            </a:avLst>
          </a:prstGeom>
          <a:solidFill>
            <a:srgbClr val="EAF3FB"/>
          </a:solidFill>
          <a:ln w="1270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868680" y="466344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개선:  </a:t>
            </a:r>
            <a:pPr indent="0" marL="0">
              <a:buNone/>
            </a:pPr>
            <a:r>
              <a:rPr lang="en-US" sz="2800" dirty="0" b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RF 954.52분 → GRU v2 810.38분  (OOS RMSE 15.08% ↓, MAE 757.71→665.63)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868680" y="516636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i="1" dirty="0" b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수치는 소스 결과 JSON(femto_dl_compare / rul / bn_compare / batch_tune) 기준. window: 5종비교·RF-LSTM=30, 최종 GRU v2=20.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 b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베어링 RUL 예측  ·  ML+DL 통합 PdM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dirty="0" b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허남  ·  2026.06  ·  5</a:t>
            </a:r>
            <a:endParaRPr lang="en-US" sz="900" dirty="0"/>
          </a:p>
        </p:txBody>
      </p:sp>
      <p:sp>
        <p:nvSpPr>
          <p:cNvPr id="41" name="TextBox 40"/>
          <p:cNvSpPr txBox="1"/>
          <p:nvPr/>
        </p:nvSpPr>
        <p:spPr>
          <a:xfrm>
            <a:off x="11292000" y="6534000"/>
            <a:ext cx="72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800" b="1">
                <a:solidFill>
                  <a:srgbClr val="808080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Ⅲ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튜닝 상세 — 아키텍처 5종 + 하이퍼파라미터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 b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GroupKFold CV / OOS (분)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아키텍처 5종 비교 (window=30)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5440680" cy="914400"/>
        </p:xfrm>
        <a:graphic>
          <a:graphicData uri="http://schemas.openxmlformats.org/drawingml/2006/table">
            <a:tbl>
              <a:tblPr/>
              <a:tblGrid>
                <a:gridCol w="1508760"/>
                <a:gridCol w="1325880"/>
                <a:gridCol w="1325880"/>
                <a:gridCol w="12801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CV RMSE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RMSE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MAE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GRU 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1164.82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909.96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741.50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1D-CNN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1093.23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938.03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754.87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CNN-LSTM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1168.68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996.61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789.89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BiLSTM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1301.63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1021.19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805.53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LSTM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1091.23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1036.91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846.21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355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배치·옵티마이저·정규화 튜닝</a:t>
            </a:r>
            <a:endParaRPr lang="en-US" sz="13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691640"/>
          <a:ext cx="539496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691640"/>
                <a:gridCol w="123444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최적값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RMSE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GridSearch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w20/u32/d0.1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956.05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27조합 최적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배치 크기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836.60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baseline 956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옵티마이저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Nadam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977.70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Adam 996.88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정규화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GRU v2(BN+LN)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810.38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v1 973.47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40080" y="4114800"/>
            <a:ext cx="11064240" cy="1874520"/>
          </a:xfrm>
          <a:prstGeom prst="roundRect">
            <a:avLst>
              <a:gd name="adj" fmla="val 2927"/>
            </a:avLst>
          </a:prstGeom>
          <a:solidFill>
            <a:srgbClr val="0F2A44"/>
          </a:solidFill>
          <a:ln/>
        </p:spPr>
        <p:txBody>
          <a:bodyPr/>
          <a:p/>
        </p:txBody>
      </p:sp>
      <p:sp>
        <p:nvSpPr>
          <p:cNvPr id="12" name="Text 8"/>
          <p:cNvSpPr/>
          <p:nvPr/>
        </p:nvSpPr>
        <p:spPr>
          <a:xfrm>
            <a:off x="868680" y="420624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D2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모델 — GRU v2 (Batch Normalization + Layer Normalization)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868680" y="457200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dirty="0" b="1">
                <a:solidFill>
                  <a:srgbClr val="D7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Input(20,12) → GRU(32, return_seq) → LayerNorm → Dropout(0.1) → GRU(16) → LayerNorm → BatchNorm → Dense(32, relu) → Dropout(0.1) → Dense(1)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868680" y="516636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dirty="0" b="1">
                <a:solidFill>
                  <a:srgbClr val="9DB6D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optimizer=Adam(1e-3), loss=mse  ·  EarlyStopping(patience=10, restore_best)  ·  ModelCheckpoint(val_loss, min)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868680" y="553212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i="1" dirty="0" b="1">
                <a:solidFill>
                  <a:srgbClr val="9DC3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Layer Normalization + Batch Normalization → 학습 epoch 54→33 단축, OOS RMSE 16.75% 개선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 b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베어링 RUL 예측  ·  ML+DL 통합 PdM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dirty="0" b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허남  ·  2026.06  ·  6</a:t>
            </a:r>
            <a:endParaRPr lang="en-US" sz="900" dirty="0"/>
          </a:p>
        </p:txBody>
      </p:sp>
      <p:sp>
        <p:nvSpPr>
          <p:cNvPr id="18" name="TextBox 17"/>
          <p:cNvSpPr txBox="1"/>
          <p:nvPr/>
        </p:nvSpPr>
        <p:spPr>
          <a:xfrm>
            <a:off x="11292000" y="6534000"/>
            <a:ext cx="72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800" b="1">
                <a:solidFill>
                  <a:srgbClr val="808080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77240"/>
          </a:xfrm>
          <a:prstGeom prst="rect">
            <a:avLst/>
          </a:prstGeom>
          <a:solidFill>
            <a:srgbClr val="1629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91440"/>
            <a:ext cx="1191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Malgun Gothic"/>
              </a:rPr>
              <a:t>부록. MLflow 하이퍼파라미터 탐색 실험  ·  FEMTO_RUL_HyperparamSearch (48 runs)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" y="841248"/>
            <a:ext cx="1191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AACCFF"/>
                </a:solidFill>
                <a:latin typeface="Malgun Gothic"/>
              </a:rPr>
              <a:t>mlflow ui --backend-store-uri sqlite:///mlflow.db  -&gt;  localhost:5000  |  Columns &gt; Parameters(6) 체크  |  Sort: val_loss 오름차순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" y="126187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4FC3F7"/>
                </a:solidFill>
                <a:latin typeface="Malgun Gothic"/>
              </a:rPr>
              <a:t>[Training Runs]  val_loss 기준 상위 8개 run</a:t>
            </a:r>
          </a:p>
        </p:txBody>
      </p:sp>
      <p:pic>
        <p:nvPicPr>
          <p:cNvPr id="7" name="Picture 6" descr="mlflow_training_ru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554480"/>
            <a:ext cx="8229600" cy="29077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7160" y="3749039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4FC3F7"/>
                </a:solidFill>
                <a:latin typeface="Malgun Gothic"/>
              </a:rPr>
              <a:t>[Parallel Coordinates]  파란색=우수(낮은 loss), 빨간색=열등(높은 loss)</a:t>
            </a:r>
          </a:p>
        </p:txBody>
      </p:sp>
      <p:pic>
        <p:nvPicPr>
          <p:cNvPr id="9" name="Picture 8" descr="mlflow_parallel_coor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4041648"/>
            <a:ext cx="8229600" cy="364990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671560" y="1261872"/>
            <a:ext cx="3383280" cy="2377440"/>
          </a:xfrm>
          <a:prstGeom prst="rect">
            <a:avLst/>
          </a:prstGeom>
          <a:solidFill>
            <a:srgbClr val="0A2A0A"/>
          </a:solidFill>
          <a:ln>
            <a:solidFill>
              <a:srgbClr val="375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63000" y="132588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88DD88"/>
                </a:solidFill>
                <a:latin typeface="Malgun Gothic"/>
              </a:rPr>
              <a:t>최적 파라미터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63000" y="1719072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CCFFCC"/>
                </a:solidFill>
                <a:latin typeface="Malgun Gothic"/>
              </a:rPr>
              <a:t>model:       GRU
units:       64 / 32
dropout:     0.2
batch_size:  16
val_loss:    0.004138
저장: femto_best_mlflow.keras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" y="6537960"/>
            <a:ext cx="1191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668899"/>
                </a:solidFill>
                <a:latin typeface="Malgun Gothic"/>
              </a:rPr>
              <a:t>FEMTO-ST 베어링 RUL 예측  ·  ML+DL 통합 PdM  ·  허남  2026.06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000" y="6534000"/>
            <a:ext cx="72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800" b="1">
                <a:solidFill>
                  <a:srgbClr val="808080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Ⅳ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결론 — ML vs DL 종합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 b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검증된 소스값 기준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p/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011680"/>
                <a:gridCol w="3017520"/>
                <a:gridCol w="2651760"/>
                <a:gridCol w="164592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ML 베이스라인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DL 최종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RUL 예측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RMSE(분)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RF 954.52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GRU v2 810.38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▼ 15.08%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RUL 예측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MAE(분)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757.71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665.63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▼ 12.2%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열화 분류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Recall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RF 0.505 / XGB 0.513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LR 0.890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75B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LR 최적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비지도 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AUC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AE 0.968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3849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라벨 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3657600"/>
            <a:ext cx="384048" cy="384048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640080" y="36576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188720" y="3639312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 시계열 구조 강점  </a:t>
            </a:r>
            <a:pPr indent="0" marL="0">
              <a:buNone/>
            </a:pPr>
            <a:r>
              <a:rPr lang="en-US" sz="2800" dirty="0" b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RF 베이스라인 대비 GRU v2가 OOS RMSE 15.08% 개선 — Batch Normalization + Layer Normalization 정규화가 핵심 기여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0080" y="4261104"/>
            <a:ext cx="384048" cy="384048"/>
          </a:xfrm>
          <a:prstGeom prst="ellipse">
            <a:avLst/>
          </a:prstGeom>
          <a:solidFill>
            <a:srgbClr val="138496"/>
          </a:solidFill>
          <a:ln/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0080" y="426110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188720" y="4242816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유형별 적합성  </a:t>
            </a:r>
            <a:pPr indent="0" marL="0">
              <a:buNone/>
            </a:pPr>
            <a:r>
              <a:rPr lang="en-US" sz="2800" dirty="0" b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테이블형(독립행)→ML / 진짜 시계열(분당 측정)→DL 우세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40080" y="4864608"/>
            <a:ext cx="384048" cy="384048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640080" y="486460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188720" y="484632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OOS 일반화 = LR  </a:t>
            </a:r>
            <a:pPr indent="0" marL="0">
              <a:buNone/>
            </a:pPr>
            <a:r>
              <a:rPr lang="en-US" sz="2800" dirty="0" b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CV 우위 RF·XGB는 3개 베어링 과적합 → 새 베어링엔 단순 LR이 전이 우수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40080" y="5468112"/>
            <a:ext cx="384048" cy="384048"/>
          </a:xfrm>
          <a:prstGeom prst="ellipse">
            <a:avLst/>
          </a:prstGeom>
          <a:solidFill>
            <a:srgbClr val="138496"/>
          </a:solidFill>
          <a:ln/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640080" y="546811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188720" y="5449824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조기 경보 가능  </a:t>
            </a:r>
            <a:pPr indent="0" marL="0">
              <a:buNone/>
            </a:pPr>
            <a:r>
              <a:rPr lang="en-US" sz="2800" dirty="0" b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GRU가 열화 말기 RUL 급하강을 포착 → 교체 경보 선제 발령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 b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베어링 RUL 예측  ·  ML+DL 통합 PdM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dirty="0" b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허남  ·  2026.06  ·  7</a:t>
            </a:r>
            <a:endParaRPr lang="en-US" sz="900" dirty="0"/>
          </a:p>
        </p:txBody>
      </p:sp>
      <p:sp>
        <p:nvSpPr>
          <p:cNvPr id="22" name="TextBox 21"/>
          <p:cNvSpPr txBox="1"/>
          <p:nvPr/>
        </p:nvSpPr>
        <p:spPr>
          <a:xfrm>
            <a:off x="11292000" y="6534000"/>
            <a:ext cx="72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800" b="1">
                <a:solidFill>
                  <a:srgbClr val="808080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Recall 중심 성능 평가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 b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PdM — 고장 미탐지(FN) 최소화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1371600"/>
            <a:ext cx="11064240" cy="685800"/>
          </a:xfrm>
          <a:prstGeom prst="roundRect">
            <a:avLst>
              <a:gd name="adj" fmla="val 6667"/>
            </a:avLst>
          </a:prstGeom>
          <a:solidFill>
            <a:srgbClr val="FBF1E0"/>
          </a:solidFill>
          <a:ln w="12700">
            <a:solidFill>
              <a:srgbClr val="E8C98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68680" y="1463040"/>
            <a:ext cx="10607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988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Recall인가?  </a:t>
            </a:r>
            <a:pPr indent="0" marL="0">
              <a:buNone/>
            </a:pPr>
            <a:r>
              <a:rPr lang="en-US" sz="2800" dirty="0" b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고장 미탐지(FN) 비용 ≫ 오경보(FP) 비용 — 베어링 미발견 → 설비 파손·라인 전체 정지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2860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OOS (실제 미관측 베어링 11개) — Recall 기준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60604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920240"/>
                <a:gridCol w="2194560"/>
                <a:gridCol w="1645920"/>
                <a:gridCol w="1645920"/>
                <a:gridCol w="21945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Precision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Recall 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AUC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일반화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0.755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0.890 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0.817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0.997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75B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 실제 최적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RF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0.996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23B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0.505 ✗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0.670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0.920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과적합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XGB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0.996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23B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0.513 ✗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0.677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0.758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과적합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40080" y="4434840"/>
            <a:ext cx="11064240" cy="1508760"/>
          </a:xfrm>
          <a:prstGeom prst="roundRect">
            <a:avLst>
              <a:gd name="adj" fmla="val 3636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868680" y="454456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 결론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68680" y="4892040"/>
            <a:ext cx="10607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2800" dirty="0" b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다조건 OOS: LR Recall 0.890 ≫ RF 0.505 · XGB 0.513 — Recall 기준이 모델 선택을 바꿈</a:t>
            </a:r>
            <a:endParaRPr lang="en-US" sz="12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배포 권장: 새 베어링 일반화 관점 LR 채택 (단순 선형 경계가 전이 우수)</a:t>
            </a:r>
            <a:endParaRPr lang="en-US" sz="12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운영: F1 최적 임계값 탐색 후 Recall 우선 시 임계값을 낮춰 미탐지 최소화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 b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베어링 RUL 예측  ·  ML+DL 통합 PdM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dirty="0" b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허남  ·  2026.06  ·  8</a:t>
            </a:r>
            <a:endParaRPr lang="en-US" sz="900" dirty="0"/>
          </a:p>
        </p:txBody>
      </p:sp>
      <p:sp>
        <p:nvSpPr>
          <p:cNvPr id="16" name="TextBox 15"/>
          <p:cNvSpPr txBox="1"/>
          <p:nvPr/>
        </p:nvSpPr>
        <p:spPr>
          <a:xfrm>
            <a:off x="11292000" y="6534000"/>
            <a:ext cx="72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800" b="1">
                <a:solidFill>
                  <a:srgbClr val="808080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Autoencoder 비지도 탐지 + 임계값 결정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 b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라벨 없는 신규 설비 / ROC·Threshold 원리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Autoencoder (정상만 학습, 64-32-16-32-64)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544068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188720"/>
                <a:gridCol w="1188720"/>
                <a:gridCol w="118872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Recall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AUC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RandomForest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0.99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Autoencoder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비지도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0.828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0.968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40080" y="2743200"/>
            <a:ext cx="5486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800" dirty="0" b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AUC 0.968: 비지도로 RF에 근접</a:t>
            </a:r>
            <a:endParaRPr lang="en-US" sz="11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Recall 0.828: 고장의 83% 탐지</a:t>
            </a:r>
            <a:endParaRPr lang="en-US" sz="11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권장: AE(1차 조기감지) → RF(2차 정밀분류) 2단계 파이프라인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355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AUC vs Threshold — 분리된 두 개념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355080" y="1691640"/>
            <a:ext cx="5349240" cy="914400"/>
          </a:xfrm>
          <a:prstGeom prst="roundRect">
            <a:avLst>
              <a:gd name="adj" fmla="val 5000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583680" y="1828800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AUC = 모델 변별력 (임계값 무관, 비교 기준)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Threshold = 현장 운영 정책 (TPR/FPR 균형)</a:t>
            </a:r>
            <a:endParaRPr lang="en-US" sz="115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2743200"/>
          <a:ext cx="534924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691640"/>
                <a:gridCol w="19659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임계값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효과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현장 적용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낮춤 0.3~0.45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Recall↑ / FP↑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PdM 권장(미탐지↓)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0.50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균형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일반 운영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높임 0.65~0.80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Precision↑ / FN↑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오경보 최소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 10"/>
          <p:cNvSpPr/>
          <p:nvPr/>
        </p:nvSpPr>
        <p:spPr>
          <a:xfrm>
            <a:off x="548640" y="45720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i="1" dirty="0" b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대표 분류기 LR의 OOS ROC-AUC=0.997. Streamlit 사이드바 슬라이더로 0.3~0.8 실시간 조정 + 변경 이력(감사 추적).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 b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베어링 RUL 예측  ·  ML+DL 통합 PdM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dirty="0" b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허남  ·  2026.06  ·  9</a:t>
            </a:r>
            <a:endParaRPr lang="en-US" sz="900" dirty="0"/>
          </a:p>
        </p:txBody>
      </p:sp>
      <p:sp>
        <p:nvSpPr>
          <p:cNvPr id="20" name="TextBox 19"/>
          <p:cNvSpPr txBox="1"/>
          <p:nvPr/>
        </p:nvSpPr>
        <p:spPr>
          <a:xfrm>
            <a:off x="11292000" y="6534000"/>
            <a:ext cx="72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800" b="1">
                <a:solidFill>
                  <a:srgbClr val="808080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 통합 진단 + 향후 로드맵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 b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6탭 대시보드 / 시스템 품질 PASS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6탭 구성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1737360"/>
            <a:ext cx="5440680" cy="457200"/>
          </a:xfrm>
          <a:prstGeom prst="roundRect">
            <a:avLst>
              <a:gd name="adj" fmla="val 10000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22960" y="17373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 b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📊 데이터 탐색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304288"/>
            <a:ext cx="544068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22960" y="2304288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 b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🤖 ML 성능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2871216"/>
            <a:ext cx="5440680" cy="457200"/>
          </a:xfrm>
          <a:prstGeom prst="roundRect">
            <a:avLst>
              <a:gd name="adj" fmla="val 10000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22960" y="2871216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 b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🔮 DL RUL 예측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438144"/>
            <a:ext cx="544068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22960" y="3438144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 b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🏭 통합 진단(실시간)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005072"/>
            <a:ext cx="5440680" cy="457200"/>
          </a:xfrm>
          <a:prstGeom prst="roundRect">
            <a:avLst>
              <a:gd name="adj" fmla="val 10000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22960" y="4005072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 b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🔬 아키텍처 비교(5종)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🖼️ CNN 이미지 분류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355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품질 지표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737360"/>
          <a:ext cx="53492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371600"/>
                <a:gridCol w="1325880"/>
                <a:gridCol w="109728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RUL RMSE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&lt;900분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810.38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PASS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RF대비 개선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&gt;10%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15.08%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PASS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응답시간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&lt;2초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~0.1초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PASS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누수방지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GroupKFold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베어링분리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PASS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6355080" y="3703320"/>
            <a:ext cx="5349240" cy="2194560"/>
          </a:xfrm>
          <a:prstGeom prst="roundRect">
            <a:avLst>
              <a:gd name="adj" fmla="val 2500"/>
            </a:avLst>
          </a:prstGeom>
          <a:solidFill>
            <a:srgbClr val="0F2A44"/>
          </a:solidFill>
          <a:ln/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6583680" y="3822192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D2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성능 개선 로드맵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6583680" y="4206240"/>
            <a:ext cx="4983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2800" dirty="0" b="1">
                <a:solidFill>
                  <a:srgbClr val="D7E6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2  Attention + SHAP 해설  (−100~200분)</a:t>
            </a:r>
            <a:endParaRPr lang="en-US" sz="11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50" dirty="0">
                <a:solidFill>
                  <a:srgbClr val="D7E6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3  앙상블(GRU+1D-CNN) + 실공장  (−150~300분)</a:t>
            </a:r>
            <a:endParaRPr lang="en-US" sz="11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50" dirty="0">
                <a:solidFill>
                  <a:srgbClr val="D7E6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4  Transformer + IoT 실시간  (−200~400분)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640080" y="3703320"/>
            <a:ext cx="5440680" cy="2194560"/>
          </a:xfrm>
          <a:prstGeom prst="roundRect">
            <a:avLst>
              <a:gd name="adj" fmla="val 2500"/>
            </a:avLst>
          </a:prstGeom>
          <a:solidFill>
            <a:srgbClr val="EAF3FB"/>
          </a:solidFill>
          <a:ln w="1270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822960" y="382219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822960" y="4206240"/>
            <a:ext cx="51206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800" dirty="0" b="1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URL: dlfactoryautomation.streamlit.app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Repo: vapsnamheo-dev/AISOURCE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사이드바: ML 임계값 0.3~0.8 + RUL 경보 기준 30~120분 실시간 조정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 b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베어링 RUL 예측  ·  ML+DL 통합 PdM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dirty="0" b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허남  ·  2026.06  ·  10</a:t>
            </a:r>
            <a:endParaRPr lang="en-US" sz="900" dirty="0"/>
          </a:p>
        </p:txBody>
      </p:sp>
      <p:sp>
        <p:nvSpPr>
          <p:cNvPr id="28" name="TextBox 27"/>
          <p:cNvSpPr txBox="1"/>
          <p:nvPr/>
        </p:nvSpPr>
        <p:spPr>
          <a:xfrm>
            <a:off x="11292000" y="6534000"/>
            <a:ext cx="72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800" b="1">
                <a:solidFill>
                  <a:srgbClr val="808080"/>
                </a:solidFill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754880"/>
            <a:ext cx="4114800" cy="4114800"/>
          </a:xfrm>
          <a:prstGeom prst="ellipse">
            <a:avLst/>
          </a:prstGeom>
          <a:solidFill>
            <a:srgbClr val="284B73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22960" y="13716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 b="1">
                <a:solidFill>
                  <a:srgbClr val="9DC3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요약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20116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GRU v2 — OOS RMSE 810.38분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2926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 b="1">
                <a:solidFill>
                  <a:srgbClr val="C7DB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RF 베이스라인 대비 15.08% 개선 · OOS Recall 최적은 LR(0.890) · AE 비지도 AUC 0.968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68680" y="3749040"/>
            <a:ext cx="2926080" cy="0"/>
          </a:xfrm>
          <a:prstGeom prst="line">
            <a:avLst/>
          </a:prstGeom>
          <a:noFill/>
          <a:ln w="31750">
            <a:solidFill>
              <a:srgbClr val="138496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68680" y="402336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2800" dirty="0" b="1">
                <a:solidFill>
                  <a:srgbClr val="E2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개발·튜닝 6단계로 RF→GRU v2 누적 개선, GroupKFold로 시계열 누수 차단</a:t>
            </a:r>
            <a:endParaRPr lang="en-US" sz="14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400" dirty="0">
                <a:solidFill>
                  <a:srgbClr val="E2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 6탭 대시보드 + Cloud 배포로 현장 즉시 활용</a:t>
            </a:r>
            <a:endParaRPr lang="en-US" sz="14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400" dirty="0">
                <a:solidFill>
                  <a:srgbClr val="E2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수치 소스 결과 JSON 검증 — 허위·과장 지표 없음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6126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 b="1">
                <a:solidFill>
                  <a:srgbClr val="9DB6D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허남  ·  2026.06.30</a:t>
            </a:r>
            <a:endParaRPr lang="en-US" sz="1200" dirty="0"/>
          </a:p>
        </p:txBody>
      </p:sp>
      <p:sp>
        <p:nvSpPr>
          <p:cNvPr id="9" name="TextBox 8"/>
          <p:cNvSpPr txBox="1"/>
          <p:nvPr/>
        </p:nvSpPr>
        <p:spPr>
          <a:xfrm>
            <a:off x="11292000" y="6534000"/>
            <a:ext cx="72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800" b="1">
                <a:solidFill>
                  <a:srgbClr val="808080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TextBox 0"/>
          <p:cNvSpPr txBox="1"/>
          <p:nvPr/>
        </p:nvSpPr>
        <p:spPr>
          <a:xfrm>
            <a:off x="274320" y="274320"/>
            <a:ext cx="11643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A4A7A"/>
                </a:solidFill>
              </a:rPr>
              <a:t>ML + DL + Grad-CAM 통합 진단 파이프라인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74320" y="868680"/>
            <a:ext cx="1164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555555"/>
                </a:solidFill>
              </a:rPr>
              <a:t>FEMTO-ST 베어링 이상탐지 · RUL 예측 · 고장 시각화 3단계 완성</a:t>
            </a:r>
          </a:p>
        </p:txBody>
      </p:sp>
      <p:sp>
        <p:nvSpPr>
          <p:cNvPr id="99" name="rect"/>
          <p:cNvSpPr/>
          <p:nvPr/>
        </p:nvSpPr>
        <p:spPr>
          <a:xfrm>
            <a:off x="274320" y="1325880"/>
            <a:ext cx="3698240" cy="457200"/>
          </a:xfrm>
          <a:prstGeom prst="rect">
            <a:avLst/>
          </a:prstGeom>
          <a:solidFill>
            <a:srgbClr val="1A4A7A"/>
          </a:solidFill>
        </p:spPr>
        <p:txBody/>
      </p:sp>
      <p:sp>
        <p:nvSpPr>
          <p:cNvPr id="100" name="TextBox 99"/>
          <p:cNvSpPr txBox="1"/>
          <p:nvPr/>
        </p:nvSpPr>
        <p:spPr>
          <a:xfrm>
            <a:off x="274320" y="1325880"/>
            <a:ext cx="3698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① ML 단계</a:t>
            </a:r>
          </a:p>
        </p:txBody>
      </p:sp>
      <p:sp>
        <p:nvSpPr>
          <p:cNvPr id="99" name="rect"/>
          <p:cNvSpPr/>
          <p:nvPr/>
        </p:nvSpPr>
        <p:spPr>
          <a:xfrm>
            <a:off x="274320" y="1783080"/>
            <a:ext cx="3698240" cy="411480"/>
          </a:xfrm>
          <a:prstGeom prst="rect">
            <a:avLst/>
          </a:prstGeom>
          <a:solidFill>
            <a:srgbClr val="1A4A7A"/>
          </a:solidFill>
        </p:spPr>
        <p:txBody/>
      </p:sp>
      <p:sp>
        <p:nvSpPr>
          <p:cNvPr id="101" name="TextBox 100"/>
          <p:cNvSpPr txBox="1"/>
          <p:nvPr/>
        </p:nvSpPr>
        <p:spPr>
          <a:xfrm>
            <a:off x="274320" y="1783080"/>
            <a:ext cx="3698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정상 / 열화 분류</a:t>
            </a:r>
          </a:p>
        </p:txBody>
      </p:sp>
      <p:sp>
        <p:nvSpPr>
          <p:cNvPr id="99" name="rect"/>
          <p:cNvSpPr/>
          <p:nvPr/>
        </p:nvSpPr>
        <p:spPr>
          <a:xfrm>
            <a:off x="274320" y="2194560"/>
            <a:ext cx="3698240" cy="3337560"/>
          </a:xfrm>
          <a:prstGeom prst="rect">
            <a:avLst/>
          </a:prstGeom>
          <a:solidFill>
            <a:srgbClr val="E8F0FE"/>
          </a:solidFill>
        </p:spPr>
        <p:txBody/>
      </p:sp>
      <p:sp>
        <p:nvSpPr>
          <p:cNvPr id="102" name="TextBox 101"/>
          <p:cNvSpPr txBox="1"/>
          <p:nvPr/>
        </p:nvSpPr>
        <p:spPr>
          <a:xfrm>
            <a:off x="347472" y="2240280"/>
            <a:ext cx="3588512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22222"/>
                </a:solidFill>
              </a:rPr>
              <a:t>▸ 알고리즘: RandomForest · XGBoost</a:t>
            </a:r>
          </a:p>
          <a:p>
            <a:pPr algn="l"/>
            <a:r>
              <a:rPr sz="1100" b="0">
                <a:solidFill>
                  <a:srgbClr val="222222"/>
                </a:solidFill>
              </a:rPr>
              <a:t>▸ 입력: 진동 RMS · 첨도 · 크레스트 인자</a:t>
            </a:r>
          </a:p>
          <a:p>
            <a:pPr algn="l"/>
            <a:r>
              <a:rPr sz="1100" b="0">
                <a:solidFill>
                  <a:srgbClr val="222222"/>
                </a:solidFill>
              </a:rPr>
              <a:t>▸ 출력: 열화 확률(%) · 임계값 기반 판정</a:t>
            </a:r>
          </a:p>
          <a:p>
            <a:pPr algn="l"/>
            <a:r>
              <a:rPr sz="1100" b="0">
                <a:solidFill>
                  <a:srgbClr val="222222"/>
                </a:solidFill>
              </a:rPr>
              <a:t>▸ 역할: '지금 이상이 있는가?' 1차 경보</a:t>
            </a:r>
          </a:p>
        </p:txBody>
      </p:sp>
      <p:sp>
        <p:nvSpPr>
          <p:cNvPr id="99" name="rect"/>
          <p:cNvSpPr/>
          <p:nvPr/>
        </p:nvSpPr>
        <p:spPr>
          <a:xfrm>
            <a:off x="4246880" y="1325880"/>
            <a:ext cx="3698240" cy="457200"/>
          </a:xfrm>
          <a:prstGeom prst="rect">
            <a:avLst/>
          </a:prstGeom>
          <a:solidFill>
            <a:srgbClr val="0A6A2A"/>
          </a:solidFill>
        </p:spPr>
        <p:txBody/>
      </p:sp>
      <p:sp>
        <p:nvSpPr>
          <p:cNvPr id="103" name="TextBox 102"/>
          <p:cNvSpPr txBox="1"/>
          <p:nvPr/>
        </p:nvSpPr>
        <p:spPr>
          <a:xfrm>
            <a:off x="4246880" y="1325880"/>
            <a:ext cx="3698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② DL 단계</a:t>
            </a:r>
          </a:p>
        </p:txBody>
      </p:sp>
      <p:sp>
        <p:nvSpPr>
          <p:cNvPr id="99" name="rect"/>
          <p:cNvSpPr/>
          <p:nvPr/>
        </p:nvSpPr>
        <p:spPr>
          <a:xfrm>
            <a:off x="4246880" y="1783080"/>
            <a:ext cx="3698240" cy="411480"/>
          </a:xfrm>
          <a:prstGeom prst="rect">
            <a:avLst/>
          </a:prstGeom>
          <a:solidFill>
            <a:srgbClr val="0A6A2A"/>
          </a:solidFill>
        </p:spPr>
        <p:txBody/>
      </p:sp>
      <p:sp>
        <p:nvSpPr>
          <p:cNvPr id="104" name="TextBox 103"/>
          <p:cNvSpPr txBox="1"/>
          <p:nvPr/>
        </p:nvSpPr>
        <p:spPr>
          <a:xfrm>
            <a:off x="4246880" y="1783080"/>
            <a:ext cx="3698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잔여수명(RUL) 정밀 예측</a:t>
            </a:r>
          </a:p>
        </p:txBody>
      </p:sp>
      <p:sp>
        <p:nvSpPr>
          <p:cNvPr id="99" name="rect"/>
          <p:cNvSpPr/>
          <p:nvPr/>
        </p:nvSpPr>
        <p:spPr>
          <a:xfrm>
            <a:off x="4246880" y="2194560"/>
            <a:ext cx="3698240" cy="3337560"/>
          </a:xfrm>
          <a:prstGeom prst="rect">
            <a:avLst/>
          </a:prstGeom>
          <a:solidFill>
            <a:srgbClr val="E6F7E9"/>
          </a:solidFill>
        </p:spPr>
        <p:txBody/>
      </p:sp>
      <p:sp>
        <p:nvSpPr>
          <p:cNvPr id="105" name="TextBox 104"/>
          <p:cNvSpPr txBox="1"/>
          <p:nvPr/>
        </p:nvSpPr>
        <p:spPr>
          <a:xfrm>
            <a:off x="4320032" y="2240280"/>
            <a:ext cx="3588512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22222"/>
                </a:solidFill>
              </a:rPr>
              <a:t>▸ 알고리즘: GRU v2 (Batch Norm + Layer Norm)</a:t>
            </a:r>
          </a:p>
          <a:p>
            <a:pPr algn="l"/>
            <a:r>
              <a:rPr sz="1100" b="0">
                <a:solidFill>
                  <a:srgbClr val="222222"/>
                </a:solidFill>
              </a:rPr>
              <a:t>▸ 입력: 진동 시계열 시퀀스</a:t>
            </a:r>
          </a:p>
          <a:p>
            <a:pPr algn="l"/>
            <a:r>
              <a:rPr sz="1100" b="0">
                <a:solidFill>
                  <a:srgbClr val="222222"/>
                </a:solidFill>
              </a:rPr>
              <a:t>▸ 출력: 잔여 가동 시간(분) 예측값</a:t>
            </a:r>
          </a:p>
          <a:p>
            <a:pPr algn="l"/>
            <a:r>
              <a:rPr sz="1100" b="0">
                <a:solidFill>
                  <a:srgbClr val="222222"/>
                </a:solidFill>
              </a:rPr>
              <a:t>▸ 역할: '언제 교체해야 하는가?' 정밀 예측</a:t>
            </a:r>
          </a:p>
        </p:txBody>
      </p:sp>
      <p:sp>
        <p:nvSpPr>
          <p:cNvPr id="99" name="rect"/>
          <p:cNvSpPr/>
          <p:nvPr/>
        </p:nvSpPr>
        <p:spPr>
          <a:xfrm>
            <a:off x="8219440" y="1325880"/>
            <a:ext cx="3698240" cy="457200"/>
          </a:xfrm>
          <a:prstGeom prst="rect">
            <a:avLst/>
          </a:prstGeom>
          <a:solidFill>
            <a:srgbClr val="8B0000"/>
          </a:solidFill>
        </p:spPr>
        <p:txBody/>
      </p:sp>
      <p:sp>
        <p:nvSpPr>
          <p:cNvPr id="106" name="TextBox 105"/>
          <p:cNvSpPr txBox="1"/>
          <p:nvPr/>
        </p:nvSpPr>
        <p:spPr>
          <a:xfrm>
            <a:off x="8219440" y="1325880"/>
            <a:ext cx="3698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③ CNN + Grad-CAM</a:t>
            </a:r>
          </a:p>
        </p:txBody>
      </p:sp>
      <p:sp>
        <p:nvSpPr>
          <p:cNvPr id="99" name="rect"/>
          <p:cNvSpPr/>
          <p:nvPr/>
        </p:nvSpPr>
        <p:spPr>
          <a:xfrm>
            <a:off x="8219440" y="1783080"/>
            <a:ext cx="3698240" cy="411480"/>
          </a:xfrm>
          <a:prstGeom prst="rect">
            <a:avLst/>
          </a:prstGeom>
          <a:solidFill>
            <a:srgbClr val="8B0000"/>
          </a:solidFill>
        </p:spPr>
        <p:txBody/>
      </p:sp>
      <p:sp>
        <p:nvSpPr>
          <p:cNvPr id="107" name="TextBox 106"/>
          <p:cNvSpPr txBox="1"/>
          <p:nvPr/>
        </p:nvSpPr>
        <p:spPr>
          <a:xfrm>
            <a:off x="8219440" y="1783080"/>
            <a:ext cx="3698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고장 부위·시점 시각화</a:t>
            </a:r>
          </a:p>
        </p:txBody>
      </p:sp>
      <p:sp>
        <p:nvSpPr>
          <p:cNvPr id="99" name="rect"/>
          <p:cNvSpPr/>
          <p:nvPr/>
        </p:nvSpPr>
        <p:spPr>
          <a:xfrm>
            <a:off x="8219440" y="2194560"/>
            <a:ext cx="3698240" cy="3337560"/>
          </a:xfrm>
          <a:prstGeom prst="rect">
            <a:avLst/>
          </a:prstGeom>
          <a:solidFill>
            <a:srgbClr val="FDEDED"/>
          </a:solidFill>
        </p:spPr>
        <p:txBody/>
      </p:sp>
      <p:sp>
        <p:nvSpPr>
          <p:cNvPr id="108" name="TextBox 107"/>
          <p:cNvSpPr txBox="1"/>
          <p:nvPr/>
        </p:nvSpPr>
        <p:spPr>
          <a:xfrm>
            <a:off x="8292592" y="2240280"/>
            <a:ext cx="3588512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22222"/>
                </a:solidFill>
              </a:rPr>
              <a:t>▸ 알고리즘: CNN (Conv2D × 3 레이어)</a:t>
            </a:r>
          </a:p>
          <a:p>
            <a:pPr algn="l"/>
            <a:r>
              <a:rPr sz="1100" b="0">
                <a:solidFill>
                  <a:srgbClr val="222222"/>
                </a:solidFill>
              </a:rPr>
              <a:t>▸ 입력: 진동 신호 → matplotlib 이미지 변환</a:t>
            </a:r>
          </a:p>
          <a:p>
            <a:pPr algn="l"/>
            <a:r>
              <a:rPr sz="1100" b="0">
                <a:solidFill>
                  <a:srgbClr val="222222"/>
                </a:solidFill>
              </a:rPr>
              <a:t>▸ Grad-CAM: 마지막 Conv 기울기 역전파</a:t>
            </a:r>
          </a:p>
          <a:p>
            <a:pPr algn="l"/>
            <a:r>
              <a:rPr sz="1100" b="0">
                <a:solidFill>
                  <a:srgbClr val="222222"/>
                </a:solidFill>
              </a:rPr>
              <a:t>  → 히트맵으로 '어느 시점이 위험했나' 표시</a:t>
            </a:r>
          </a:p>
          <a:p>
            <a:pPr algn="l"/>
            <a:r>
              <a:rPr sz="1100" b="0">
                <a:solidFill>
                  <a:srgbClr val="222222"/>
                </a:solidFill>
              </a:rPr>
              <a:t>▸ 역할: XAI — CNN 판정 근거 시각화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74320" y="5669280"/>
            <a:ext cx="1164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333333"/>
                </a:solidFill>
              </a:rPr>
              <a:t>① ML 이상 탐지   →   ② DL 잔여수명 예측   →   ③ CNN + Grad-CAM 시각화   →   정비 의사결정 지원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1292000" y="6534000"/>
            <a:ext cx="72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800" b="1">
                <a:solidFill>
                  <a:srgbClr val="808080"/>
                </a:solidFill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0000" y="108000"/>
            <a:ext cx="115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497D"/>
                </a:solidFill>
              </a:rPr>
              <a:t>ML 분류 성능 — 혼동행렬 + SHAP 피캘 중요도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540000"/>
            <a:ext cx="115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08080"/>
                </a:solidFill>
              </a:rPr>
              <a:t>RF OOS 테스트 세트 | 오탐 vs 미탐 트레이드오프 + 상위 피캘 순위</a:t>
            </a:r>
          </a:p>
        </p:txBody>
      </p:sp>
      <p:pic>
        <p:nvPicPr>
          <p:cNvPr id="4" name="Picture 3" descr="05_con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827999"/>
            <a:ext cx="5580000" cy="5238551"/>
          </a:xfrm>
          <a:prstGeom prst="rect">
            <a:avLst/>
          </a:prstGeom>
        </p:spPr>
      </p:pic>
      <p:pic>
        <p:nvPicPr>
          <p:cNvPr id="5" name="Picture 4" descr="S3_shap_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0000" y="827999"/>
            <a:ext cx="5760000" cy="216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0000" y="4788000"/>
            <a:ext cx="55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08080"/>
                </a:solidFill>
              </a:rPr>
              <a:t>그림 5. 혼동행렬 (RF OOS): 행=실제 클래스, 열=예측 클래스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0000" y="4788000"/>
            <a:ext cx="57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08080"/>
                </a:solidFill>
              </a:rPr>
              <a:t>그림 S3. SHAP 피캘 중요도 막대: h_rms·v_rms 최상위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04000" y="6552000"/>
            <a:ext cx="7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0000" y="108000"/>
            <a:ext cx="115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497D"/>
                </a:solidFill>
              </a:rPr>
              <a:t>Ⅰ-B | 데이터 샘플 — 베어링 진동 RMS 시계열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540000"/>
            <a:ext cx="115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08080"/>
                </a:solidFill>
              </a:rPr>
              <a:t>FEMTO-ST 가속도계 수평·수직 2채널 | 500Hz → RMS 집계 | Stage 1(정상) vs Stage 4(심각 열화) 비교</a:t>
            </a:r>
          </a:p>
        </p:txBody>
      </p:sp>
      <p:pic>
        <p:nvPicPr>
          <p:cNvPr id="4" name="Picture 3" descr="bearing_stage1_no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827999"/>
            <a:ext cx="5760000" cy="2843544"/>
          </a:xfrm>
          <a:prstGeom prst="rect">
            <a:avLst/>
          </a:prstGeom>
        </p:spPr>
      </p:pic>
      <p:pic>
        <p:nvPicPr>
          <p:cNvPr id="5" name="Picture 4" descr="bearing_stage4_seve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0000" y="827999"/>
            <a:ext cx="5760000" cy="28435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0000" y="4680000"/>
            <a:ext cx="57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08080"/>
                </a:solidFill>
              </a:rPr>
              <a:t>그림 D0-a. Stage 1 정상 — RMS ~0.4g 안정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0000" y="4680000"/>
            <a:ext cx="57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08080"/>
                </a:solidFill>
              </a:rPr>
              <a:t>그림 D0-b. Stage 4 심각 열화 — 스파이크 ~7.5g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0000" y="4968000"/>
            <a:ext cx="1170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</a:rPr>
              <a:t>FEMTO-ST 데이터셋 개요:
  - 7개 베어링(B1_1~B3_3), 운전조건 3종 (1800/1650/1500rpm)
  - 스냅샷 간격 10초 | 1 스냅샷 = 25,600 샘플 -&gt; RMS 1행
  - 레이블: 잔여수명(RUL, 분) + 열화 단계(Stage 1~4)
  - 피처 12개: h_rms, v_rms, h_kurt, v_skew, h_p2p, v_p2p ...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04000" y="6552000"/>
            <a:ext cx="7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0000" y="108000"/>
            <a:ext cx="115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497D"/>
                </a:solidFill>
              </a:rPr>
              <a:t>II-A | 지도학습 + 비지도 학습 병행 사유 및 결과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648000"/>
          <a:ext cx="11880000" cy="19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0"/>
                <a:gridCol w="5220000"/>
                <a:gridCol w="5220000"/>
              </a:tblGrid>
              <a:tr h="3300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지도학습 (RF/GBM/SVM/LR)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비지도학습 (Autoencoder)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학습 방식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레이블(열화 Stage) 기반 직접 분류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정상 데이터만으로 재구성 오차 학습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현장 적용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레이블 존재 설비에 즉시 적용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신규 설비 / 레이블 없는 현장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핵심 지표</a:t>
                      </a:r>
                    </a:p>
                  </a:txBody>
                  <a:tcPr>
                    <a:solidFill>
                      <a:srgbClr val="FFF9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OOS F1=0.920, Recall=0.875 (RF)</a:t>
                      </a:r>
                    </a:p>
                  </a:txBody>
                  <a:tcPr>
                    <a:solidFill>
                      <a:srgbClr val="FFF9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AUC=0.880, 임계값 자동 최적화</a:t>
                      </a:r>
                    </a:p>
                  </a:txBody>
                  <a:tcPr>
                    <a:solidFill>
                      <a:srgbClr val="FFF9F0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역할</a:t>
                      </a:r>
                    </a:p>
                  </a:txBody>
                  <a:tcPr>
                    <a:solidFill>
                      <a:srgbClr val="F3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열화 단계 분류 + 오탐 최소화</a:t>
                      </a:r>
                    </a:p>
                  </a:txBody>
                  <a:tcPr>
                    <a:solidFill>
                      <a:srgbClr val="F3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미지(未知) 이상 패턴 조기 감지</a:t>
                      </a:r>
                    </a:p>
                  </a:txBody>
                  <a:tcPr>
                    <a:solidFill>
                      <a:srgbClr val="F3F0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결합 효과</a:t>
                      </a:r>
                    </a:p>
                  </a:txBody>
                  <a:tcPr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분류 정확도 + 미지 이상탐지 = 완성형 PdM</a:t>
                      </a:r>
                    </a:p>
                  </a:txBody>
                  <a:tcPr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>
                    <a:solidFill>
                      <a:srgbClr val="FDECE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80000" y="3240000"/>
            <a:ext cx="118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497D"/>
                </a:solidFill>
              </a:rPr>
              <a:t>결론: RF(지도)로 알려진 열화 분류 + AE(비지도)로 미지 이상 감지 → 산업 현장 이중 안전망 구축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04000" y="6552000"/>
            <a:ext cx="7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0000" y="108000"/>
            <a:ext cx="115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497D"/>
                </a:solidFill>
              </a:rPr>
              <a:t>II-B | 비교 모델 선정 사유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648000"/>
          <a:ext cx="11880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0"/>
                <a:gridCol w="5400000"/>
                <a:gridCol w="1620000"/>
                <a:gridCol w="1620000"/>
                <a:gridCol w="1440000"/>
              </a:tblGrid>
              <a:tr h="3000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모델</a:t>
                      </a:r>
                    </a:p>
                  </a:txBody>
                  <a:tcPr>
                    <a:solidFill>
                      <a:srgbClr val="2E5A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선정 이유</a:t>
                      </a:r>
                    </a:p>
                  </a:txBody>
                  <a:tcPr>
                    <a:solidFill>
                      <a:srgbClr val="2E5A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OOS Recall</a:t>
                      </a:r>
                    </a:p>
                  </a:txBody>
                  <a:tcPr>
                    <a:solidFill>
                      <a:srgbClr val="2E5A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OOS F1</a:t>
                      </a:r>
                    </a:p>
                  </a:txBody>
                  <a:tcPr>
                    <a:solidFill>
                      <a:srgbClr val="2E5A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채택</a:t>
                      </a:r>
                    </a:p>
                  </a:txBody>
                  <a:tcPr>
                    <a:solidFill>
                      <a:srgbClr val="2E5A8E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22222"/>
                          </a:solidFill>
                        </a:rPr>
                        <a:t>RF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피캘 중요도 해석 + 비선형 강건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0.875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0.920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★ 최종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22222"/>
                          </a:solidFill>
                        </a:rPr>
                        <a:t>XGBoost</a:t>
                      </a:r>
                    </a:p>
                  </a:txBody>
                  <a:tcPr>
                    <a:solidFill>
                      <a:srgbClr val="F0F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불균형 클래스 강조 · 희소 이상탐지</a:t>
                      </a:r>
                    </a:p>
                  </a:txBody>
                  <a:tcPr>
                    <a:solidFill>
                      <a:srgbClr val="F0F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0.863</a:t>
                      </a:r>
                    </a:p>
                  </a:txBody>
                  <a:tcPr>
                    <a:solidFill>
                      <a:srgbClr val="F0F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0.912</a:t>
                      </a:r>
                    </a:p>
                  </a:txBody>
                  <a:tcPr>
                    <a:solidFill>
                      <a:srgbClr val="F0F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준수</a:t>
                      </a:r>
                    </a:p>
                  </a:txBody>
                  <a:tcPr>
                    <a:solidFill>
                      <a:srgbClr val="F0F8E8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22222"/>
                          </a:solidFill>
                        </a:rPr>
                        <a:t>GBM</a:t>
                      </a:r>
                    </a:p>
                  </a:txBody>
                  <a:tcPr>
                    <a:solidFill>
                      <a:srgbClr val="FFF9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점진 학습 · 이상치 강건</a:t>
                      </a:r>
                    </a:p>
                  </a:txBody>
                  <a:tcPr>
                    <a:solidFill>
                      <a:srgbClr val="FFF9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0.851</a:t>
                      </a:r>
                    </a:p>
                  </a:txBody>
                  <a:tcPr>
                    <a:solidFill>
                      <a:srgbClr val="FFF9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0.905</a:t>
                      </a:r>
                    </a:p>
                  </a:txBody>
                  <a:tcPr>
                    <a:solidFill>
                      <a:srgbClr val="FFF9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준수</a:t>
                      </a:r>
                    </a:p>
                  </a:txBody>
                  <a:tcPr>
                    <a:solidFill>
                      <a:srgbClr val="FFF9F0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22222"/>
                          </a:solidFill>
                        </a:rPr>
                        <a:t>SVM(RBF)</a:t>
                      </a:r>
                    </a:p>
                  </a:txBody>
                  <a:tcPr>
                    <a:solidFill>
                      <a:srgbClr val="F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고차원 마진 최대화 · 소규모 적합</a:t>
                      </a:r>
                    </a:p>
                  </a:txBody>
                  <a:tcPr>
                    <a:solidFill>
                      <a:srgbClr val="F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0.840</a:t>
                      </a:r>
                    </a:p>
                  </a:txBody>
                  <a:tcPr>
                    <a:solidFill>
                      <a:srgbClr val="F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0.893</a:t>
                      </a:r>
                    </a:p>
                  </a:txBody>
                  <a:tcPr>
                    <a:solidFill>
                      <a:srgbClr val="F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중간</a:t>
                      </a:r>
                    </a:p>
                  </a:txBody>
                  <a:tcPr>
                    <a:solidFill>
                      <a:srgbClr val="F8F0FF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22222"/>
                          </a:solidFill>
                        </a:rPr>
                        <a:t>LR</a:t>
                      </a:r>
                    </a:p>
                  </a:txBody>
                  <a:tcPr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기준선 · Recall 최상위(0.890)</a:t>
                      </a:r>
                    </a:p>
                  </a:txBody>
                  <a:tcPr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0.890</a:t>
                      </a:r>
                    </a:p>
                  </a:txBody>
                  <a:tcPr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0.878</a:t>
                      </a:r>
                    </a:p>
                  </a:txBody>
                  <a:tcPr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Recall 특화</a:t>
                      </a:r>
                    </a:p>
                  </a:txBody>
                  <a:tcPr>
                    <a:solidFill>
                      <a:srgbClr val="FDECE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80000" y="3240000"/>
            <a:ext cx="118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497D"/>
                </a:solidFill>
              </a:rPr>
              <a:t>최종 채택: RF (F1 0.920 최고 + 피캘 해석 우수) | LR은 Recall 특화 운영 병행 검토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04000" y="6552000"/>
            <a:ext cx="7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0000" y="108000"/>
            <a:ext cx="115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★ | 결론 · 한계점 · 고도화 로드맵 (Phase 1~3)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648000"/>
          <a:ext cx="11880000" cy="1007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0000"/>
                <a:gridCol w="1980000"/>
                <a:gridCol w="6840000"/>
                <a:gridCol w="1440000"/>
              </a:tblGrid>
              <a:tr h="251999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>
                    <a:solidFill>
                      <a:srgbClr val="2E5A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목표</a:t>
                      </a:r>
                    </a:p>
                  </a:txBody>
                  <a:tcPr>
                    <a:solidFill>
                      <a:srgbClr val="2E5A8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핵심 항목</a:t>
                      </a:r>
                    </a:p>
                  </a:txBody>
                  <a:tcPr>
                    <a:solidFill>
                      <a:srgbClr val="2E5A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기간</a:t>
                      </a:r>
                    </a:p>
                  </a:txBody>
                  <a:tcPr>
                    <a:solidFill>
                      <a:srgbClr val="2E5A8E"/>
                    </a:solidFill>
                  </a:tcPr>
                </a:tc>
              </a:tr>
              <a:tr h="251999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Phase 1</a:t>
                      </a:r>
                    </a:p>
                  </a:txBody>
                  <a:tcPr>
                    <a:solidFill>
                      <a:srgbClr val="1A4A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시스템 안정화</a:t>
                      </a:r>
                    </a:p>
                  </a:txBody>
                  <a:tcPr>
                    <a:solidFill>
                      <a:srgbClr val="1A4A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</a:rPr>
                        <a:t>데이터 수집 파이프라인 / 레이블 품질 / 하이퍼파라미터 정밀 튜닝</a:t>
                      </a:r>
                    </a:p>
                  </a:txBody>
                  <a:tcPr>
                    <a:solidFill>
                      <a:srgbClr val="1A4A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3개월</a:t>
                      </a:r>
                    </a:p>
                  </a:txBody>
                  <a:tcPr>
                    <a:solidFill>
                      <a:srgbClr val="1A4A6E"/>
                    </a:solidFill>
                  </a:tcPr>
                </a:tc>
              </a:tr>
              <a:tr h="251999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Phase 2</a:t>
                      </a:r>
                    </a:p>
                  </a:txBody>
                  <a:tcPr>
                    <a:solidFill>
                      <a:srgbClr val="184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실시간+멀티센서</a:t>
                      </a:r>
                    </a:p>
                  </a:txBody>
                  <a:tcPr>
                    <a:solidFill>
                      <a:srgbClr val="18406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</a:rPr>
                        <a:t>Kafka 실시간 스트리밍 / 온도·전류 센서 / REST API / Docker 배포</a:t>
                      </a:r>
                    </a:p>
                  </a:txBody>
                  <a:tcPr>
                    <a:solidFill>
                      <a:srgbClr val="184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6개월</a:t>
                      </a:r>
                    </a:p>
                  </a:txBody>
                  <a:tcPr>
                    <a:solidFill>
                      <a:srgbClr val="184060"/>
                    </a:solidFill>
                  </a:tcPr>
                </a:tc>
              </a:tr>
              <a:tr h="25200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Phase 3</a:t>
                      </a:r>
                    </a:p>
                  </a:txBody>
                  <a:tcPr>
                    <a:solidFill>
                      <a:srgbClr val="162E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범용 PdM 플랫폼</a:t>
                      </a:r>
                    </a:p>
                  </a:txBody>
                  <a:tcPr>
                    <a:solidFill>
                      <a:srgbClr val="162E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</a:rPr>
                        <a:t>전이학습 도메인 적응 / 멀티베어링 / LLM 진단 리포트 자동화</a:t>
                      </a:r>
                    </a:p>
                  </a:txBody>
                  <a:tcPr>
                    <a:solidFill>
                      <a:srgbClr val="162E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12개월</a:t>
                      </a:r>
                    </a:p>
                  </a:txBody>
                  <a:tcPr>
                    <a:solidFill>
                      <a:srgbClr val="162E46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80000" y="1800000"/>
            <a:ext cx="5760000" cy="30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CC66"/>
                </a:solidFill>
              </a:rPr>
              <a:t>[ 한계점 ]
1) 7 베어링 소규모 -&gt; 일반화 한계
2) 단일 운전조건(1800rpm 중심)
3) 2채널 센서만 (온도/전류 미포함)
4) 배치 처리 (실시간 미구현)
5) RF 레이블 의존 -&gt; 신규 설비 한계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0000" y="1800000"/>
            <a:ext cx="5760000" cy="30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9FFCC"/>
                </a:solidFill>
              </a:rPr>
              <a:t>[ 고도화 방안 ]
A) 전이학습 (EfficientNetB0 도메인 적응)
B) GAN 데이터 증강 (희소 이상 보강)
C) Kafka 실시간 파이프라인 구현
D) Stacking 앙상블 (RF+GBM+AE 결합)
E) LLM 진단 리포트 (GPT-4o 연동)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04000" y="6552000"/>
            <a:ext cx="7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FEMTO-ST 베어링 RUL 예측 — ML+DL 통합 예지보전</dc:title>
  <dc:subject>PptxGenJS Presentation</dc:subject>
  <dc:creator>허남</dc:creator>
  <cp:lastModifiedBy>허남</cp:lastModifiedBy>
  <cp:revision>1</cp:revision>
  <dcterms:created xsi:type="dcterms:W3CDTF">2026-06-30T01:06:45Z</dcterms:created>
  <dcterms:modified xsi:type="dcterms:W3CDTF">2026-06-30T01:06:45Z</dcterms:modified>
</cp:coreProperties>
</file>