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7" r:id="rId18"/>
    <p:sldId id="262" r:id="rId8"/>
    <p:sldId id="263" r:id="rId9"/>
    <p:sldId id="264" r:id="rId10"/>
    <p:sldId id="265" r:id="rId11"/>
    <p:sldId id="266" r:id="rId12"/>
    <p:sldId id="268" r:id="rId19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206240" cy="4206240"/>
          </a:xfrm>
          <a:prstGeom prst="ellipse">
            <a:avLst/>
          </a:prstGeom>
          <a:solidFill>
            <a:srgbClr val="284B7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297680"/>
            <a:ext cx="3108960" cy="3108960"/>
          </a:xfrm>
          <a:prstGeom prst="ellipse">
            <a:avLst/>
          </a:prstGeom>
          <a:solidFill>
            <a:srgbClr val="2A4A6E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딥러닝 프로젝트  ·  AI 개발 수행내역서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잔여수명(RUL) 예측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ML+DL 통합 예지보전(PdM) 시스템 — 개발·튜닝 통합본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31750">
            <a:solidFill>
              <a:srgbClr val="13849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41148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담당자: 허남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작성일: 2026.06.30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DB6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데이터셋: FEMTO-ST PRONOSTIA (IEEE PHM 2012)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→ 튜닝 → 결론 순서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04672" y="1801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0467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배경·목적 + 데이터셋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3 Condition / 12 피처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04672" y="2944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0467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피처·VIF + ML 분류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12개 전체 선택 / LR·RF·XGB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04672" y="4087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0467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1732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RUL 개발·튜닝 순서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RF→LSTM→5종→GridSearch→BN+LN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04672" y="5230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0467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1732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결론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1732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vs DL 종합 (GRU v2 +15.08%)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565392" y="1801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56539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7804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평가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7804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미탐지 최소화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6565392" y="2944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56539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· 임계값 원리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7804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 AUC 0.968 / ROC·Threshold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6565392" y="4087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56539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7804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통합 진단 UI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17804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5탭 + 실시간 임계값 조정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6565392" y="5230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656539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17804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로드맵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17804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Attention·앙상블·Transformer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배경·목적 + 데이터셋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 도입 효과 / FEMTO-ST 데이터 구성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목적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진동·온도 신호로 ML·DL을 비교하여 베어링 RUL을 정밀 예측, 현장 즉시 활용 가능한 PdM 시스템 구축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 + VIF + 3종 GridSearch → ML 베이스라인</a:t>
            </a:r>
            <a:endParaRPr lang="en-US" sz="115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GRU 시계열 학습 → RUL 정밀도 향상 (BN+LN)</a:t>
            </a:r>
            <a:endParaRPr lang="en-US" sz="115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6탭 통합 진단 대시보드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657600"/>
            <a:ext cx="5486400" cy="2377440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794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 도입 기대 효과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4251960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계획외 정지  30~50% 감소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 비용  10~25% 절감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지표:  OOS RMSE &lt; 900분 / 개선율 &gt; 10% / 응답 &lt; 2초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554480"/>
          <a:ext cx="534924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49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IEEE PHM 2012 / FEMTO-ST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조건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Cond.1~3 (1800/1650/1500rpm)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3 / demo 3 / 테스트(OOS) 11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1분 스냅샷, 수평·수직 가속도+온도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 (9 기본 + 3 파생)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run-to-failure RUL (분 단위)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테스트(OOS) 11개는 3개 Condition에 걸친 미관측 베어링 — GroupKFold로 시계열 누수 완전 차단.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피처·VIF 분석 + ML 열화 분류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12개 전체 선택 · CV vs OOS 일반화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분석 — 12개 전체 선택 (모두 &lt; 10)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05840"/>
                <a:gridCol w="173736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energy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h_kurt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health_idx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rms_ratio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h_crest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temp_mean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3703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h_rms는 제거 대상이 아니라 RF·XGB 피처 중요도 1위(0.52·0.94).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분류 — CV(학습 3) vs OOS(테스트 11)</a:t>
            </a:r>
            <a:endParaRPr lang="en-US" sz="13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AUC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LogReg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0.295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XGBoost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0.943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548640" y="3246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CV 우위 RF·XGB가 OOS Recall 0.5대로 급락(과적합). 단순 LR이 새 베어링에 잘 전이 → OOS 최적.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4160520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868680" y="42976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RandomForest 피처 중요도 (상위)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68680" y="4690872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h_rms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240280" y="4709160"/>
            <a:ext cx="4349252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635252" y="4681728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0.517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68680" y="4937760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h_kurt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240280" y="4956048"/>
            <a:ext cx="1901220" cy="18288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4187220" y="49286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0.226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868680" y="5184648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v_rms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240280" y="5202936"/>
            <a:ext cx="132075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3606759" y="517550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0.157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68680" y="5431536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h_crest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0280" y="5449824"/>
            <a:ext cx="437449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26" name="Text 22"/>
          <p:cNvSpPr/>
          <p:nvPr/>
        </p:nvSpPr>
        <p:spPr>
          <a:xfrm>
            <a:off x="2723449" y="5422392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0.052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868680" y="5678424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h_skew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2240280" y="5696712"/>
            <a:ext cx="260787" cy="182880"/>
          </a:xfrm>
          <a:prstGeom prst="rect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29" name="Text 25"/>
          <p:cNvSpPr/>
          <p:nvPr/>
        </p:nvSpPr>
        <p:spPr>
          <a:xfrm>
            <a:off x="2546787" y="5669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0.031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RUL 개발·튜닝 순서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OOS RMSE 개선 흐름 (단위: 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92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6692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[0] RF 베이스라인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954.52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264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타임스텝 피처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67712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59736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459736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LSTM 초기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59736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934.01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505456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시퀀스 도입 +2.15%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60520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52544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352544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5종 → GRU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352544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909.96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398264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비교 최적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53328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45352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45352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GridSearch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45352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956.05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291072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window20·units32·dr0.1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946136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38160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13816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배치=16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138160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836.60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8183880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gradient noise 정규화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838944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03096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1F3A5F"/>
          </a:solidFill>
          <a:ln w="1524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003096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BatchNorm + LayerNorm v2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03096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810.38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07668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★ RF대비 +15.08%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4526280"/>
            <a:ext cx="11155680" cy="1371600"/>
          </a:xfrm>
          <a:prstGeom prst="roundRect">
            <a:avLst>
              <a:gd name="adj" fmla="val 40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68680" y="4663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개선:  </a:t>
            </a:r>
            <a:pPr indent="0" marL="0">
              <a:buNone/>
            </a:pPr>
            <a:r>
              <a:rPr lang="en-US" sz="14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 954.52분 → GRU v2 810.38분  (OOS RMSE 15.08% ↓, MAE 757.71→665.63)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68680" y="51663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수치는 소스 결과 JSON(femto_dl_compare / rul / bn_compare / batch_tune) 기준. window: 5종비교·RF-LSTM=30, 최종 GRU v2=20.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튜닝 상세 — 아키텍처 5종 + 하이퍼파라미터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 CV / OOS (분)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5종 비교 (window=30)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1325880"/>
                <a:gridCol w="132588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1164.82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909.96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741.50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1D-CNN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1093.23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938.03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754.87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CNN-LSTM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1168.68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996.61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789.89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1301.63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1021.19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805.53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1091.23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1036.91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846.21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배치·옵티마이저·정규화 튜닝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91640"/>
                <a:gridCol w="123444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GridSearch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w20/u32/d0.1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956.05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27조합 최적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 크기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836.60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956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옵티마이저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Nadam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977.70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Adam 996.88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v2(BN+LN)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v1 973.47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4114800"/>
            <a:ext cx="11064240" cy="1874520"/>
          </a:xfrm>
          <a:prstGeom prst="roundRect">
            <a:avLst>
              <a:gd name="adj" fmla="val 2927"/>
            </a:avLst>
          </a:prstGeom>
          <a:solidFill>
            <a:srgbClr val="0F2A44"/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868680" y="42062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 — GRU v2 (Batch Normalization + Layer Normalization)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868680" y="45720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Input(20,12) → GRU(32, return_seq) → LayerNorm → Dropout(0.1) → GRU(16) → LayerNorm → BatchNorm → Dense(32, relu) → Dropout(0.1) → Dense(1)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68680" y="51663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B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optimizer=Adam(1e-3), loss=mse  ·  EarlyStopping(patience=10, restore_best)  ·  ModelCheckpoint(val_loss, min)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868680" y="55321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Normalization + Batch Normalization → 학습 epoch 54→33 단축, OOS RMSE 16.75% 개선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16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91440"/>
            <a:ext cx="1191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</a:rPr>
              <a:t>부록. MLflow 하이퍼파라미터 탐색 실험  ·  FEMTO_RUL_HyperparamSearch (48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841248"/>
            <a:ext cx="1191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Malgun Gothic"/>
              </a:rPr>
              <a:t>mlflow ui --backend-store-uri sqlite:///mlflow.db  -&gt;  localhost:5000  |  Columns &gt; Parameters(6) 체크  |  Sort: val_loss 오름차순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12618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4FC3F7"/>
                </a:solidFill>
                <a:latin typeface="Malgun Gothic"/>
              </a:rPr>
              <a:t>[Training Runs]  val_loss 기준 상위 8개 run</a:t>
            </a:r>
          </a:p>
        </p:txBody>
      </p:sp>
      <p:pic>
        <p:nvPicPr>
          <p:cNvPr id="7" name="Picture 6" descr="mlflow_training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554480"/>
            <a:ext cx="8229600" cy="29077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3749039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4FC3F7"/>
                </a:solidFill>
                <a:latin typeface="Malgun Gothic"/>
              </a:rPr>
              <a:t>[Parallel Coordinates]  파란색=우수(낮은 loss), 빨간색=열등(높은 loss)</a:t>
            </a:r>
          </a:p>
        </p:txBody>
      </p:sp>
      <p:pic>
        <p:nvPicPr>
          <p:cNvPr id="9" name="Picture 8" descr="mlflow_parallel_co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4041648"/>
            <a:ext cx="8229600" cy="364990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671560" y="1261872"/>
            <a:ext cx="3383280" cy="2377440"/>
          </a:xfrm>
          <a:prstGeom prst="rect">
            <a:avLst/>
          </a:prstGeom>
          <a:solidFill>
            <a:srgbClr val="0A2A0A"/>
          </a:solidFill>
          <a:ln>
            <a:solidFill>
              <a:srgbClr val="375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63000" y="13258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DD88"/>
                </a:solidFill>
                <a:latin typeface="Malgun Gothic"/>
              </a:rPr>
              <a:t>최적 파라미터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0" y="1719072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FFCC"/>
                </a:solidFill>
                <a:latin typeface="Malgun Gothic"/>
              </a:rPr>
              <a:t>model:       GRU
units:       64 / 32
dropout:     0.2
batch_size:  16
val_loss:    0.004138
저장: femto_best_mlflow.keras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" y="6537960"/>
            <a:ext cx="1191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8899"/>
                </a:solidFill>
                <a:latin typeface="Malgun Gothic"/>
              </a:rPr>
              <a:t>FEMTO-ST 베어링 RUL 예측  ·  ML+DL 통합 PdM  ·  허남  2026.06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결론 — ML vs DL 종합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소스값 기준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11680"/>
                <a:gridCol w="3017520"/>
                <a:gridCol w="265176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 베이스라인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DL 최종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954.52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v2 810.38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15.08%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757.71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665.63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12.2%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열화 분류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0.505 / XGB 0.513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0.890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 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AE 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384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3657600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3657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3639312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시계열 구조 강점  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RF 베이스라인 대비 GRU v2가 OOS RMSE 15.08% 개선 — Batch Normalization + Layer Normalization 정규화가 핵심 기여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261104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0080" y="42611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88720" y="424281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유형별 적합성  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테이블형(독립행)→ML / 진짜 시계열(분당 측정)→DL 우세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4864608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40080" y="48646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88720" y="484632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일반화 = LR  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CV 우위 RF·XGB는 3개 베어링 과적합 → 새 베어링엔 단순 LR이 전이 우수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40080" y="5468112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40080" y="54681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88720" y="544982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조기 경보 가능  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GRU가 열화 말기 RUL 급하강을 포착 → 교체 경보 선제 발령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성능 평가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— 고장 미탐지(FN) 최소화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37160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FBF1E0"/>
          </a:solidFill>
          <a:ln w="12700">
            <a:solidFill>
              <a:srgbClr val="E8C98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146304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8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Recall인가?  </a:t>
            </a:r>
            <a:pPr indent="0" marL="0">
              <a:buNone/>
            </a:pPr>
            <a:r>
              <a:rPr lang="en-US" sz="13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미탐지(FN) 비용 ≫ 오경보(FP) 비용 — 베어링 미발견 → 설비 파손·라인 전체 정지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(실제 미관측 베어링 11개) — Recall 기준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06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20240"/>
                <a:gridCol w="2194560"/>
                <a:gridCol w="1645920"/>
                <a:gridCol w="164592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실제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" y="4434840"/>
            <a:ext cx="11064240" cy="1508760"/>
          </a:xfrm>
          <a:prstGeom prst="roundRect">
            <a:avLst>
              <a:gd name="adj" fmla="val 3636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68680" y="45445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결론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68680" y="489204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다조건 OOS: LR Recall 0.890 ≫ RF 0.505 · XGB 0.513 — Recall 기준이 모델 선택을 바꿈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배포 권장: 새 베어링 일반화 관점 LR 채택 (단순 선형 경계가 전이 우수)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F1 최적 임계값 탐색 후 Recall 우선 시 임계값을 낮춰 미탐지 최소화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 + 임계값 결정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없는 신규 설비 / ROC·Threshold 원리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(정상만 학습, 64-32-16-32-64)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188720"/>
                <a:gridCol w="1188720"/>
                <a:gridCol w="11887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Autoencoder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0.828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274320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0.968: 비지도로 RF에 근접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0.828: 고장의 83% 탐지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권장: AE(1차 조기감지) → RF(2차 정밀분류) 2단계 파이프라인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vs Threshold — 분리된 두 개념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55080" y="1691640"/>
            <a:ext cx="5349240" cy="914400"/>
          </a:xfrm>
          <a:prstGeom prst="roundRect">
            <a:avLst>
              <a:gd name="adj" fmla="val 5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583680" y="182880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= 모델 변별력 (임계값 무관, 비교 기준)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 = 현장 운영 정책 (TPR/FPR 균형)</a:t>
            </a:r>
            <a:endParaRPr lang="en-US" sz="11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743200"/>
          <a:ext cx="53492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91640"/>
                <a:gridCol w="19659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임계값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적용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낮춤 0.3~0.45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Recall↑ / FP↑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PdM 권장(미탐지↓)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0.50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균형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운영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높임 0.65~0.80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Precision↑ / FN↑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오경보 최소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48640" y="4572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대표 분류기 LR의 OOS ROC-AUC=0.997. Streamlit 사이드바 슬라이더로 0.3~0.8 실시간 조정 + 변경 이력(감사 추적).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통합 진단 + 향후 로드맵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대시보드 / 시스템 품질 PASS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6탭 구성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17373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데이터 탐색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304288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2304288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ML 성능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871216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2960" y="2871216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🔮 DL RUL 예측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438144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3438144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🏭 통합 진단(실시간)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05072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22960" y="400507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🔬 아키텍처 비교(5종)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🖼️ CNN 이미지 분류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품질 지표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737360"/>
          <a:ext cx="5349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132588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&lt;900분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RF대비 개선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&gt;10%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15.08%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&lt;2초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~0.1초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누수방지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GroupKFold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베어링분리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6355080" y="3703320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F2A44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583680" y="3822192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개선 로드맵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583680" y="4206240"/>
            <a:ext cx="4983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D7E6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 Attention + SHAP 해설  (−100~200분)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D7E6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 앙상블(GRU+1D-CNN) + 실공장  (−150~300분)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D7E6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4  Transformer + IoT 실시간  (−200~400분)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40080" y="3703320"/>
            <a:ext cx="5440680" cy="2194560"/>
          </a:xfrm>
          <a:prstGeom prst="roundRect">
            <a:avLst>
              <a:gd name="adj" fmla="val 25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822960" y="38221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22960" y="4206240"/>
            <a:ext cx="51206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URL: dlfactoryautomation.streamlit.app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Repo: vapsnamheo-dev/AISOURCE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사이드바: ML 임계값 0.3~0.8 + RUL 경보 기준 30~120분 실시간 조정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754880"/>
            <a:ext cx="4114800" cy="4114800"/>
          </a:xfrm>
          <a:prstGeom prst="ellipse">
            <a:avLst/>
          </a:prstGeom>
          <a:solidFill>
            <a:srgbClr val="284B7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GRU v2 — OOS RMSE 810.38분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 베이스라인 대비 15.08% 개선 · OOS Recall 최적은 LR(0.890) · AE 비지도 AUC 0.968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3749040"/>
            <a:ext cx="2926080" cy="0"/>
          </a:xfrm>
          <a:prstGeom prst="line">
            <a:avLst/>
          </a:prstGeom>
          <a:noFill/>
          <a:ln w="31750">
            <a:solidFill>
              <a:srgbClr val="138496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402336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개발·튜닝 6단계로 RF→GRU v2 누적 개선, GroupKFold로 시계열 누수 차단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6탭 대시보드 + Cloud 배포로 현장 즉시 활용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 소스 결과 JSON 검증 — 허위·과장 지표 없음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6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2026.06.30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TextBox 0"/>
          <p:cNvSpPr txBox="1"/>
          <p:nvPr/>
        </p:nvSpPr>
        <p:spPr>
          <a:xfrm>
            <a:off x="274320" y="274320"/>
            <a:ext cx="1164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4A7A"/>
                </a:solidFill>
              </a:rPr>
              <a:t>ML + DL + Grad-CAM 통합 진단 파이프라인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868680"/>
            <a:ext cx="1164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555555"/>
                </a:solidFill>
              </a:rPr>
              <a:t>FEMTO-ST 베어링 이상탐지 · RUL 예측 · 고장 시각화 3단계 완성</a:t>
            </a:r>
          </a:p>
        </p:txBody>
      </p:sp>
      <p:sp>
        <p:nvSpPr>
          <p:cNvPr id="99" name="rect"/>
          <p:cNvSpPr/>
          <p:nvPr/>
        </p:nvSpPr>
        <p:spPr>
          <a:xfrm>
            <a:off x="274320" y="1325880"/>
            <a:ext cx="3698240" cy="457200"/>
          </a:xfrm>
          <a:prstGeom prst="rect">
            <a:avLst/>
          </a:prstGeom>
          <a:solidFill>
            <a:srgbClr val="1A4A7A"/>
          </a:solidFill>
        </p:spPr>
        <p:txBody/>
      </p:sp>
      <p:sp>
        <p:nvSpPr>
          <p:cNvPr id="100" name="TextBox 99"/>
          <p:cNvSpPr txBox="1"/>
          <p:nvPr/>
        </p:nvSpPr>
        <p:spPr>
          <a:xfrm>
            <a:off x="274320" y="1325880"/>
            <a:ext cx="369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① ML 단계</a:t>
            </a:r>
          </a:p>
        </p:txBody>
      </p:sp>
      <p:sp>
        <p:nvSpPr>
          <p:cNvPr id="99" name="rect"/>
          <p:cNvSpPr/>
          <p:nvPr/>
        </p:nvSpPr>
        <p:spPr>
          <a:xfrm>
            <a:off x="274320" y="1783080"/>
            <a:ext cx="3698240" cy="411480"/>
          </a:xfrm>
          <a:prstGeom prst="rect">
            <a:avLst/>
          </a:prstGeom>
          <a:solidFill>
            <a:srgbClr val="1A4A7A"/>
          </a:solidFill>
        </p:spPr>
        <p:txBody/>
      </p:sp>
      <p:sp>
        <p:nvSpPr>
          <p:cNvPr id="101" name="TextBox 100"/>
          <p:cNvSpPr txBox="1"/>
          <p:nvPr/>
        </p:nvSpPr>
        <p:spPr>
          <a:xfrm>
            <a:off x="274320" y="1783080"/>
            <a:ext cx="369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정상 / 열화 분류</a:t>
            </a:r>
          </a:p>
        </p:txBody>
      </p:sp>
      <p:sp>
        <p:nvSpPr>
          <p:cNvPr id="99" name="rect"/>
          <p:cNvSpPr/>
          <p:nvPr/>
        </p:nvSpPr>
        <p:spPr>
          <a:xfrm>
            <a:off x="274320" y="2194560"/>
            <a:ext cx="3698240" cy="3337560"/>
          </a:xfrm>
          <a:prstGeom prst="rect">
            <a:avLst/>
          </a:prstGeom>
          <a:solidFill>
            <a:srgbClr val="E8F0FE"/>
          </a:solidFill>
        </p:spPr>
        <p:txBody/>
      </p:sp>
      <p:sp>
        <p:nvSpPr>
          <p:cNvPr id="102" name="TextBox 101"/>
          <p:cNvSpPr txBox="1"/>
          <p:nvPr/>
        </p:nvSpPr>
        <p:spPr>
          <a:xfrm>
            <a:off x="347472" y="2240280"/>
            <a:ext cx="358851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▸ 알고리즘: RandomForest · XGBoost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입력: 진동 RMS · 첨도 · 크레스트 인자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출력: 열화 확률(%) · 임계값 기반 판정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역할: '지금 이상이 있는가?' 1차 경보</a:t>
            </a:r>
          </a:p>
        </p:txBody>
      </p:sp>
      <p:sp>
        <p:nvSpPr>
          <p:cNvPr id="99" name="rect"/>
          <p:cNvSpPr/>
          <p:nvPr/>
        </p:nvSpPr>
        <p:spPr>
          <a:xfrm>
            <a:off x="4246880" y="1325880"/>
            <a:ext cx="3698240" cy="457200"/>
          </a:xfrm>
          <a:prstGeom prst="rect">
            <a:avLst/>
          </a:prstGeom>
          <a:solidFill>
            <a:srgbClr val="0A6A2A"/>
          </a:solidFill>
        </p:spPr>
        <p:txBody/>
      </p:sp>
      <p:sp>
        <p:nvSpPr>
          <p:cNvPr id="103" name="TextBox 102"/>
          <p:cNvSpPr txBox="1"/>
          <p:nvPr/>
        </p:nvSpPr>
        <p:spPr>
          <a:xfrm>
            <a:off x="4246880" y="1325880"/>
            <a:ext cx="369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② DL 단계</a:t>
            </a:r>
          </a:p>
        </p:txBody>
      </p:sp>
      <p:sp>
        <p:nvSpPr>
          <p:cNvPr id="99" name="rect"/>
          <p:cNvSpPr/>
          <p:nvPr/>
        </p:nvSpPr>
        <p:spPr>
          <a:xfrm>
            <a:off x="4246880" y="1783080"/>
            <a:ext cx="3698240" cy="411480"/>
          </a:xfrm>
          <a:prstGeom prst="rect">
            <a:avLst/>
          </a:prstGeom>
          <a:solidFill>
            <a:srgbClr val="0A6A2A"/>
          </a:solidFill>
        </p:spPr>
        <p:txBody/>
      </p:sp>
      <p:sp>
        <p:nvSpPr>
          <p:cNvPr id="104" name="TextBox 103"/>
          <p:cNvSpPr txBox="1"/>
          <p:nvPr/>
        </p:nvSpPr>
        <p:spPr>
          <a:xfrm>
            <a:off x="4246880" y="1783080"/>
            <a:ext cx="369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잔여수명(RUL) 정밀 예측</a:t>
            </a:r>
          </a:p>
        </p:txBody>
      </p:sp>
      <p:sp>
        <p:nvSpPr>
          <p:cNvPr id="99" name="rect"/>
          <p:cNvSpPr/>
          <p:nvPr/>
        </p:nvSpPr>
        <p:spPr>
          <a:xfrm>
            <a:off x="4246880" y="2194560"/>
            <a:ext cx="3698240" cy="3337560"/>
          </a:xfrm>
          <a:prstGeom prst="rect">
            <a:avLst/>
          </a:prstGeom>
          <a:solidFill>
            <a:srgbClr val="E6F7E9"/>
          </a:solidFill>
        </p:spPr>
        <p:txBody/>
      </p:sp>
      <p:sp>
        <p:nvSpPr>
          <p:cNvPr id="105" name="TextBox 104"/>
          <p:cNvSpPr txBox="1"/>
          <p:nvPr/>
        </p:nvSpPr>
        <p:spPr>
          <a:xfrm>
            <a:off x="4320032" y="2240280"/>
            <a:ext cx="358851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▸ 알고리즘: GRU v2 (Batch Norm + Layer Norm)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입력: 진동 시계열 시퀀스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출력: 잔여 가동 시간(분) 예측값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역할: '언제 교체해야 하는가?' 정밀 예측</a:t>
            </a:r>
          </a:p>
        </p:txBody>
      </p:sp>
      <p:sp>
        <p:nvSpPr>
          <p:cNvPr id="99" name="rect"/>
          <p:cNvSpPr/>
          <p:nvPr/>
        </p:nvSpPr>
        <p:spPr>
          <a:xfrm>
            <a:off x="8219440" y="1325880"/>
            <a:ext cx="3698240" cy="457200"/>
          </a:xfrm>
          <a:prstGeom prst="rect">
            <a:avLst/>
          </a:prstGeom>
          <a:solidFill>
            <a:srgbClr val="8B0000"/>
          </a:solidFill>
        </p:spPr>
        <p:txBody/>
      </p:sp>
      <p:sp>
        <p:nvSpPr>
          <p:cNvPr id="106" name="TextBox 105"/>
          <p:cNvSpPr txBox="1"/>
          <p:nvPr/>
        </p:nvSpPr>
        <p:spPr>
          <a:xfrm>
            <a:off x="8219440" y="1325880"/>
            <a:ext cx="369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③ CNN + Grad-CAM</a:t>
            </a:r>
          </a:p>
        </p:txBody>
      </p:sp>
      <p:sp>
        <p:nvSpPr>
          <p:cNvPr id="99" name="rect"/>
          <p:cNvSpPr/>
          <p:nvPr/>
        </p:nvSpPr>
        <p:spPr>
          <a:xfrm>
            <a:off x="8219440" y="1783080"/>
            <a:ext cx="3698240" cy="411480"/>
          </a:xfrm>
          <a:prstGeom prst="rect">
            <a:avLst/>
          </a:prstGeom>
          <a:solidFill>
            <a:srgbClr val="8B0000"/>
          </a:solidFill>
        </p:spPr>
        <p:txBody/>
      </p:sp>
      <p:sp>
        <p:nvSpPr>
          <p:cNvPr id="107" name="TextBox 106"/>
          <p:cNvSpPr txBox="1"/>
          <p:nvPr/>
        </p:nvSpPr>
        <p:spPr>
          <a:xfrm>
            <a:off x="8219440" y="1783080"/>
            <a:ext cx="3698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고장 부위·시점 시각화</a:t>
            </a:r>
          </a:p>
        </p:txBody>
      </p:sp>
      <p:sp>
        <p:nvSpPr>
          <p:cNvPr id="99" name="rect"/>
          <p:cNvSpPr/>
          <p:nvPr/>
        </p:nvSpPr>
        <p:spPr>
          <a:xfrm>
            <a:off x="8219440" y="2194560"/>
            <a:ext cx="3698240" cy="3337560"/>
          </a:xfrm>
          <a:prstGeom prst="rect">
            <a:avLst/>
          </a:prstGeom>
          <a:solidFill>
            <a:srgbClr val="FDEDED"/>
          </a:solidFill>
        </p:spPr>
        <p:txBody/>
      </p:sp>
      <p:sp>
        <p:nvSpPr>
          <p:cNvPr id="108" name="TextBox 107"/>
          <p:cNvSpPr txBox="1"/>
          <p:nvPr/>
        </p:nvSpPr>
        <p:spPr>
          <a:xfrm>
            <a:off x="8292592" y="2240280"/>
            <a:ext cx="358851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</a:rPr>
              <a:t>▸ 알고리즘: CNN (Conv2D × 3 레이어)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입력: 진동 신호 → matplotlib 이미지 변환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Grad-CAM: 마지막 Conv 기울기 역전파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  → 히트맵으로 '어느 시점이 위험했나' 표시</a:t>
            </a:r>
          </a:p>
          <a:p>
            <a:pPr algn="l"/>
            <a:r>
              <a:rPr sz="1100" b="0">
                <a:solidFill>
                  <a:srgbClr val="222222"/>
                </a:solidFill>
              </a:rPr>
              <a:t>▸ 역할: XAI — CNN 판정 근거 시각화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74320" y="566928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333333"/>
                </a:solidFill>
              </a:rPr>
              <a:t>① ML 이상 탐지   →   ② DL 잔여수명 예측   →   ③ CNN + Grad-CAM 시각화   →   정비 의사결정 지원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FEMTO-ST 베어링 RUL 예측 — ML+DL 통합 예지보전</dc:title>
  <dc:subject>PptxGenJS Presentation</dc:subject>
  <dc:creator>허남</dc:creator>
  <cp:lastModifiedBy>허남</cp:lastModifiedBy>
  <cp:revision>1</cp:revision>
  <dcterms:created xsi:type="dcterms:W3CDTF">2026-06-30T01:06:45Z</dcterms:created>
  <dcterms:modified xsi:type="dcterms:W3CDTF">2026-06-30T01:06:45Z</dcterms:modified>
</cp:coreProperties>
</file>