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114800" cy="41148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389120"/>
            <a:ext cx="2926080" cy="2926080"/>
          </a:xfrm>
          <a:prstGeom prst="ellipse">
            <a:avLst/>
          </a:prstGeom>
          <a:solidFill>
            <a:srgbClr val="1230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AI개발 수행 결과 요약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머신러닝 기반 설비 고장 예측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(Predictive Maintenance) 모델 개발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AI4I 2020 Predictive Maintenance    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LogReg · RandomForest · XGBoost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06. 19  |  담당자 Daniel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고장은 드물지만(3.4%) 발생 시 생산 중단·비용 손실이 큼. 센서 데이터 기반 사전 예측 정비가 필요.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735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측정값으로 고장 발생 여부(정상/고장)를 분류하는 이진 분류 문제.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280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ROC-AUC ≥ 0.95, 고장 Recall ≥ 0.70, F1 ≥ 0.70 달성 및 해석 모델 vs 고성능 모델 비교.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55448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불균형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24688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3.4%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7772400" y="3657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10,000건 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339건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0" y="5120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Accuracy보다 Recall·F1·AUC로 평가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데이터 소개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데이터(건)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55848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변수(개)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63056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고장률(불균형)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70264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결측치(건)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변수 구성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수치형(5):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공기온도 · 공정온도 · 회전속도 · 토크 · 공구마모</a:t>
            </a:r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범주형(1→3): 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등급 Type(L/M/H) → 원-핫 인코딩</a:t>
            </a:r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제외: 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UDI · Product ID(식별자), Failure Type(Target 누수)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Kaggle / UCI — AI4I 2020 Predictive Maintenance Dataset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분석 프로세스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수집·확인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로드·결측·분포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33472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98648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98648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98648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상관관계·불균형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83480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48656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248656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48656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인코딩·스케일링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33488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98664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1F4E7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598664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98664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8:2 분할·3모델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83496" y="301752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48672" y="2194560"/>
            <a:ext cx="2103120" cy="219456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48672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948672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평가·비교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48672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지표·중요도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오차가 큰 경우 [EDA·전처리] 단계로 회귀하여 변수·전처리를 재설정 (Feedback Loop)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PREPROCESS &amp;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 전처리 및 EDA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709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식별자·누수 제거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UDI·Product ID 및 Failure Type(Target 직접 인코딩) 제외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761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인코딩·스케일링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272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원-핫 인코딩, 수치형 StandardScaler 표준화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813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불균형 대응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17880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stratify 분할 + class_weight / scale_pos_weight 적용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864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 점검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23036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Heatmap으로 다중공선성 및 Target 관련성 확인</a:t>
            </a:r>
            <a:endParaRPr lang="en-US" sz="1300" dirty="0"/>
          </a:p>
        </p:txBody>
      </p:sp>
      <p:pic>
        <p:nvPicPr>
          <p:cNvPr id="16" name="Image 0" descr="img/eda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45920"/>
            <a:ext cx="5394960" cy="462425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631589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그림. 변수 상관관계 Heatmap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모델 성능 비교 (8:2 분할 · 테스트 2,000건)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Logistic Regression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 Forest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 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Accuracy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0.142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0.655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0.632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0.717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XGBoost가 Recall·F1·ROC-AUC 1위로 종합 최적. Random Forest는 정밀도 최고(오경보 최소), Logistic Regression은 해석용 보조.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성능 개선 ① 다항 차수(degree) 비교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760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234440"/>
                <a:gridCol w="1234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degree=1 (현재)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0.897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0.927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0.328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0.385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 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g/degre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212080" cy="33626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다항 특성(degree↑)으로 변수 간 상호작용을 학습하여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0.242→0.385, AUC 0.907→0.948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향상. 단, 변수 수가 8→164로 급증하므로 과적합·계산비용에 유의(degree=2가 균형점).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성능 개선 ② 하이퍼파라미터 튜닝 (XGBoost)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760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91640"/>
                <a:gridCol w="1691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튜닝 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튜닝 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Accuracy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0.655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 (고장)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0.737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img/tun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212080" cy="33626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RandomizedSearchCV(F1 기준, 25회×3-fold)로 튜닝 →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Precision 0.655→0.754, F1 0.724→0.737, Accuracy 0.979→0.983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개선. (정밀도 상승 대신 Recall은 소폭 감소 — 오경보를 줄이는 방향)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Best params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n_estimators=600 · max_depth=8 · learning_rate=0.05 · subsample=0.7 · colsample_bytree=1.0 · min_child_weight=1 · gamma=0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성능 개선 ③ 데이터 확대 및 이상치 처리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이상치 식별 (IQR) 및 처리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이상치 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Rotational speed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4.2%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Torque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0.7%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외 변수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0%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6052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이상치 → 평균 대치 효과 (XGBoost)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6634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0.724 → 0.720, ROC-AUC 0.971 → 0.966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트리 모델은 이상치에 강건. 고속 운전값은 고장 신호일 수 있어 평균 대치 시 오히려 소폭 하락.</a:t>
            </a:r>
            <a:endParaRPr lang="en-US" sz="1200" dirty="0"/>
          </a:p>
        </p:txBody>
      </p:sp>
      <p:pic>
        <p:nvPicPr>
          <p:cNvPr id="9" name="Image 0" descr="img/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193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학습곡선 — 학습 데이터량 증가 효과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0" y="5532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데이터량 800 → 8,000건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ROC-AUC 0.939 → 0.973, Recall 0.574 → 0.809 향상 — 데이터 확대가 일반화에 가장 효과적. 동일 feature 13만 행(S3E17) 적용 시 추가 향상 기대.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성능 개선 ④ 과적합 진단 (Train vs Test)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Gap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LogisticRegression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-0.006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RandomForest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0.039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0.029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188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749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&amp; 개선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41148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 모델이 Train AUC=1.0으로 학습 데이터를 암기 → 과적합 (LogReg는 Gap≈0, 과적합 없음).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개선①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정규화(max_depth·min_leaf·L1/L2): Gap 0.039→0.027, Test AUC 0.961→0.966.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개선②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튜닝(0.5→0.67): Test F1 0.720 → 0.767 향상.</a:t>
            </a:r>
            <a:endParaRPr lang="en-US" sz="1200" dirty="0"/>
          </a:p>
        </p:txBody>
      </p:sp>
      <p:pic>
        <p:nvPicPr>
          <p:cNvPr id="8" name="Image 0" descr="img/overfit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5394960" cy="34806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524541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AUC=1.0인데 Test가 낮으면 과적합 신호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성능 개선 ⑤ 특성 수와 노이즈 분석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280160"/>
                <a:gridCol w="1280160"/>
                <a:gridCol w="5486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다항 차수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특성 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 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Gap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-0.006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0.012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특성 수가 8→164로 늘수록 Train-Test Gap이 커짐(과적합 시작).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41605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FFF4DE"/>
          </a:solidFill>
          <a:ln w="12700">
            <a:solidFill>
              <a:srgbClr val="F1D9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297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특성 주입 실험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46634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무의미한 랜덤 특성을 0→60개 추가하자 Test AUC 0.971→0.957, F1 0.724→0.635로 하락 → 불필요한 feature는 노이즈로 작용하여 일반화를 해친다.</a:t>
            </a:r>
            <a:endParaRPr lang="en-US" sz="1200" dirty="0"/>
          </a:p>
        </p:txBody>
      </p:sp>
      <p:pic>
        <p:nvPicPr>
          <p:cNvPr id="9" name="Image 0" descr="img/noise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5394960" cy="34806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524541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특성↑ → Test 성능 하락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IMPROVEMENT 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성능 개선 ⑥ Lasso(L1) 특성 선택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L2 (8개)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Lasso (6개)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제거된 변수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Type_H, Type_M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F1-score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0.238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PR-AUC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0.382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0.382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47548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패널티가 기여 낮은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제품등급 더미(Type_H·Type_M)의 가중치를 0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만들어 자동 제거. 6개 feature만으로 8개와 동일 성능 → 모델 단순화·노이즈 제거.</a:t>
            </a:r>
            <a:endParaRPr lang="en-US" sz="1200" dirty="0"/>
          </a:p>
        </p:txBody>
      </p:sp>
      <p:pic>
        <p:nvPicPr>
          <p:cNvPr id="8" name="Image 0" descr="img/lasso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83080"/>
            <a:ext cx="5394960" cy="34806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529113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강화(C↓) → 살아남는 특성 수 감소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개선 종합 (Performance Journey)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결과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베이스라인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 모델 비교 (10k · 8:2 분할)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 F1 0.724 / ROC-AUC 0.971 최적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LogReg 다항 차수(degree) ↑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 3: F1 0.242→0.385, AUC 0.907→0.948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②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XGBoost 하이퍼파라미터 튜닝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 0.655→0.754, F1 0.724→0.737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③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확대 (학습곡선) · 이상치 처리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800→8,000건: AUC 0.939→0.973, Recall→0.809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④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과적합 진단 · 정규화 · 임계값 튜닝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Gap 0.039→0.027, 임계값 튜닝 Test F1 0.720→0.767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특성 수 · 노이즈 분석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노이즈 특성↑ → Test AUC 0.971→0.957 (최소 feature 유지)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Lasso(L1) 특성 선택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Type_H·Type_M 가중치 0 → 6개 feature로 동일 성능(AUC 0.907)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향후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feature 13만 행(S3E17) 적용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데이터·튜닝 결합으로 추가 향상 기대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모델 교체(XGBoost) → 차수·튜닝 → 데이터 확대 → 과적합 완화·노이즈 제거 → Lasso 특성 선택 순으로 단계적 개선을 검증함.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성능 시각화</a:t>
            </a:r>
            <a:endParaRPr lang="en-US" sz="2800" dirty="0"/>
          </a:p>
        </p:txBody>
      </p:sp>
      <p:pic>
        <p:nvPicPr>
          <p:cNvPr id="4" name="Image 0" descr="img/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43891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5422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그림. ROC Curve (XGBoost AUC 0.971)</a:t>
            </a:r>
            <a:endParaRPr lang="en-US" sz="1100" dirty="0"/>
          </a:p>
        </p:txBody>
      </p:sp>
      <p:pic>
        <p:nvPicPr>
          <p:cNvPr id="6" name="Image 1" descr="img/cm_XGBo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37360"/>
            <a:ext cx="4114800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66560" y="54223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그림. XGBoost 혼동행렬 (고장 68건 중 55건 탐지)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특성 중요도 및 인사이트</a:t>
            </a:r>
            <a:endParaRPr lang="en-US" sz="2800" dirty="0"/>
          </a:p>
        </p:txBody>
      </p:sp>
      <p:pic>
        <p:nvPicPr>
          <p:cNvPr id="4" name="Image 0" descr="img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8521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201168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95160" y="2148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토크·온도·회전속도가 핵심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95160" y="2514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Torque, 공기/공정온도, 회전속도가 고장에 가장 큰 영향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66560" y="32461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3383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등급(Type) 영향 미미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95160" y="3749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변수는 중요도 최하위 — 제거해도 성능 변화 거의 없음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44805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4617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적용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95160" y="4983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확률이 임계값 초과 시 점검 알림으로 확장 가능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신규 대형 데이터(S3E17) 적용 — 10k vs 136k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(XGBoost)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AI4I 10k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S3E17 136k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규모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136,429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3.39%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1.57%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0.774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0.252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PR-AUC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0.833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0.423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0.922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img/data_size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5394960" cy="33718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4DE"/>
          </a:solidFill>
          <a:ln w="12700">
            <a:solidFill>
              <a:srgbClr val="F1D9A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13배 늘렸지만 신규 데이터가 더 불균형(1.57%)이고 합성(synthetic) 데이터라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성능은 오히려 하락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→ 성능은 데이터 '양'만이 아니라 '품질·분포·불균형도'에 더 크게 좌우됨.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데이터 양 vs 품질 — 핵심 결론</a:t>
            </a:r>
            <a:endParaRPr lang="en-US" sz="2800" dirty="0"/>
          </a:p>
        </p:txBody>
      </p:sp>
      <p:pic>
        <p:nvPicPr>
          <p:cNvPr id="4" name="Image 0" descr="img/lc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577840" cy="348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4238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136k 내 학습량↑ → ROC-AUC 0.834→0.926 상승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92240" y="18288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0840" y="1938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양의 효과는 실재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20840" y="22585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데이터(136k) 내에서 학습량을 늘리면 ROC-AUC가 0.834→0.926으로 상승 — 데이터 확대 효과 확인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92240" y="2926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3035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그러나 '양'보다 '품질·분포'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720840" y="33558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136k가 10k보다 절대 성능이 낮음 — 더 불균형·합성 데이터라 신호가 약함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92240" y="40233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4133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불균형에선 지표 선택이 중요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20840" y="44531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1.57%에서 F1@0.5는 왜곡 → 임계값 튜닝 시 F1 0.340→0.454 회복(권고 이행), PR-AUC·ROC-AUC로 평가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92240" y="5120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52303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처방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720840" y="55504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무작정 데이터 양↑보다 동일 분포·고품질 데이터 확보 + 정규화·임계값 튜닝이 핵심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METRICS &amp;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확장 평가지표 및 모델 선택 근거</a:t>
            </a:r>
            <a:endParaRPr lang="en-US" sz="2800" dirty="0"/>
          </a:p>
        </p:txBody>
      </p:sp>
      <p:pic>
        <p:nvPicPr>
          <p:cNvPr id="4" name="Image 0" descr="img/metrics_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86400" cy="33250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3560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R²·MSE·RMSE·MAE는 회귀 전용 → 분류엔 미사용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92240" y="1783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084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지표 보강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20840" y="2194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Balanced Acc · Specificity · MCC · Log Loss 추가 — XGBoost가 MCC 0.717·PR-AUC 0.833·LogLoss 0.061로 종합 1위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92240" y="28803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선택(XGBoost)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720840" y="3291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비선형 상호작용·불균형에 강한 부스팅, 확장 지표 전반 우위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3977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양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2084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800→8,000건 시 AUC 0.939→0.973 → 10k 전량 사용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92240" y="50749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5166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하이퍼파라미터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720840" y="5486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scale_pos_weight로 불균형 보정, max_depth·subsample로 과적합 억제, RandomizedSearch(F1)로 도출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학습 모델 DB 저장·예측 / CI·CD 배포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model+scaler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+columns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33472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98648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1F4E7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98648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BLOB(artifact)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+메타·임계값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48656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요청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48656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33488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98664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98664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로드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98664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(캐시)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83496" y="237744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948672" y="18288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48672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응답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48672" y="2514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확률·라벨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233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저장(model_store.py)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모델을 joblib 직렬화 → model_registry.artifact(BLOB) 저장, 기존 모델 비활성화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기반 예측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요청 시 DB에서 활성 모델 로드(메모리 캐시) → 즉시 추론, 재요청은 캐시로 응답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CI/CD · Cloudtype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Actions(ruff+pytest) → Docker 빌드 → main 푸시 시 Cloudtype 자동 배포(PostgreSQL 애드온)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결론 및 향후 계획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달성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XGBoost로 ROC-AUC 0.971 / Recall 0.81 / F1 0.72 — 설정 목표 전부 충족</a:t>
            </a:r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인사이트  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토크·온도·회전속도가 고장의 주 결정 요인</a:t>
            </a:r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선택  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예측은 XGBoost, 오경보 최소화는 Random Forest, 해석은 LogReg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유형 다중분류(Failure Type) 확장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기반 고장 경보 시스템 연계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데이터 확보 시 LSTM 등 시계열 모델 검토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설비 고장 예측 모델 개발</dc:title>
  <dc:subject>PptxGenJS Presentation</dc:subject>
  <dc:creator>Daniel</dc:creator>
  <cp:lastModifiedBy>Daniel</cp:lastModifiedBy>
  <cp:revision>1</cp:revision>
  <dcterms:created xsi:type="dcterms:W3CDTF">2026-06-19T02:46:01Z</dcterms:created>
  <dcterms:modified xsi:type="dcterms:W3CDTF">2026-06-19T02:46:01Z</dcterms:modified>
</cp:coreProperties>
</file>