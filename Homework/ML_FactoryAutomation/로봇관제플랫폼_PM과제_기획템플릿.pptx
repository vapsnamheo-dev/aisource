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[전체 전략] 과제테스트는 '정답'을 맞히는 시험이 아니라, 문제를 정의하고 우선순위를 정해 실행 가능한 안으로 풀어내는 PM의 사고 흐름을 보는 자리입니다. 발표는 10~15분 내외라 가정하고, 한 슬라이드당 1메시지 원칙으로 구성하세요. 도입부 30초 안에 '무슨 문제를, 어떻게, 왜 그렇게 풀지'의 한 줄 요약을 던지면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[목차 발표 팁] 목차를 그냥 읽지 말고 '이 순서로 말씀드리는 이유는, 문제→해법→실행→효과 순으로 의사결정 근거를 쌓아가기 위함'이라고 한 문장으로 흐름의 논리를 먼저 선언하세요. 평가자가 전체 그림을 잡고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[평가 관점] 평가자는 '문제를 진짜로 이해했는가'를 봅니다. 기능 나열로 바로 들어가지 말고, 현장 관점의 고통을 생생하게 그린 뒤 한 문장으로 압축하세요. 숫자는 가상이어도 좋지만 '가정'임을 밝히면 신뢰가 올라갑니다. 로봇 관제 도메인에서 흔한 페인포인트: 이기종 통신 프로토콜, 실시간성, 장애 전파, 운영자 인지 부하.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[팁] 현대오토에버 지원자라면 회사의 SDF(소프트웨어 정의 공장)·스마트팩토리 비전과 본인 기획을 명시적으로 연결하세요. '제 기획이 회사 방향과 어떻게 맞물리는가'를 보여주면 컬처핏·직무이해 점수가 함께 올라갑니다. 이해관계자는 페르소나로 구체화할수록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[평가 관점] PM의 핵심 역량은 '성공을 정의하는 능력'입니다. 막연히 '효율 향상'이 아니라 무엇을 어떻게 측정해 성공/실패를 판단할지 보여주세요. KPI가 문제정의·기능과 일관되게 연결되면 스토리가 탄탄해집니다.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[팁] 요구사항을 그냥 나열하지 말고 '문제정의 → 사용자 시나리오 → 요구사항' 순으로 도출 과정을 보여주면 PM다움이 드러납니다. 비기능 요구사항(실시간성·확장성·보안)을 빠뜨리지 않는 것이 로봇 관제 같은 시스템 기획에서 특히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[가장 중요] 과제테스트 발표에서 평가자가 반드시 던지는 질문이 '왜 이 우선순위인가'입니다. 모든 걸 다 하겠다가 아니라, 무엇을 먼저/나중에 할지와 그 '근거'(가치·노력·리스크)를 명확히 말할 수 있어야 합니다. MVP를 좁고 선명하게 정의할수록 실행력 있는 PM으로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[팁] PM 과제이므로 코드 수준 설계까지는 필요 없습니다. '계층이 왜 이렇게 나뉘는지(특히 프로토콜 추상화로 확장성 확보)'와 '운영자가 한 화면에서 무엇을 보고 무엇을 하는지'를 설명하는 데 집중하세요. 화면은 핵심 1~2개만 깊게.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[팁] 'Agile'이 직무명에 들어가므로 워터폴식 일괄 계획보다 반복적 가치 전달을 강조하세요. 백로그 우선순위, 스프린트 단위 인도, 이해관계자 피드백 반영 루프를 언급하면 직무 적합성이 드러납니다. 기간은 가정으로 표기(예: 각 Phase 8~12주).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[팁] 리스크 슬라이드를 넣으면 '균형 잡힌 사고'를 한다는 인상을 줍니다. 리스크는 반드시 '대응 방안'과 짝지어 제시하세요. 기대효과는 앞의 KPI와 일관되게 연결해 발표를 깔끔히 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[마무리] 발표 직전 이 체크리스트로 자가점검하세요. 특히 '우선순위 근거'와 'MVP의 선명함'은 면접 질문으로 직결됩니다. 모르는 걸 아는 척하기보다, 가정과 한계를 인정하고 '추가로 검증하겠다'는 태도가 신뢰를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64008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114300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0" y="182880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0415016" y="722376"/>
            <a:ext cx="649224" cy="420624"/>
          </a:xfrm>
          <a:prstGeom prst="line">
            <a:avLst/>
          </a:prstGeom>
          <a:noFill/>
          <a:ln w="12700">
            <a:solidFill>
              <a:srgbClr val="3350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1874520"/>
            <a:ext cx="274320" cy="-731520"/>
          </a:xfrm>
          <a:prstGeom prst="line">
            <a:avLst/>
          </a:prstGeom>
          <a:noFill/>
          <a:ln w="12700">
            <a:solidFill>
              <a:srgbClr val="335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673352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현대오토에버  [SDx] IT PM 과제테스트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통합 관제 플랫폼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기획(안)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86868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스토리라인 &amp; 슬라이드 목차 템플릿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68680" y="5349240"/>
            <a:ext cx="3840480" cy="0"/>
          </a:xfrm>
          <a:prstGeom prst="line">
            <a:avLst/>
          </a:prstGeom>
          <a:noFill/>
          <a:ln w="19050">
            <a:solidFill>
              <a:srgbClr val="3350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9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</a:t>
            </a:r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성명 입력 ]      </a:t>
            </a:r>
            <a:pPr indent="0" marL="0">
              <a:buNone/>
            </a:pPr>
            <a:r>
              <a:rPr lang="en-US" sz="1300" b="1" dirty="0">
                <a:solidFill>
                  <a:srgbClr val="7E9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  </a:t>
            </a:r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YYYY.MM.DD ]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61264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6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[  ] 안은 본인 내용으로 교체하세요. 노트 영역에 슬라이드별 발표·평가 팁이 정리돼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E1F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CB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→ 분석 → 목표 → 해법 → 실행 → 효과로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9CB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이어지는 논리 흐름을 한눈에 보여줍니다.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7E9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흐름이 곧 평가자가 따라오는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7E97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'스토리'입니다.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70408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36592" y="77724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0" y="850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0" y="11430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페인포인트와 핵심 문제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70408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150876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581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도메인 분석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0" y="18745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시장/기술 트렌드, 이해관계자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240280"/>
            <a:ext cx="70408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6592" y="224028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313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&amp; 성공지표(KPI)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0" y="26060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정성·정량 목표 설정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70408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36592" y="297180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3044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도출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0" y="333756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/ 비기능 / 사용자 시나리오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703320"/>
            <a:ext cx="70408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36592" y="370332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3776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&amp; 우선순위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0" y="40690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범위와 우선순위 매트릭스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4434840"/>
            <a:ext cx="70408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443484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0" y="4507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개념 설계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86400" y="48006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· 핵심 화면 컨셉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5166360"/>
            <a:ext cx="70408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36592" y="516636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86400" y="5239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Agile 실행 로드맵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486400" y="55321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백로그 → 스프린트 → 릴리즈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5897880"/>
            <a:ext cx="704088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36592" y="5897880"/>
            <a:ext cx="640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86400" y="59710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&amp; 기대효과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5486400" y="62636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대응과 기대 임팩트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1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6751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13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무엇을 왜 풀어야 하는가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EAF2F4"/>
          </a:solidFill>
          <a:ln/>
          <a:effectLst>
            <a:outerShdw sx="100000" sy="100000" kx="0" ky="0" algn="bl" rotWithShape="0" blurRad="114300" dist="38100" dir="5400000">
              <a:srgbClr val="0E1F38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7647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✎ 이 슬라이드의 역할 / 작성 가이드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167128"/>
            <a:ext cx="4709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As-Is 상황과 페인포인트를 구체적으로 묘사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로봇·설비를 '통합 관제'해야 하는 근본 이유 제시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1~2문장의 '핵심 문제 정의문'으로 압축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가능하면 정량 근거(다운타임, 대응시간 등)로 뒷받침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'지금' 풀어야 하는지(시급성) 한 줄 명시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6E6"/>
          </a:solidFill>
          <a:ln/>
          <a:effectLst>
            <a:outerShdw sx="100000" sy="100000" kx="0" ky="0" algn="bl" rotWithShape="0" blurRad="114300" dist="38100" dir="5400000">
              <a:srgbClr val="0E1F38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636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뼈대 (채워넣기)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24028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35000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단절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18120" y="23317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로봇·AGV·설비가 벤더별 개별 시스템 → 통합 모니터링 부재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263640" y="3172968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28269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지연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18120" y="326440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발생 시 [수동 확인]으로 평균 대응시간 [N]분 소요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263640" y="4105656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421538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사일로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818120" y="419709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가동/오류 데이터가 분산 저장 → 원인 분석·예지보전 한계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263640" y="5038344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514807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 부족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18120" y="512978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로봇 도입 시마다 개별 연동 → 운영 비용 증가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035040" y="619963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 정의문  </a:t>
            </a:r>
            <a:pPr algn="l"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“[대상 현장]의 이기종 로봇을 단일 화면에서 실시간 감시·제어하지 못해 [장애 대응·가동률] 저하가 발생한다.”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1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6751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13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도메인 분석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&amp; Domain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611880" cy="40690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· 기술 트렌드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59536" y="3429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SDF(Software-Defined Factory) 전환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스마트팩토리 로봇 자동화 확대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표준화된 통합 관제 수요 증가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25112" y="1691640"/>
            <a:ext cx="3611880" cy="40690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9432" y="1965960"/>
            <a:ext cx="777240" cy="777240"/>
          </a:xfrm>
          <a:prstGeom prst="ellipse">
            <a:avLst/>
          </a:prstGeom>
          <a:solidFill>
            <a:srgbClr val="16335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1488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9432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이해관계자(Stakeholder)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636008" y="3429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운영자 — 실시간 감시·즉시 대응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엔지니어 — 원인분석·예지보전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— 가동률·KPI 대시보드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01584" y="1691640"/>
            <a:ext cx="3611880" cy="40690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75904" y="1965960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21488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75904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현대오토에버 연계점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8412480" y="3429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SDF/스마트팩토리 비전과 정합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IT·클라우드 역량 활용</a:t>
            </a:r>
            <a:endParaRPr lang="en-US" sz="1150" dirty="0"/>
          </a:p>
          <a:p>
            <a:pPr marL="165100" indent="-1651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플랫폼화로 재사용성 확보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가이드  ·  '왜 이 문제가 지금 중요한가'를 외부(시장/기술)와 내부(현대오토에버 전략) 양쪽 근거로 받쳐주면 설득력이 커집니다.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1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6751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13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&amp; 성공지표(KPI)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 &amp; Success Metrics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EAF2F4"/>
          </a:solidFill>
          <a:ln/>
          <a:effectLst>
            <a:outerShdw sx="100000" sy="100000" kx="0" ky="0" algn="bl" rotWithShape="0" blurRad="114300" dist="38100" dir="5400000">
              <a:srgbClr val="0E1F38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8562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✎ 작성 가이드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2258568"/>
            <a:ext cx="4251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정의와 1:1로 대응하는 목표를 세움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목표(To-Be 모습) + 정량 KPI를 함께 제시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가능·기한 명시(SMART)하게 작성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→ 목표치 형태로 개선폭을 보여주기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KPI는 3~5개로 압축(너무 많으면 초점 흐려짐)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77840" y="17373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KPI 예시 (채워넣기)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224028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0E1F3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79008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42432" y="2743200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+[N]%p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5779008" y="34472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FB4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모니터링·예지보전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732520" y="224028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0E1F3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33688" y="2423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대응시간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897112" y="2743200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-[N]%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8933688" y="34472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FB4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알람·자동 티켓팅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416052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0E1F3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79008" y="4343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관제 범위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742432" y="4663440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[N]종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5779008" y="5367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FB4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이기종 로봇 단일 화면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732520" y="416052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0E1F3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933688" y="4343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인력 효율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897112" y="4663440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+[N]%</a:t>
            </a:r>
            <a:endParaRPr lang="en-US" sz="3300" dirty="0"/>
          </a:p>
        </p:txBody>
      </p:sp>
      <p:sp>
        <p:nvSpPr>
          <p:cNvPr id="26" name="Text 23"/>
          <p:cNvSpPr/>
          <p:nvPr/>
        </p:nvSpPr>
        <p:spPr>
          <a:xfrm>
            <a:off x="8933688" y="5367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FB4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자동화·이상탐지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수치는 가정값임을 밝히고, '어떻게 측정할지(데이터 출처)'까지 언급하면 신뢰도가 올라갑니다.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1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6751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13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도출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69164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057400"/>
            <a:ext cx="548640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(Functional)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59536" y="24231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이기종 로봇/설비 실시간 상태 모니터링</a:t>
            </a:r>
            <a:endParaRPr lang="en-US" sz="118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대시보드 · 알람/이벤트 관리</a:t>
            </a:r>
            <a:endParaRPr lang="en-US" sz="118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제어 명령(가동/정지/모드 전환)</a:t>
            </a:r>
            <a:endParaRPr lang="en-US" sz="118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데이터 수집·조회·리포트</a:t>
            </a:r>
            <a:endParaRPr lang="en-US" sz="118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권한/역할 기반 접근제어(RBAC)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26480" y="1691640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26480" y="169164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16335B"/>
          </a:solidFill>
          <a:ln/>
        </p:spPr>
      </p:sp>
      <p:sp>
        <p:nvSpPr>
          <p:cNvPr id="14" name="Shape 11"/>
          <p:cNvSpPr/>
          <p:nvPr/>
        </p:nvSpPr>
        <p:spPr>
          <a:xfrm>
            <a:off x="6126480" y="2057400"/>
            <a:ext cx="5486400" cy="201168"/>
          </a:xfrm>
          <a:prstGeom prst="rect">
            <a:avLst/>
          </a:prstGeom>
          <a:solidFill>
            <a:srgbClr val="16335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16916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요구사항 (Non-Functional)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37376" y="24231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실시간성 — 상태 갱신 지연 [N]초 이내</a:t>
            </a:r>
            <a:endParaRPr lang="en-US" sz="118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 — 신규 로봇 플러그인 방식 연동</a:t>
            </a:r>
            <a:endParaRPr lang="en-US" sz="118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가용성 — 무중단 운영([99.x]%)</a:t>
            </a:r>
            <a:endParaRPr lang="en-US" sz="118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— 통신 암호화·감사 로그</a:t>
            </a:r>
            <a:endParaRPr lang="en-US" sz="1180" dirty="0"/>
          </a:p>
          <a:p>
            <a:pPr marL="165100" indent="-1651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— 통신 프로토콜 추상화 계층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AF2F4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시나리오(User Story)로 도출 근거 보강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“운영자로서, 나는 [이상 상황]을 [단일 화면]에서 즉시 인지하고 [원클릭 조치]를 하고 싶다 — 왜냐하면 [대응시간 단축]이 필요하기 때문이다.”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1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6751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13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&amp; 우선순위 (MVP)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Prioritization &amp; MVP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46120" y="1783080"/>
            <a:ext cx="0" cy="4023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794760"/>
            <a:ext cx="5212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435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 ▲ 가치(Value)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83280" y="58613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난이도/노력(Effort) ▶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(먼저)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2203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모니터링·실시간 알람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338328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3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과제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2203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이상탐지·예지보전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777240" y="3904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보강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42153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리포트·권한관리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3383280" y="3904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후순위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83280" y="42153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커스터마이징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1554480" y="265176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Shape 18"/>
          <p:cNvSpPr/>
          <p:nvPr/>
        </p:nvSpPr>
        <p:spPr>
          <a:xfrm>
            <a:off x="4434840" y="3063240"/>
            <a:ext cx="292608" cy="292608"/>
          </a:xfrm>
          <a:prstGeom prst="ellipse">
            <a:avLst/>
          </a:prstGeom>
          <a:solidFill>
            <a:srgbClr val="16335B"/>
          </a:solidFill>
          <a:ln/>
        </p:spPr>
      </p:sp>
      <p:sp>
        <p:nvSpPr>
          <p:cNvPr id="22" name="Shape 19"/>
          <p:cNvSpPr/>
          <p:nvPr/>
        </p:nvSpPr>
        <p:spPr>
          <a:xfrm>
            <a:off x="1920240" y="461772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Shape 20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AF2F4"/>
          </a:solidFill>
          <a:ln/>
          <a:effectLst>
            <a:outerShdw sx="100000" sy="100000" kx="0" ky="0" algn="bl" rotWithShape="0" blurRad="114300" dist="38100" dir="5400000">
              <a:srgbClr val="0E1F38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00800" y="194767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기법 선택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28232" y="2350008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MoSCoW (Must/Should/Could/Won't) — 직관적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RICE (Reach·Impact·Confidence·Effort) — 정량적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vs 노력 2×2 매트릭스 — 발표용 시각화에 적합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17220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0E1F3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0080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 정의 (1차 릴리즈)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0" y="44348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“[이기종 로봇 N종]의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통합 모니터링 + 알람/이벤트 관리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6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”를 최소 기능으로 먼저 출시하고, AI 이상탐지·예지보전은 후속 단계로 확장한다.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1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6751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13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개념 설계 — 아키텍처 · 화면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Concept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아키텍처 (계층 구조)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2011680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E1F38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1031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프레젠테이션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606040" y="21031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관제 대시보드 · 알람 · 리포트 (Web)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2862072"/>
            <a:ext cx="164592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2980944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16335B"/>
          </a:solidFill>
          <a:ln/>
          <a:effectLst>
            <a:outerShdw sx="100000" sy="100000" kx="0" ky="0" algn="bl" rotWithShape="0" blurRad="114300" dist="38100" dir="5400000">
              <a:srgbClr val="0E1F38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30723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606040" y="307238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로직 · 이벤트 처리 · 권한(RBAC) · API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3831336"/>
            <a:ext cx="164592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360" y="3950208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5400000">
              <a:srgbClr val="0E1F38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4041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/ 통합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606040" y="404164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수집 · 시계열 DB · 이상탐지(후속)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0" y="4800600"/>
            <a:ext cx="164592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919472"/>
            <a:ext cx="5532120" cy="841248"/>
          </a:xfrm>
          <a:prstGeom prst="roundRect">
            <a:avLst>
              <a:gd name="adj" fmla="val 7609"/>
            </a:avLst>
          </a:prstGeom>
          <a:solidFill>
            <a:srgbClr val="475569"/>
          </a:solidFill>
          <a:ln/>
          <a:effectLst>
            <a:outerShdw sx="100000" sy="100000" kx="0" ky="0" algn="bl" rotWithShape="0" blurRad="114300" dist="38100" dir="5400000">
              <a:srgbClr val="0E1F38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7240" y="501091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연동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2606040" y="50109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EAF2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 추상화 게이트웨이 (로봇·AGV·설비)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화면 컨셉 — 통합 관제 대시보드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0" y="2011680"/>
            <a:ext cx="52120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0" y="2011680"/>
            <a:ext cx="5212080" cy="457200"/>
          </a:xfrm>
          <a:prstGeom prst="rect">
            <a:avLst/>
          </a:prstGeom>
          <a:solidFill>
            <a:srgbClr val="0E1F38"/>
          </a:solidFill>
          <a:ln/>
        </p:spPr>
      </p:sp>
      <p:sp>
        <p:nvSpPr>
          <p:cNvPr id="26" name="Text 23"/>
          <p:cNvSpPr/>
          <p:nvPr/>
        </p:nvSpPr>
        <p:spPr>
          <a:xfrm>
            <a:off x="658368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 CONTROL CENTER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972800" y="2157984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Shape 25"/>
          <p:cNvSpPr/>
          <p:nvPr/>
        </p:nvSpPr>
        <p:spPr>
          <a:xfrm>
            <a:off x="11201400" y="215798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Shape 26"/>
          <p:cNvSpPr/>
          <p:nvPr/>
        </p:nvSpPr>
        <p:spPr>
          <a:xfrm>
            <a:off x="6583680" y="2606040"/>
            <a:ext cx="1078992" cy="566928"/>
          </a:xfrm>
          <a:prstGeom prst="roundRect">
            <a:avLst>
              <a:gd name="adj" fmla="val 8065"/>
            </a:avLst>
          </a:prstGeom>
          <a:solidFill>
            <a:srgbClr val="EAF2F4"/>
          </a:solidFill>
          <a:ln/>
        </p:spPr>
      </p:sp>
      <p:sp>
        <p:nvSpPr>
          <p:cNvPr id="30" name="Text 27"/>
          <p:cNvSpPr/>
          <p:nvPr/>
        </p:nvSpPr>
        <p:spPr>
          <a:xfrm>
            <a:off x="6583680" y="26060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가동중 [N]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790688" y="2606040"/>
            <a:ext cx="1078992" cy="566928"/>
          </a:xfrm>
          <a:prstGeom prst="roundRect">
            <a:avLst>
              <a:gd name="adj" fmla="val 8065"/>
            </a:avLst>
          </a:prstGeom>
          <a:solidFill>
            <a:srgbClr val="FFF6E6"/>
          </a:solidFill>
          <a:ln/>
        </p:spPr>
      </p:sp>
      <p:sp>
        <p:nvSpPr>
          <p:cNvPr id="32" name="Text 29"/>
          <p:cNvSpPr/>
          <p:nvPr/>
        </p:nvSpPr>
        <p:spPr>
          <a:xfrm>
            <a:off x="7790688" y="26060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[N]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997696" y="2606040"/>
            <a:ext cx="1078992" cy="566928"/>
          </a:xfrm>
          <a:prstGeom prst="roundRect">
            <a:avLst>
              <a:gd name="adj" fmla="val 8065"/>
            </a:avLst>
          </a:prstGeom>
          <a:solidFill>
            <a:srgbClr val="EAF2F4"/>
          </a:solidFill>
          <a:ln/>
        </p:spPr>
      </p:sp>
      <p:sp>
        <p:nvSpPr>
          <p:cNvPr id="34" name="Text 31"/>
          <p:cNvSpPr/>
          <p:nvPr/>
        </p:nvSpPr>
        <p:spPr>
          <a:xfrm>
            <a:off x="8997696" y="26060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[N]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83680" y="3291840"/>
            <a:ext cx="3154680" cy="1691640"/>
          </a:xfrm>
          <a:prstGeom prst="roundRect">
            <a:avLst>
              <a:gd name="adj" fmla="val 27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0" y="3977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현장 맵 / 로봇 위치·상태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903720" y="361188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Shape 35"/>
          <p:cNvSpPr/>
          <p:nvPr/>
        </p:nvSpPr>
        <p:spPr>
          <a:xfrm>
            <a:off x="7863840" y="402336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Shape 36"/>
          <p:cNvSpPr/>
          <p:nvPr/>
        </p:nvSpPr>
        <p:spPr>
          <a:xfrm>
            <a:off x="8595360" y="365760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0" name="Shape 37"/>
          <p:cNvSpPr/>
          <p:nvPr/>
        </p:nvSpPr>
        <p:spPr>
          <a:xfrm>
            <a:off x="9052560" y="429768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Shape 38"/>
          <p:cNvSpPr/>
          <p:nvPr/>
        </p:nvSpPr>
        <p:spPr>
          <a:xfrm>
            <a:off x="9857232" y="3291840"/>
            <a:ext cx="1572768" cy="1691640"/>
          </a:xfrm>
          <a:prstGeom prst="roundRect">
            <a:avLst>
              <a:gd name="adj" fmla="val 290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57232" y="3401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알람/이벤트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9966960" y="3977640"/>
            <a:ext cx="135331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040112" y="402336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Shape 42"/>
          <p:cNvSpPr/>
          <p:nvPr/>
        </p:nvSpPr>
        <p:spPr>
          <a:xfrm>
            <a:off x="9966960" y="4270248"/>
            <a:ext cx="135331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040112" y="4315968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Shape 44"/>
          <p:cNvSpPr/>
          <p:nvPr/>
        </p:nvSpPr>
        <p:spPr>
          <a:xfrm>
            <a:off x="9966960" y="4562856"/>
            <a:ext cx="1353312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040112" y="4608576"/>
            <a:ext cx="118872" cy="11887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9" name="Text 46"/>
          <p:cNvSpPr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실제 화면은 Stitch/Figma 등으로 와이어프레임을 첨부하면 가산점. 위는 손그림 수준의 개념 스케치로 충분합니다.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1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6751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13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Agile 실행 로드맵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Agile Roadmap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백로그 → 스프린트 → 릴리즈로 이어지는 단계적 실행 계획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97280" y="2514600"/>
            <a:ext cx="10058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23317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297180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71800"/>
            <a:ext cx="3474720" cy="713232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3401568"/>
            <a:ext cx="3474720" cy="2834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035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3310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Discovery &amp; MVP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5156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정련 · 백로그 정의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모니터링/알람 MVP 개발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1개 라인 적용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89320" y="2331720"/>
            <a:ext cx="365760" cy="365760"/>
          </a:xfrm>
          <a:prstGeom prst="ellipse">
            <a:avLst/>
          </a:prstGeom>
          <a:solidFill>
            <a:srgbClr val="16335B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34840" y="297180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2971800"/>
            <a:ext cx="3474720" cy="713232"/>
          </a:xfrm>
          <a:prstGeom prst="roundRect">
            <a:avLst>
              <a:gd name="adj" fmla="val 11538"/>
            </a:avLst>
          </a:prstGeom>
          <a:solidFill>
            <a:srgbClr val="16335B"/>
          </a:solidFill>
          <a:ln/>
        </p:spPr>
      </p:sp>
      <p:sp>
        <p:nvSpPr>
          <p:cNvPr id="21" name="Shape 18"/>
          <p:cNvSpPr/>
          <p:nvPr/>
        </p:nvSpPr>
        <p:spPr>
          <a:xfrm>
            <a:off x="4434840" y="3401568"/>
            <a:ext cx="3474720" cy="283464"/>
          </a:xfrm>
          <a:prstGeom prst="rect">
            <a:avLst/>
          </a:prstGeom>
          <a:solidFill>
            <a:srgbClr val="16335B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3035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663440" y="3310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Scale-up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70916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종류·라인 확장 연동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리포트·권한관리 고도화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안정화·KPI 측정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646920" y="23317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96469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092440" y="2971800"/>
            <a:ext cx="34747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1F38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092440" y="2971800"/>
            <a:ext cx="3474720" cy="713232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2440" y="3401568"/>
            <a:ext cx="3474720" cy="2834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8321040" y="30358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321040" y="3310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8366760" y="384048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이상탐지·예지보전 도입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최적화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플랫폼화·전사 확산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9436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Agile 직무인 만큼 '한 번에 완성'이 아니라 가설검증·반복개선 관점(MVP→확장→고도화)을 드러내세요. 각 Phase 종료 시 점검 기준(Definition of Done)도 한 줄씩.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E1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6751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72768" y="7132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대응 &amp; 기대 효과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1248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&amp; Impact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 &amp; 대응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11680"/>
          <a:ext cx="55321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 방안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이기종 프로토콜 연동 복잡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추상화 게이트웨이·표준 어댑터 우선 설계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실시간성/성능 부하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스트리밍·시계열 DB, 단계적 부하검증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운영자 변화 저항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운영자와 공동설계·파일럿 후 확산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보안/접근통제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RBAC·통신 암호화·감사 로그 기본 탑재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4652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(To-Be)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46520" y="201168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6294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6647688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647688" y="29077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30" dirty="0">
                <a:solidFill>
                  <a:srgbClr val="DDF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관제로 다운타임 최소화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9144000" y="201168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0E1F3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3268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↑↑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9345168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대응속도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345168" y="29077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30" dirty="0">
                <a:solidFill>
                  <a:srgbClr val="9FB4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알람·원클릭 조치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6446520" y="34290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62940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6647688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운영비용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47688" y="4325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30" dirty="0">
                <a:solidFill>
                  <a:srgbClr val="DDF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연동·자동화로 효율화</a:t>
            </a:r>
            <a:endParaRPr lang="en-US" sz="930" dirty="0"/>
          </a:p>
        </p:txBody>
      </p:sp>
      <p:sp>
        <p:nvSpPr>
          <p:cNvPr id="22" name="Shape 18"/>
          <p:cNvSpPr/>
          <p:nvPr/>
        </p:nvSpPr>
        <p:spPr>
          <a:xfrm>
            <a:off x="9144000" y="342900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0E1F38"/>
          </a:solidFill>
          <a:ln/>
          <a:effectLst>
            <a:outerShdw sx="100000" sy="100000" kx="0" ky="0" algn="bl" rotWithShape="0" blurRad="114300" dist="38100" dir="5400000">
              <a:srgbClr val="0E1F38">
                <a:alpha val="14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932688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9345168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9345168" y="43251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30" dirty="0">
                <a:solidFill>
                  <a:srgbClr val="9FB4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로봇 플러그인 연동</a:t>
            </a:r>
            <a:endParaRPr lang="en-US" sz="930" dirty="0"/>
          </a:p>
        </p:txBody>
      </p:sp>
      <p:sp>
        <p:nvSpPr>
          <p:cNvPr id="26" name="Text 22"/>
          <p:cNvSpPr/>
          <p:nvPr/>
        </p:nvSpPr>
        <p:spPr>
          <a:xfrm>
            <a:off x="59436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가이드 · 기대효과는 슬라이드 3의 KPI와 동일한 지표로 닫아주면 '문제→해결→측정'의 스토리가 완결됩니다.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94360" y="2011680"/>
            <a:ext cx="5532120" cy="365760"/>
          </a:xfrm>
          <a:prstGeom prst="rect">
            <a:avLst/>
          </a:prstGeom>
          <a:solidFill>
            <a:srgbClr val="0E1F38"/>
          </a:solidFill>
          <a:ln/>
        </p:spPr>
      </p:sp>
      <p:sp>
        <p:nvSpPr>
          <p:cNvPr id="29" name="Text 24"/>
          <p:cNvSpPr/>
          <p:nvPr/>
        </p:nvSpPr>
        <p:spPr>
          <a:xfrm>
            <a:off x="73152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7889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방안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9875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84124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— 발표 전 점검 체크리스트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6335B"/>
          </a:solidFill>
          <a:ln/>
        </p:spPr>
      </p:sp>
      <p:sp>
        <p:nvSpPr>
          <p:cNvPr id="6" name="Shape 3"/>
          <p:cNvSpPr/>
          <p:nvPr/>
        </p:nvSpPr>
        <p:spPr>
          <a:xfrm>
            <a:off x="1051560" y="22128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0848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 일관성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83080" y="24231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C9D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→ KPI → 기능 → 기대효과가 같은 축으로 연결되는가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6446520" y="192024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6335B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2128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06640" y="20848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근거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0" y="24231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C9D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 이걸 먼저?'에 가치·노력·리스크로 답할 수 있는가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22960" y="324612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6335B"/>
          </a:solidFill>
          <a:ln/>
        </p:spPr>
      </p:sp>
      <p:sp>
        <p:nvSpPr>
          <p:cNvPr id="16" name="Shape 13"/>
          <p:cNvSpPr/>
          <p:nvPr/>
        </p:nvSpPr>
        <p:spPr>
          <a:xfrm>
            <a:off x="1051560" y="353872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783080" y="3410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MVP의 선명함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783080" y="37490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C9D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릴리즈 범위가 좁고 명확한가 (욕심내지 않았는가)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6446520" y="324612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6335B"/>
          </a:solidFill>
          <a:ln/>
        </p:spPr>
      </p:sp>
      <p:sp>
        <p:nvSpPr>
          <p:cNvPr id="21" name="Shape 18"/>
          <p:cNvSpPr/>
          <p:nvPr/>
        </p:nvSpPr>
        <p:spPr>
          <a:xfrm>
            <a:off x="6675120" y="353872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667512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06640" y="3410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이해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406640" y="37490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C9D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이기종 연동·실시간성·확장성 등 핵심 제약을 짚었는가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822960" y="457200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6335B"/>
          </a:solidFill>
          <a:ln/>
        </p:spPr>
      </p:sp>
      <p:sp>
        <p:nvSpPr>
          <p:cNvPr id="26" name="Shape 23"/>
          <p:cNvSpPr/>
          <p:nvPr/>
        </p:nvSpPr>
        <p:spPr>
          <a:xfrm>
            <a:off x="1051560" y="48646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105156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783080" y="4736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정합성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783080" y="50749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C9D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현대오토에버 SDF/스마트팩토리 방향과 연결했는가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6446520" y="457200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6335B"/>
          </a:solidFill>
          <a:ln/>
        </p:spPr>
      </p:sp>
      <p:sp>
        <p:nvSpPr>
          <p:cNvPr id="31" name="Shape 28"/>
          <p:cNvSpPr/>
          <p:nvPr/>
        </p:nvSpPr>
        <p:spPr>
          <a:xfrm>
            <a:off x="6675120" y="48646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667512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406640" y="4736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가정의 명시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406640" y="50749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60" dirty="0">
                <a:solidFill>
                  <a:srgbClr val="C9D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수치·전제를 '가정'이라고 솔직히 밝혔는가</a:t>
            </a:r>
            <a:endParaRPr lang="en-US" sz="1060" dirty="0"/>
          </a:p>
        </p:txBody>
      </p:sp>
      <p:sp>
        <p:nvSpPr>
          <p:cNvPr id="35" name="Text 32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AFC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발표는 "한 슬라이드 한 메시지".  자신 있게, 그리고 가정은 솔직하게.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로봇 통합 관제 플랫폼 기획(안) 템플릿</dc:title>
  <dc:subject>PptxGenJS Presentation</dc:subject>
  <dc:creator>현대오토에버 PM 과제 템플릿</dc:creator>
  <cp:lastModifiedBy>현대오토에버 PM 과제 템플릿</cp:lastModifiedBy>
  <cp:revision>1</cp:revision>
  <dcterms:created xsi:type="dcterms:W3CDTF">2026-06-16T10:38:53Z</dcterms:created>
  <dcterms:modified xsi:type="dcterms:W3CDTF">2026-06-16T10:38:53Z</dcterms:modified>
</cp:coreProperties>
</file>