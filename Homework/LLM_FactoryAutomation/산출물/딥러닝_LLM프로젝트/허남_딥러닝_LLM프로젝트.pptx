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94" r:id="rId4"/>
    <p:sldId id="295" r:id="rId5"/>
    <p:sldId id="296" r:id="rId6"/>
    <p:sldId id="297" r:id="rId7"/>
    <p:sldId id="298" r:id="rId8"/>
    <p:sldId id="299" r:id="rId9"/>
    <p:sldId id="265" r:id="rId10"/>
    <p:sldId id="300" r:id="rId11"/>
    <p:sldId id="302" r:id="rId12"/>
    <p:sldId id="285" r:id="rId13"/>
    <p:sldId id="301" r:id="rId14"/>
    <p:sldId id="258" r:id="rId15"/>
    <p:sldId id="288" r:id="rId16"/>
    <p:sldId id="287" r:id="rId17"/>
    <p:sldId id="303" r:id="rId18"/>
    <p:sldId id="30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87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7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42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6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284B7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2A4A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DC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 수행내역서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잔여수명(RUL) 예측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ML+DL + LLM </a:t>
            </a:r>
            <a:r>
              <a:rPr lang="en-US" sz="1800" dirty="0" err="1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r>
              <a:rPr lang="en-US" sz="180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예지보전(PdM) </a:t>
            </a:r>
            <a:r>
              <a:rPr lang="en-US" sz="1800" dirty="0" err="1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2926080" cy="0"/>
          </a:xfrm>
          <a:prstGeom prst="line">
            <a:avLst/>
          </a:prstGeom>
          <a:noFill/>
          <a:ln w="31750">
            <a:solidFill>
              <a:srgbClr val="1384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</a:t>
            </a:r>
            <a:endParaRPr lang="en-US" dirty="0">
              <a:solidFill>
                <a:srgbClr val="E2ECF7"/>
              </a:solidFill>
              <a:latin typeface="Malgun Gothic" pitchFamily="34" charset="0"/>
              <a:ea typeface="Malgun Gothic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→ 튜닝 → </a:t>
            </a:r>
            <a:r>
              <a:rPr lang="en-US" sz="125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9445752" y="4948649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200" name="TOCcard200"/>
          <p:cNvSpPr/>
          <p:nvPr/>
        </p:nvSpPr>
        <p:spPr>
          <a:xfrm>
            <a:off x="640080" y="133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1" name="TOCbadge200"/>
          <p:cNvSpPr/>
          <p:nvPr/>
        </p:nvSpPr>
        <p:spPr>
          <a:xfrm>
            <a:off x="804672" y="1467000"/>
            <a:ext cx="402000" cy="4020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2" name="TOCbtext200"/>
          <p:cNvSpPr/>
          <p:nvPr/>
        </p:nvSpPr>
        <p:spPr>
          <a:xfrm>
            <a:off x="804672" y="146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Ⅰ</a:t>
            </a:r>
          </a:p>
        </p:txBody>
      </p:sp>
      <p:sp>
        <p:nvSpPr>
          <p:cNvPr id="203" name="TOCtitle200"/>
          <p:cNvSpPr/>
          <p:nvPr/>
        </p:nvSpPr>
        <p:spPr>
          <a:xfrm>
            <a:off x="1417320" y="141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프로젝트 개요</a:t>
            </a:r>
          </a:p>
        </p:txBody>
      </p:sp>
      <p:sp>
        <p:nvSpPr>
          <p:cNvPr id="204" name="TOCdesc200"/>
          <p:cNvSpPr/>
          <p:nvPr/>
        </p:nvSpPr>
        <p:spPr>
          <a:xfrm>
            <a:off x="1417320" y="170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기존 DL 시스템의 한계와 LLM 필요성</a:t>
            </a:r>
          </a:p>
        </p:txBody>
      </p:sp>
      <p:sp>
        <p:nvSpPr>
          <p:cNvPr id="210" name="TOCcard210"/>
          <p:cNvSpPr/>
          <p:nvPr/>
        </p:nvSpPr>
        <p:spPr>
          <a:xfrm>
            <a:off x="640080" y="212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1" name="TOCbadge210"/>
          <p:cNvSpPr/>
          <p:nvPr/>
        </p:nvSpPr>
        <p:spPr>
          <a:xfrm>
            <a:off x="804672" y="2257000"/>
            <a:ext cx="402000" cy="4020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2" name="TOCbtext210"/>
          <p:cNvSpPr/>
          <p:nvPr/>
        </p:nvSpPr>
        <p:spPr>
          <a:xfrm>
            <a:off x="804672" y="225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Ⅱ</a:t>
            </a:r>
          </a:p>
        </p:txBody>
      </p:sp>
      <p:sp>
        <p:nvSpPr>
          <p:cNvPr id="213" name="TOCtitle210"/>
          <p:cNvSpPr/>
          <p:nvPr/>
        </p:nvSpPr>
        <p:spPr>
          <a:xfrm>
            <a:off x="1417320" y="220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LLM 확장 방안</a:t>
            </a:r>
          </a:p>
        </p:txBody>
      </p:sp>
      <p:sp>
        <p:nvSpPr>
          <p:cNvPr id="214" name="TOCdesc210"/>
          <p:cNvSpPr/>
          <p:nvPr/>
        </p:nvSpPr>
        <p:spPr>
          <a:xfrm>
            <a:off x="1417320" y="249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3종 비교 · Proposal A 채택</a:t>
            </a:r>
          </a:p>
        </p:txBody>
      </p:sp>
      <p:sp>
        <p:nvSpPr>
          <p:cNvPr id="220" name="TOCcard220"/>
          <p:cNvSpPr/>
          <p:nvPr/>
        </p:nvSpPr>
        <p:spPr>
          <a:xfrm>
            <a:off x="640080" y="291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1" name="TOCbadge220"/>
          <p:cNvSpPr/>
          <p:nvPr/>
        </p:nvSpPr>
        <p:spPr>
          <a:xfrm>
            <a:off x="804672" y="3047000"/>
            <a:ext cx="402000" cy="4020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2" name="TOCbtext220"/>
          <p:cNvSpPr/>
          <p:nvPr/>
        </p:nvSpPr>
        <p:spPr>
          <a:xfrm>
            <a:off x="804672" y="304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Ⅲ</a:t>
            </a:r>
          </a:p>
        </p:txBody>
      </p:sp>
      <p:sp>
        <p:nvSpPr>
          <p:cNvPr id="223" name="TOCtitle220"/>
          <p:cNvSpPr/>
          <p:nvPr/>
        </p:nvSpPr>
        <p:spPr>
          <a:xfrm>
            <a:off x="1417320" y="299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RAG 2단계 아키텍처</a:t>
            </a:r>
          </a:p>
        </p:txBody>
      </p:sp>
      <p:sp>
        <p:nvSpPr>
          <p:cNvPr id="224" name="TOCdesc220"/>
          <p:cNvSpPr/>
          <p:nvPr/>
        </p:nvSpPr>
        <p:spPr>
          <a:xfrm>
            <a:off x="1417320" y="328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수치 유사도 + 문서 RAG</a:t>
            </a:r>
          </a:p>
        </p:txBody>
      </p:sp>
      <p:sp>
        <p:nvSpPr>
          <p:cNvPr id="230" name="TOCcard230"/>
          <p:cNvSpPr/>
          <p:nvPr/>
        </p:nvSpPr>
        <p:spPr>
          <a:xfrm>
            <a:off x="640080" y="370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1" name="TOCbadge230"/>
          <p:cNvSpPr/>
          <p:nvPr/>
        </p:nvSpPr>
        <p:spPr>
          <a:xfrm>
            <a:off x="804672" y="3837000"/>
            <a:ext cx="402000" cy="4020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2" name="TOCbtext230"/>
          <p:cNvSpPr/>
          <p:nvPr/>
        </p:nvSpPr>
        <p:spPr>
          <a:xfrm>
            <a:off x="804672" y="383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Ⅳ</a:t>
            </a:r>
          </a:p>
        </p:txBody>
      </p:sp>
      <p:sp>
        <p:nvSpPr>
          <p:cNvPr id="233" name="TOCtitle230"/>
          <p:cNvSpPr/>
          <p:nvPr/>
        </p:nvSpPr>
        <p:spPr>
          <a:xfrm>
            <a:off x="1417320" y="378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Hybrid RAG</a:t>
            </a:r>
          </a:p>
        </p:txBody>
      </p:sp>
      <p:sp>
        <p:nvSpPr>
          <p:cNvPr id="234" name="TOCdesc230"/>
          <p:cNvSpPr/>
          <p:nvPr/>
        </p:nvSpPr>
        <p:spPr>
          <a:xfrm>
            <a:off x="1417320" y="407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BM25 + 벡터 · v0.6 신규 적용</a:t>
            </a:r>
          </a:p>
        </p:txBody>
      </p:sp>
      <p:sp>
        <p:nvSpPr>
          <p:cNvPr id="240" name="TOCcard240"/>
          <p:cNvSpPr/>
          <p:nvPr/>
        </p:nvSpPr>
        <p:spPr>
          <a:xfrm>
            <a:off x="640080" y="449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1" name="TOCbadge240"/>
          <p:cNvSpPr/>
          <p:nvPr/>
        </p:nvSpPr>
        <p:spPr>
          <a:xfrm>
            <a:off x="804672" y="4627000"/>
            <a:ext cx="402000" cy="4020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2" name="TOCbtext240"/>
          <p:cNvSpPr/>
          <p:nvPr/>
        </p:nvSpPr>
        <p:spPr>
          <a:xfrm>
            <a:off x="804672" y="462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Ⅴ</a:t>
            </a:r>
          </a:p>
        </p:txBody>
      </p:sp>
      <p:sp>
        <p:nvSpPr>
          <p:cNvPr id="243" name="TOCtitle240"/>
          <p:cNvSpPr/>
          <p:nvPr/>
        </p:nvSpPr>
        <p:spPr>
          <a:xfrm>
            <a:off x="1417320" y="457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LLM 진단 보고서 파이프라인</a:t>
            </a:r>
          </a:p>
        </p:txBody>
      </p:sp>
      <p:sp>
        <p:nvSpPr>
          <p:cNvPr id="244" name="TOCdesc240"/>
          <p:cNvSpPr/>
          <p:nvPr/>
        </p:nvSpPr>
        <p:spPr>
          <a:xfrm>
            <a:off x="1417320" y="486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파이프라인 · 배포 · 통합 진단 · 릴리스 · 결론</a:t>
            </a:r>
          </a:p>
        </p:txBody>
      </p:sp>
      <p:sp>
        <p:nvSpPr>
          <p:cNvPr id="250" name="TOCcard250"/>
          <p:cNvSpPr/>
          <p:nvPr/>
        </p:nvSpPr>
        <p:spPr>
          <a:xfrm>
            <a:off x="640080" y="528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1" name="TOCbadge250"/>
          <p:cNvSpPr/>
          <p:nvPr/>
        </p:nvSpPr>
        <p:spPr>
          <a:xfrm>
            <a:off x="804672" y="5417000"/>
            <a:ext cx="402000" cy="4020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2" name="TOCbtext250"/>
          <p:cNvSpPr/>
          <p:nvPr/>
        </p:nvSpPr>
        <p:spPr>
          <a:xfrm>
            <a:off x="804672" y="541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Ⅵ</a:t>
            </a:r>
          </a:p>
        </p:txBody>
      </p:sp>
      <p:sp>
        <p:nvSpPr>
          <p:cNvPr id="253" name="TOCtitle250"/>
          <p:cNvSpPr/>
          <p:nvPr/>
        </p:nvSpPr>
        <p:spPr>
          <a:xfrm>
            <a:off x="1417320" y="536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결론</a:t>
            </a:r>
            <a:r>
              <a:rPr lang="en-US" altLang="ko-KR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기대효과 · 로드맵 · 향후 계획</a:t>
            </a:r>
          </a:p>
        </p:txBody>
      </p:sp>
      <p:sp>
        <p:nvSpPr>
          <p:cNvPr id="254" name="TOCdesc250"/>
          <p:cNvSpPr/>
          <p:nvPr/>
        </p:nvSpPr>
        <p:spPr>
          <a:xfrm>
            <a:off x="1417320" y="565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LLM 성능개선 로드맵(4단계) · 향후 적용 우선순위</a:t>
            </a:r>
          </a:p>
        </p:txBody>
      </p:sp>
      <p:sp>
        <p:nvSpPr>
          <p:cNvPr id="260" name="TOCcard260"/>
          <p:cNvSpPr/>
          <p:nvPr/>
        </p:nvSpPr>
        <p:spPr>
          <a:xfrm>
            <a:off x="6400800" y="133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1" name="TOCbadge260"/>
          <p:cNvSpPr/>
          <p:nvPr/>
        </p:nvSpPr>
        <p:spPr>
          <a:xfrm>
            <a:off x="6565392" y="1467000"/>
            <a:ext cx="402000" cy="4020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2" name="TOCbtext260"/>
          <p:cNvSpPr/>
          <p:nvPr/>
        </p:nvSpPr>
        <p:spPr>
          <a:xfrm>
            <a:off x="6565392" y="146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A</a:t>
            </a:r>
          </a:p>
        </p:txBody>
      </p:sp>
      <p:sp>
        <p:nvSpPr>
          <p:cNvPr id="263" name="TOCtitle260"/>
          <p:cNvSpPr/>
          <p:nvPr/>
        </p:nvSpPr>
        <p:spPr>
          <a:xfrm>
            <a:off x="7178040" y="141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DL · ML 프로젝트 구성</a:t>
            </a:r>
          </a:p>
        </p:txBody>
      </p:sp>
      <p:sp>
        <p:nvSpPr>
          <p:cNvPr id="264" name="TOCdesc260"/>
          <p:cNvSpPr/>
          <p:nvPr/>
        </p:nvSpPr>
        <p:spPr>
          <a:xfrm>
            <a:off x="7178040" y="170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PdM 도입 효과 · FEMTO-ST 데이터 구성</a:t>
            </a:r>
          </a:p>
        </p:txBody>
      </p:sp>
      <p:sp>
        <p:nvSpPr>
          <p:cNvPr id="270" name="TOCcard270"/>
          <p:cNvSpPr/>
          <p:nvPr/>
        </p:nvSpPr>
        <p:spPr>
          <a:xfrm>
            <a:off x="6400800" y="2126232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1" name="TOCbadge270"/>
          <p:cNvSpPr/>
          <p:nvPr/>
        </p:nvSpPr>
        <p:spPr>
          <a:xfrm>
            <a:off x="6565392" y="2263232"/>
            <a:ext cx="402000" cy="4020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2" name="TOCbtext270"/>
          <p:cNvSpPr/>
          <p:nvPr/>
        </p:nvSpPr>
        <p:spPr>
          <a:xfrm>
            <a:off x="6565392" y="2263232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B</a:t>
            </a:r>
          </a:p>
        </p:txBody>
      </p:sp>
      <p:sp>
        <p:nvSpPr>
          <p:cNvPr id="273" name="TOCtitle270"/>
          <p:cNvSpPr/>
          <p:nvPr/>
        </p:nvSpPr>
        <p:spPr>
          <a:xfrm>
            <a:off x="7178040" y="2214232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세 과제 구성 (ML ↔ DL ↔ LLM)</a:t>
            </a:r>
          </a:p>
        </p:txBody>
      </p:sp>
      <p:sp>
        <p:nvSpPr>
          <p:cNvPr id="274" name="TOCdesc270"/>
          <p:cNvSpPr/>
          <p:nvPr/>
        </p:nvSpPr>
        <p:spPr>
          <a:xfrm>
            <a:off x="7178040" y="2498232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현장 데이터를 세 Streamlit 앱이 구독</a:t>
            </a:r>
          </a:p>
        </p:txBody>
      </p:sp>
      <p:sp>
        <p:nvSpPr>
          <p:cNvPr id="280" name="TOCcard280"/>
          <p:cNvSpPr/>
          <p:nvPr/>
        </p:nvSpPr>
        <p:spPr>
          <a:xfrm>
            <a:off x="6400800" y="2896324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1" name="TOCbadge280"/>
          <p:cNvSpPr/>
          <p:nvPr/>
        </p:nvSpPr>
        <p:spPr>
          <a:xfrm>
            <a:off x="6565392" y="3033324"/>
            <a:ext cx="402000" cy="4020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2" name="TOCbtext280"/>
          <p:cNvSpPr/>
          <p:nvPr/>
        </p:nvSpPr>
        <p:spPr>
          <a:xfrm>
            <a:off x="6565392" y="3033324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C</a:t>
            </a:r>
          </a:p>
        </p:txBody>
      </p:sp>
      <p:sp>
        <p:nvSpPr>
          <p:cNvPr id="283" name="TOCtitle280"/>
          <p:cNvSpPr/>
          <p:nvPr/>
        </p:nvSpPr>
        <p:spPr>
          <a:xfrm>
            <a:off x="7178040" y="2984324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미채택 방안 · 산출물</a:t>
            </a:r>
          </a:p>
        </p:txBody>
      </p:sp>
      <p:sp>
        <p:nvSpPr>
          <p:cNvPr id="284" name="TOCdesc280"/>
          <p:cNvSpPr/>
          <p:nvPr/>
        </p:nvSpPr>
        <p:spPr>
          <a:xfrm>
            <a:off x="7178040" y="3268324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Proposal B/C · 산출물 노트북(ipynb/py)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139D25A-686D-7214-951E-25FE170B5A50}"/>
              </a:ext>
            </a:extLst>
          </p:cNvPr>
          <p:cNvGrpSpPr/>
          <p:nvPr/>
        </p:nvGrpSpPr>
        <p:grpSpPr>
          <a:xfrm>
            <a:off x="6393396" y="3689340"/>
            <a:ext cx="5394960" cy="676000"/>
            <a:chOff x="6400800" y="2120000"/>
            <a:chExt cx="5394960" cy="676000"/>
          </a:xfrm>
        </p:grpSpPr>
        <p:sp>
          <p:nvSpPr>
            <p:cNvPr id="290" name="TOCcard290"/>
            <p:cNvSpPr/>
            <p:nvPr/>
          </p:nvSpPr>
          <p:spPr>
            <a:xfrm>
              <a:off x="6400800" y="2120000"/>
              <a:ext cx="5394960" cy="676000"/>
            </a:xfrm>
            <a:prstGeom prst="roundRect">
              <a:avLst>
                <a:gd name="adj" fmla="val 8000"/>
              </a:avLst>
            </a:prstGeom>
            <a:solidFill>
              <a:srgbClr val="F2F7FB"/>
            </a:solidFill>
            <a:ln w="12700">
              <a:solidFill>
                <a:srgbClr val="D6E0EA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TOCbadge290"/>
            <p:cNvSpPr/>
            <p:nvPr/>
          </p:nvSpPr>
          <p:spPr>
            <a:xfrm>
              <a:off x="6565392" y="2257000"/>
              <a:ext cx="402000" cy="402000"/>
            </a:xfrm>
            <a:prstGeom prst="ellipse">
              <a:avLst/>
            </a:prstGeom>
            <a:solidFill>
              <a:srgbClr val="138496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92" name="TOCbtext290"/>
            <p:cNvSpPr/>
            <p:nvPr/>
          </p:nvSpPr>
          <p:spPr>
            <a:xfrm>
              <a:off x="6565392" y="2257000"/>
              <a:ext cx="402000" cy="402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D</a:t>
              </a:r>
            </a:p>
          </p:txBody>
        </p:sp>
        <p:sp>
          <p:nvSpPr>
            <p:cNvPr id="293" name="TOCtitle290"/>
            <p:cNvSpPr/>
            <p:nvPr/>
          </p:nvSpPr>
          <p:spPr>
            <a:xfrm>
              <a:off x="7178040" y="2208000"/>
              <a:ext cx="4480560" cy="3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1F3A5F"/>
                  </a:solidFill>
                  <a:latin typeface="Malgun Gothic" pitchFamily="34" charset="0"/>
                  <a:ea typeface="Malgun Gothic" pitchFamily="34" charset="-122"/>
                </a:rPr>
                <a:t>환각 방어 게이트</a:t>
              </a:r>
            </a:p>
          </p:txBody>
        </p:sp>
        <p:sp>
          <p:nvSpPr>
            <p:cNvPr id="294" name="TOCdesc290"/>
            <p:cNvSpPr/>
            <p:nvPr/>
          </p:nvSpPr>
          <p:spPr>
            <a:xfrm>
              <a:off x="7178040" y="2492000"/>
              <a:ext cx="4480560" cy="3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000" dirty="0">
                  <a:solidFill>
                    <a:srgbClr val="6B7785"/>
                  </a:solidFill>
                  <a:latin typeface="Malgun Gothic" pitchFamily="34" charset="0"/>
                  <a:ea typeface="Malgun Gothic" pitchFamily="34" charset="-122"/>
                </a:rPr>
                <a:t>3층 게이트 · 모를 땐 판단불가로 폴백</a:t>
              </a:r>
            </a:p>
          </p:txBody>
        </p:sp>
      </p:grpSp>
      <p:sp>
        <p:nvSpPr>
          <p:cNvPr id="300" name="TOCcard300"/>
          <p:cNvSpPr/>
          <p:nvPr/>
        </p:nvSpPr>
        <p:spPr>
          <a:xfrm>
            <a:off x="6382512" y="4468854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1" name="TOCbadge300"/>
          <p:cNvSpPr/>
          <p:nvPr/>
        </p:nvSpPr>
        <p:spPr>
          <a:xfrm>
            <a:off x="6591519" y="4655622"/>
            <a:ext cx="402000" cy="4020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2" name="TOCbtext300"/>
          <p:cNvSpPr/>
          <p:nvPr/>
        </p:nvSpPr>
        <p:spPr>
          <a:xfrm>
            <a:off x="6591519" y="4655622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E</a:t>
            </a:r>
          </a:p>
        </p:txBody>
      </p:sp>
      <p:sp>
        <p:nvSpPr>
          <p:cNvPr id="303" name="TOCtitle300"/>
          <p:cNvSpPr/>
          <p:nvPr/>
        </p:nvSpPr>
        <p:spPr>
          <a:xfrm>
            <a:off x="7204167" y="4606622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RAG 출처근거(Citation)</a:t>
            </a:r>
          </a:p>
        </p:txBody>
      </p:sp>
      <p:sp>
        <p:nvSpPr>
          <p:cNvPr id="304" name="TOCdesc300"/>
          <p:cNvSpPr/>
          <p:nvPr/>
        </p:nvSpPr>
        <p:spPr>
          <a:xfrm>
            <a:off x="7204167" y="4890622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문서 근거를 절 번호·개정일로 태깅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600"/>
              <a:t>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프로젝트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개요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-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기존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DL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시스템의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한계와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LLM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필요성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rPr dirty="0" err="1"/>
              <a:t>의의</a:t>
            </a:r>
            <a:r>
              <a:rPr dirty="0"/>
              <a:t>: ML/DL/</a:t>
            </a:r>
            <a:r>
              <a:rPr dirty="0" err="1"/>
              <a:t>RAG의</a:t>
            </a:r>
            <a:r>
              <a:rPr dirty="0"/>
              <a:t> </a:t>
            </a:r>
            <a:r>
              <a:rPr dirty="0" err="1"/>
              <a:t>수치</a:t>
            </a:r>
            <a:r>
              <a:rPr dirty="0"/>
              <a:t>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정확하지만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담당자가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행동으로</a:t>
            </a:r>
            <a:r>
              <a:rPr dirty="0"/>
              <a:t> </a:t>
            </a:r>
            <a:r>
              <a:rPr dirty="0" err="1"/>
              <a:t>옮기기</a:t>
            </a:r>
            <a:r>
              <a:rPr dirty="0"/>
              <a:t> 어</a:t>
            </a:r>
            <a:r>
              <a:rPr lang="ko-KR" altLang="en-US" dirty="0" err="1"/>
              <a:t>려움</a:t>
            </a:r>
            <a:endParaRPr lang="en-US" altLang="ko-KR" dirty="0"/>
          </a:p>
          <a:p>
            <a:r>
              <a:rPr lang="en-US" altLang="ko-KR" dirty="0"/>
              <a:t>          </a:t>
            </a:r>
            <a:r>
              <a:rPr lang="ko-KR" altLang="en-US" dirty="0"/>
              <a:t>→</a:t>
            </a:r>
            <a:r>
              <a:rPr dirty="0"/>
              <a:t> LLM(Claude API)이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수치를</a:t>
            </a:r>
            <a:r>
              <a:rPr dirty="0"/>
              <a:t> </a:t>
            </a:r>
            <a:r>
              <a:rPr dirty="0" err="1"/>
              <a:t>근거로</a:t>
            </a:r>
            <a:r>
              <a:rPr dirty="0"/>
              <a:t> </a:t>
            </a:r>
            <a:r>
              <a:rPr dirty="0" err="1"/>
              <a:t>사람이</a:t>
            </a:r>
            <a:r>
              <a:rPr dirty="0"/>
              <a:t> </a:t>
            </a:r>
            <a:r>
              <a:rPr dirty="0" err="1"/>
              <a:t>읽는</a:t>
            </a:r>
            <a:r>
              <a:rPr dirty="0"/>
              <a:t> </a:t>
            </a:r>
            <a:r>
              <a:rPr dirty="0" err="1"/>
              <a:t>자연어</a:t>
            </a:r>
            <a:r>
              <a:rPr dirty="0"/>
              <a:t> 진단 </a:t>
            </a:r>
            <a:r>
              <a:rPr dirty="0" err="1"/>
              <a:t>보고서로</a:t>
            </a:r>
            <a:r>
              <a:rPr dirty="0"/>
              <a:t> </a:t>
            </a:r>
            <a:r>
              <a:rPr dirty="0" err="1"/>
              <a:t>변환하는</a:t>
            </a:r>
            <a:r>
              <a:rPr dirty="0"/>
              <a:t> </a:t>
            </a:r>
            <a:r>
              <a:rPr dirty="0" err="1"/>
              <a:t>해석</a:t>
            </a:r>
            <a:r>
              <a:rPr dirty="0"/>
              <a:t> </a:t>
            </a:r>
            <a:r>
              <a:rPr dirty="0" err="1"/>
              <a:t>계층</a:t>
            </a:r>
            <a:r>
              <a:rPr dirty="0"/>
              <a:t> </a:t>
            </a:r>
            <a:r>
              <a:rPr dirty="0" err="1"/>
              <a:t>추가</a:t>
            </a:r>
            <a:endParaRPr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256634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2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3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기존 출력 (수치만)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적용 후 (자연어 해석)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ML 확률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[현재 상태] 위험 - 열화 72%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DL RUL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[정비 권고] 즉시 점검 및 교체 준비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RAG 유사도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[유사 사례] Bearing1_3 동일 패턴, 30분 후 파손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문제 -&gt; 해결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데이터 분석가만 해석 가능, 현장 조치 지연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비전문가도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즉시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이해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가능한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정비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보고서로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자동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변환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61E3FC2E-80D4-A2B4-5349-41975ED42A02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/>
              <a:t>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LLM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확장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방안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3종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비교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- Proposal A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채택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rPr dirty="0" err="1"/>
              <a:t>의의</a:t>
            </a:r>
            <a:r>
              <a:rPr dirty="0"/>
              <a:t>: </a:t>
            </a:r>
            <a:r>
              <a:rPr dirty="0" err="1"/>
              <a:t>채택</a:t>
            </a:r>
            <a:r>
              <a:rPr dirty="0"/>
              <a:t> </a:t>
            </a:r>
            <a:r>
              <a:rPr dirty="0" err="1"/>
              <a:t>기준은</a:t>
            </a:r>
            <a:r>
              <a:rPr dirty="0"/>
              <a:t>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가능성+즉시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적용+비용</a:t>
            </a:r>
            <a:r>
              <a:rPr dirty="0"/>
              <a:t> </a:t>
            </a:r>
            <a:r>
              <a:rPr dirty="0" err="1"/>
              <a:t>효율성</a:t>
            </a:r>
            <a:endParaRPr lang="en-US" dirty="0"/>
          </a:p>
          <a:p>
            <a:r>
              <a:rPr lang="en-US" dirty="0"/>
              <a:t>           </a:t>
            </a:r>
            <a:r>
              <a:rPr lang="ko-KR" altLang="en-US" dirty="0"/>
              <a:t>→</a:t>
            </a:r>
            <a:r>
              <a:rPr dirty="0"/>
              <a:t> Proposal </a:t>
            </a:r>
            <a:r>
              <a:rPr dirty="0" err="1"/>
              <a:t>A가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낮은</a:t>
            </a:r>
            <a:r>
              <a:rPr dirty="0"/>
              <a:t> </a:t>
            </a:r>
            <a:r>
              <a:rPr dirty="0" err="1"/>
              <a:t>난이도로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적용</a:t>
            </a:r>
            <a:r>
              <a:rPr dirty="0"/>
              <a:t> </a:t>
            </a:r>
            <a:r>
              <a:rPr dirty="0" err="1"/>
              <a:t>가능해</a:t>
            </a:r>
            <a:r>
              <a:rPr dirty="0"/>
              <a:t> </a:t>
            </a:r>
            <a:r>
              <a:rPr dirty="0" err="1"/>
              <a:t>채택</a:t>
            </a:r>
            <a:endParaRPr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125629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9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1530">
                <a:tc>
                  <a:txBody>
                    <a:bodyPr/>
                    <a:lstStyle/>
                    <a:p>
                      <a:r>
                        <a:t>방안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핵심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난이도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RAG+ML/DL -&gt; LLM 자연어 보고서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LLM이 이상 패턴 직접 학습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미채택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멀티모달 센서+문서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미채택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F086E2B5-0F31-58BF-25D3-7B7AB7772908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/>
              <a:t>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RAG 2단계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아키텍처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-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수치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유사도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+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문서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RAG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rPr dirty="0" err="1"/>
              <a:t>의의</a:t>
            </a:r>
            <a:r>
              <a:rPr dirty="0"/>
              <a:t>: Level 1은 </a:t>
            </a:r>
            <a:r>
              <a:rPr dirty="0" err="1"/>
              <a:t>과거에</a:t>
            </a:r>
            <a:r>
              <a:rPr dirty="0"/>
              <a:t> </a:t>
            </a:r>
            <a:r>
              <a:rPr dirty="0" err="1"/>
              <a:t>비슷한</a:t>
            </a:r>
            <a:r>
              <a:rPr dirty="0"/>
              <a:t> </a:t>
            </a:r>
            <a:r>
              <a:rPr dirty="0" err="1"/>
              <a:t>상태가</a:t>
            </a:r>
            <a:r>
              <a:rPr dirty="0"/>
              <a:t> </a:t>
            </a:r>
            <a:r>
              <a:rPr dirty="0" err="1"/>
              <a:t>있었는가를</a:t>
            </a:r>
            <a:r>
              <a:rPr dirty="0"/>
              <a:t> </a:t>
            </a:r>
            <a:r>
              <a:rPr dirty="0" err="1"/>
              <a:t>수치로</a:t>
            </a:r>
            <a:r>
              <a:rPr dirty="0"/>
              <a:t>, </a:t>
            </a:r>
            <a:endParaRPr lang="en-US" dirty="0"/>
          </a:p>
          <a:p>
            <a:r>
              <a:rPr lang="en-US" dirty="0"/>
              <a:t>           </a:t>
            </a:r>
            <a:r>
              <a:rPr dirty="0"/>
              <a:t>Level 2는 </a:t>
            </a:r>
            <a:r>
              <a:rPr dirty="0" err="1"/>
              <a:t>정비</a:t>
            </a:r>
            <a:r>
              <a:rPr dirty="0"/>
              <a:t> </a:t>
            </a:r>
            <a:r>
              <a:rPr dirty="0" err="1"/>
              <a:t>지식</a:t>
            </a:r>
            <a:r>
              <a:rPr dirty="0"/>
              <a:t> </a:t>
            </a:r>
            <a:r>
              <a:rPr dirty="0" err="1"/>
              <a:t>문서에</a:t>
            </a:r>
            <a:r>
              <a:rPr dirty="0"/>
              <a:t>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근거가</a:t>
            </a:r>
            <a:r>
              <a:rPr dirty="0"/>
              <a:t> </a:t>
            </a:r>
            <a:r>
              <a:rPr dirty="0" err="1"/>
              <a:t>있는가를</a:t>
            </a:r>
            <a:r>
              <a:rPr dirty="0"/>
              <a:t> </a:t>
            </a:r>
            <a:r>
              <a:rPr dirty="0" err="1"/>
              <a:t>자연어로</a:t>
            </a:r>
            <a:r>
              <a:rPr dirty="0"/>
              <a:t> </a:t>
            </a:r>
            <a:r>
              <a:rPr lang="ko-KR" altLang="en-US" dirty="0"/>
              <a:t>대</a:t>
            </a:r>
            <a:r>
              <a:rPr dirty="0"/>
              <a:t>답</a:t>
            </a:r>
            <a:r>
              <a:rPr lang="ko-KR" altLang="en-US" dirty="0"/>
              <a:t>함 </a:t>
            </a:r>
            <a:endParaRPr lang="en-US" altLang="ko-KR" dirty="0"/>
          </a:p>
          <a:p>
            <a:r>
              <a:rPr lang="en-US" altLang="ko-KR" dirty="0"/>
              <a:t>           </a:t>
            </a:r>
            <a:r>
              <a:rPr lang="ko-KR" altLang="en-US" dirty="0"/>
              <a:t>→</a:t>
            </a:r>
            <a:r>
              <a:rPr dirty="0"/>
              <a:t> 두 </a:t>
            </a:r>
            <a:r>
              <a:rPr dirty="0" err="1"/>
              <a:t>결과는</a:t>
            </a:r>
            <a:r>
              <a:rPr dirty="0"/>
              <a:t> LLM </a:t>
            </a:r>
            <a:r>
              <a:rPr dirty="0" err="1"/>
              <a:t>보고서의</a:t>
            </a:r>
            <a:r>
              <a:rPr dirty="0"/>
              <a:t> </a:t>
            </a:r>
            <a:r>
              <a:rPr dirty="0" err="1"/>
              <a:t>근거로</a:t>
            </a:r>
            <a:r>
              <a:rPr dirty="0"/>
              <a:t> </a:t>
            </a:r>
            <a:r>
              <a:rPr dirty="0" err="1"/>
              <a:t>결합</a:t>
            </a:r>
            <a:endParaRPr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 Level 1 (수치 유사도)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 Level 2 (문서 RAG)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모듈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src/femto_rag_search.py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src/femto_doc_rag.py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인덱스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FAISS IndexFlatIP(코사인)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Chroma 벡터DB(영구 저장)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질의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센서값 -&gt; Top-k 유사 사례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자연어 질문 -&gt; 문서 검색/답변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RAG 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일반 RAG(순수 벡터 검색)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Hybrid RAG(BM25+벡터, v0.6)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DEB7D355-21A6-8B39-DFD2-188B00208355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/>
              <a:t>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Hybrid RAG(BM25+벡터)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rPr dirty="0" err="1"/>
              <a:t>의의</a:t>
            </a:r>
            <a:r>
              <a:rPr dirty="0"/>
              <a:t>: </a:t>
            </a:r>
            <a:r>
              <a:rPr dirty="0" err="1"/>
              <a:t>정비</a:t>
            </a:r>
            <a:r>
              <a:rPr dirty="0"/>
              <a:t> </a:t>
            </a:r>
            <a:r>
              <a:rPr dirty="0" err="1"/>
              <a:t>문서는</a:t>
            </a:r>
            <a:r>
              <a:rPr dirty="0"/>
              <a:t> 40도 </a:t>
            </a:r>
            <a:r>
              <a:rPr dirty="0" err="1"/>
              <a:t>초과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정확한</a:t>
            </a:r>
            <a:r>
              <a:rPr dirty="0"/>
              <a:t> </a:t>
            </a:r>
            <a:r>
              <a:rPr dirty="0" err="1"/>
              <a:t>수치</a:t>
            </a:r>
            <a:r>
              <a:rPr dirty="0"/>
              <a:t> </a:t>
            </a:r>
            <a:r>
              <a:rPr dirty="0" err="1"/>
              <a:t>표현이</a:t>
            </a:r>
            <a:r>
              <a:rPr dirty="0"/>
              <a:t> </a:t>
            </a:r>
            <a:r>
              <a:rPr dirty="0" err="1"/>
              <a:t>많아</a:t>
            </a:r>
            <a:r>
              <a:rPr dirty="0"/>
              <a:t> </a:t>
            </a:r>
            <a:r>
              <a:rPr dirty="0" err="1"/>
              <a:t>순수</a:t>
            </a:r>
            <a:r>
              <a:rPr dirty="0"/>
              <a:t> </a:t>
            </a:r>
            <a:r>
              <a:rPr dirty="0" err="1"/>
              <a:t>의미</a:t>
            </a:r>
            <a:r>
              <a:rPr dirty="0"/>
              <a:t> </a:t>
            </a:r>
            <a:r>
              <a:rPr dirty="0" err="1"/>
              <a:t>검색만으로는</a:t>
            </a:r>
            <a:r>
              <a:rPr dirty="0"/>
              <a:t> </a:t>
            </a:r>
            <a:r>
              <a:rPr dirty="0" err="1"/>
              <a:t>놓치기</a:t>
            </a:r>
            <a:r>
              <a:rPr dirty="0"/>
              <a:t> </a:t>
            </a:r>
            <a:r>
              <a:rPr lang="ko-KR" altLang="en-US" dirty="0"/>
              <a:t>쉬움</a:t>
            </a:r>
            <a:endParaRPr lang="en-US" altLang="ko-KR" dirty="0"/>
          </a:p>
          <a:p>
            <a:r>
              <a:rPr lang="en-US" dirty="0"/>
              <a:t>            </a:t>
            </a:r>
            <a:r>
              <a:rPr lang="ko-KR" altLang="en-US" dirty="0"/>
              <a:t>→</a:t>
            </a:r>
            <a:r>
              <a:rPr dirty="0"/>
              <a:t> Hybrid </a:t>
            </a:r>
            <a:r>
              <a:rPr dirty="0" err="1"/>
              <a:t>RAG로</a:t>
            </a:r>
            <a:r>
              <a:rPr dirty="0"/>
              <a:t> RAG-Level2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정확도를</a:t>
            </a:r>
            <a:r>
              <a:rPr dirty="0"/>
              <a:t> </a:t>
            </a:r>
            <a:r>
              <a:rPr dirty="0" err="1"/>
              <a:t>개선</a:t>
            </a:r>
            <a:r>
              <a:rPr dirty="0"/>
              <a:t>(v0.6 </a:t>
            </a:r>
            <a:r>
              <a:rPr dirty="0" err="1"/>
              <a:t>완료</a:t>
            </a:r>
            <a:r>
              <a:rPr dirty="0"/>
              <a:t>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153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적용 전 (v0.5)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적용 후 (v0.6)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검색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Chroma 벡터 검색만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BM25(키워드)+벡터, EnsembleRetriever 50:50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약점/개선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정확한 수치, 임계값 표현을 놓치기 쉬움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BM25가 수치, 임계값 포착, 벡터가 의미 유사 보완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검증 질의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온도만 상승하면? -&gt; 찾을 수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동일 질문 -&gt; 윤활 점검 근거 정확히 답변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2277BC13-F3FA-54A6-0B47-B5EB50D4B738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/>
              <a:t>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1. 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LLM 진단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보고서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생성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파이프라인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(Proposal A)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rPr dirty="0" err="1"/>
              <a:t>의의</a:t>
            </a:r>
            <a:r>
              <a:rPr dirty="0"/>
              <a:t>: </a:t>
            </a:r>
            <a:r>
              <a:rPr dirty="0" err="1"/>
              <a:t>LLM은</a:t>
            </a:r>
            <a:r>
              <a:rPr dirty="0"/>
              <a:t> ML/</a:t>
            </a:r>
            <a:r>
              <a:rPr dirty="0" err="1"/>
              <a:t>DL의</a:t>
            </a:r>
            <a:r>
              <a:rPr dirty="0"/>
              <a:t> </a:t>
            </a:r>
            <a:r>
              <a:rPr dirty="0" err="1"/>
              <a:t>수치</a:t>
            </a:r>
            <a:r>
              <a:rPr dirty="0"/>
              <a:t> </a:t>
            </a:r>
            <a:r>
              <a:rPr dirty="0" err="1"/>
              <a:t>판정을</a:t>
            </a:r>
            <a:r>
              <a:rPr dirty="0"/>
              <a:t> </a:t>
            </a:r>
            <a:r>
              <a:rPr dirty="0" err="1"/>
              <a:t>대체하지</a:t>
            </a:r>
            <a:r>
              <a:rPr dirty="0"/>
              <a:t> 않</a:t>
            </a:r>
            <a:r>
              <a:rPr lang="ko-KR" altLang="en-US" dirty="0"/>
              <a:t>음</a:t>
            </a:r>
            <a:endParaRPr lang="en-US" altLang="ko-KR" dirty="0"/>
          </a:p>
          <a:p>
            <a:r>
              <a:rPr lang="en-US" dirty="0"/>
              <a:t>          </a:t>
            </a:r>
            <a:r>
              <a:rPr lang="en-US" altLang="ko-KR" dirty="0"/>
              <a:t> → </a:t>
            </a:r>
            <a:r>
              <a:rPr dirty="0"/>
              <a:t>RAG </a:t>
            </a:r>
            <a:r>
              <a:rPr dirty="0" err="1"/>
              <a:t>근거와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담당자가</a:t>
            </a:r>
            <a:r>
              <a:rPr dirty="0"/>
              <a:t> </a:t>
            </a:r>
            <a:r>
              <a:rPr dirty="0" err="1"/>
              <a:t>바로</a:t>
            </a:r>
            <a:r>
              <a:rPr dirty="0"/>
              <a:t> </a:t>
            </a:r>
            <a:r>
              <a:rPr dirty="0" err="1"/>
              <a:t>읽을</a:t>
            </a:r>
            <a:r>
              <a:rPr dirty="0"/>
              <a:t> 수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자연어</a:t>
            </a:r>
            <a:r>
              <a:rPr dirty="0"/>
              <a:t> </a:t>
            </a:r>
            <a:r>
              <a:rPr dirty="0" err="1"/>
              <a:t>정비</a:t>
            </a:r>
            <a:r>
              <a:rPr dirty="0"/>
              <a:t> </a:t>
            </a:r>
            <a:r>
              <a:rPr dirty="0" err="1"/>
              <a:t>권고로</a:t>
            </a:r>
            <a:r>
              <a:rPr dirty="0"/>
              <a:t> </a:t>
            </a:r>
            <a:r>
              <a:rPr dirty="0" err="1"/>
              <a:t>해석</a:t>
            </a:r>
            <a:r>
              <a:rPr dirty="0"/>
              <a:t>, </a:t>
            </a:r>
            <a:r>
              <a:rPr dirty="0" err="1"/>
              <a:t>문서화하는</a:t>
            </a:r>
            <a:r>
              <a:rPr dirty="0"/>
              <a:t> </a:t>
            </a:r>
            <a:r>
              <a:rPr dirty="0" err="1"/>
              <a:t>계층</a:t>
            </a:r>
            <a:endParaRPr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09577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1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r>
                        <a:rPr dirty="0" err="1"/>
                        <a:t>항목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dirty="0" err="1"/>
                        <a:t>모듈</a:t>
                      </a:r>
                      <a:r>
                        <a:rPr dirty="0"/>
                        <a:t> /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src</a:t>
                      </a:r>
                      <a:r>
                        <a:rPr dirty="0"/>
                        <a:t>/femto_llm_report.py, Claude API(claude-haiku-4-5-20251001)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입력 컨텍스트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센서값 + ML 열화확률 + DL RUL + RAG Level1/2 근거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출력 구조(5섹션)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현재 상태, 이상 신호, 정비 권고, 유사 사례, 문서 근거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Mock 모드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API 키 </a:t>
                      </a:r>
                      <a:r>
                        <a:rPr dirty="0" err="1"/>
                        <a:t>미설정</a:t>
                      </a:r>
                      <a:r>
                        <a:rPr dirty="0"/>
                        <a:t> 시 </a:t>
                      </a:r>
                      <a:r>
                        <a:rPr dirty="0" err="1"/>
                        <a:t>규칙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기반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동일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구조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보고서</a:t>
                      </a:r>
                      <a:r>
                        <a:rPr dirty="0"/>
                        <a:t>(</a:t>
                      </a:r>
                      <a:r>
                        <a:rPr dirty="0" err="1"/>
                        <a:t>무료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데모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Structured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JSON Schema </a:t>
                      </a:r>
                      <a:r>
                        <a:rPr dirty="0" err="1"/>
                        <a:t>강제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출력</a:t>
                      </a:r>
                      <a:r>
                        <a:rPr dirty="0"/>
                        <a:t> - status/anomalies/action 등, </a:t>
                      </a:r>
                      <a:r>
                        <a:rPr dirty="0" err="1"/>
                        <a:t>대시보드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알람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연동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361E0DD5-E21A-DC05-1396-C0C400341380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dirty="0"/>
              <a:t>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2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.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Streamlit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배포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구성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및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로컬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LLM(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Ollama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)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제약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1480" y="5065775"/>
            <a:ext cx="11274552" cy="1655063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rPr dirty="0" err="1"/>
              <a:t>의의</a:t>
            </a:r>
            <a:r>
              <a:rPr dirty="0"/>
              <a:t>: </a:t>
            </a:r>
            <a:r>
              <a:rPr dirty="0" err="1"/>
              <a:t>이중</a:t>
            </a:r>
            <a:r>
              <a:rPr dirty="0"/>
              <a:t> LLM </a:t>
            </a:r>
            <a:r>
              <a:rPr dirty="0" err="1"/>
              <a:t>구조</a:t>
            </a:r>
            <a:r>
              <a:rPr dirty="0"/>
              <a:t> </a:t>
            </a:r>
            <a:endParaRPr lang="en-US" dirty="0"/>
          </a:p>
          <a:p>
            <a:r>
              <a:rPr lang="en-US" dirty="0"/>
              <a:t> </a:t>
            </a:r>
            <a:r>
              <a:rPr lang="en-US" altLang="ko-KR" dirty="0"/>
              <a:t>        → </a:t>
            </a:r>
            <a:r>
              <a:rPr dirty="0"/>
              <a:t> RAG-Level2 </a:t>
            </a:r>
            <a:r>
              <a:rPr dirty="0" err="1"/>
              <a:t>자유</a:t>
            </a:r>
            <a:r>
              <a:rPr dirty="0"/>
              <a:t> </a:t>
            </a:r>
            <a:r>
              <a:rPr dirty="0" err="1"/>
              <a:t>질의응답은</a:t>
            </a:r>
            <a:r>
              <a:rPr dirty="0"/>
              <a:t> </a:t>
            </a:r>
            <a:r>
              <a:rPr dirty="0" err="1"/>
              <a:t>로컬</a:t>
            </a:r>
            <a:r>
              <a:rPr dirty="0"/>
              <a:t> </a:t>
            </a:r>
            <a:r>
              <a:rPr dirty="0" err="1"/>
              <a:t>Ollama</a:t>
            </a:r>
            <a:r>
              <a:rPr dirty="0"/>
              <a:t>(gemma4:e2b, </a:t>
            </a:r>
            <a:r>
              <a:rPr dirty="0" err="1"/>
              <a:t>무료·오프라인</a:t>
            </a:r>
            <a:r>
              <a:rPr dirty="0"/>
              <a:t>)</a:t>
            </a:r>
            <a:endParaRPr lang="en-US" dirty="0"/>
          </a:p>
          <a:p>
            <a:r>
              <a:rPr lang="en-US" dirty="0"/>
              <a:t>         </a:t>
            </a:r>
            <a:r>
              <a:rPr lang="en-US" altLang="ko-KR" dirty="0"/>
              <a:t>→ </a:t>
            </a:r>
            <a:r>
              <a:rPr dirty="0"/>
              <a:t> LLM 진단 </a:t>
            </a:r>
            <a:r>
              <a:rPr dirty="0" err="1"/>
              <a:t>보고서</a:t>
            </a:r>
            <a:r>
              <a:rPr dirty="0"/>
              <a:t> </a:t>
            </a:r>
            <a:r>
              <a:rPr dirty="0" err="1"/>
              <a:t>생성은</a:t>
            </a:r>
            <a:r>
              <a:rPr dirty="0"/>
              <a:t> Claude API( </a:t>
            </a:r>
            <a:r>
              <a:rPr dirty="0" err="1"/>
              <a:t>유료·클라우드</a:t>
            </a:r>
            <a:r>
              <a:rPr dirty="0"/>
              <a:t>)가 </a:t>
            </a:r>
            <a:r>
              <a:rPr dirty="0" err="1"/>
              <a:t>각각</a:t>
            </a:r>
            <a:r>
              <a:rPr dirty="0"/>
              <a:t> </a:t>
            </a:r>
            <a:r>
              <a:rPr dirty="0" err="1"/>
              <a:t>담당</a:t>
            </a:r>
            <a:endParaRPr lang="en-US" dirty="0"/>
          </a:p>
          <a:p>
            <a:r>
              <a:rPr lang="en-US" dirty="0"/>
              <a:t>             (</a:t>
            </a:r>
            <a:r>
              <a:rPr dirty="0" err="1"/>
              <a:t>Ollama는</a:t>
            </a:r>
            <a:r>
              <a:rPr dirty="0"/>
              <a:t> </a:t>
            </a:r>
            <a:r>
              <a:rPr dirty="0" err="1"/>
              <a:t>상시</a:t>
            </a:r>
            <a:r>
              <a:rPr dirty="0"/>
              <a:t> </a:t>
            </a:r>
            <a:r>
              <a:rPr dirty="0" err="1"/>
              <a:t>프로세스</a:t>
            </a:r>
            <a:r>
              <a:rPr dirty="0"/>
              <a:t> </a:t>
            </a:r>
            <a:r>
              <a:rPr dirty="0" err="1"/>
              <a:t>실행이</a:t>
            </a:r>
            <a:r>
              <a:rPr dirty="0"/>
              <a:t> </a:t>
            </a:r>
            <a:r>
              <a:rPr dirty="0" err="1"/>
              <a:t>필요해</a:t>
            </a:r>
            <a:r>
              <a:rPr dirty="0"/>
              <a:t> </a:t>
            </a:r>
            <a:r>
              <a:rPr dirty="0" err="1"/>
              <a:t>Streamlit</a:t>
            </a:r>
            <a:r>
              <a:rPr dirty="0"/>
              <a:t> </a:t>
            </a:r>
            <a:r>
              <a:rPr dirty="0" err="1"/>
              <a:t>Cloud에서는</a:t>
            </a:r>
            <a:r>
              <a:rPr dirty="0"/>
              <a:t> 이 </a:t>
            </a:r>
            <a:r>
              <a:rPr dirty="0" err="1"/>
              <a:t>기능만</a:t>
            </a:r>
            <a:r>
              <a:rPr dirty="0"/>
              <a:t> </a:t>
            </a:r>
            <a:r>
              <a:rPr dirty="0" err="1"/>
              <a:t>제한</a:t>
            </a:r>
            <a:r>
              <a:rPr lang="en-US" dirty="0" err="1"/>
              <a:t>,</a:t>
            </a:r>
            <a:r>
              <a:rPr dirty="0" err="1"/>
              <a:t>버그</a:t>
            </a:r>
            <a:r>
              <a:rPr dirty="0"/>
              <a:t> 아</a:t>
            </a:r>
            <a:r>
              <a:rPr lang="ko-KR" altLang="en-US" dirty="0" err="1"/>
              <a:t>닌</a:t>
            </a:r>
            <a:r>
              <a:rPr lang="en-US" altLang="ko-KR" dirty="0"/>
              <a:t> </a:t>
            </a:r>
            <a:r>
              <a:rPr lang="ko-KR" altLang="en-US" dirty="0"/>
              <a:t>제약사항</a:t>
            </a:r>
            <a:r>
              <a:rPr dirty="0"/>
              <a:t>) </a:t>
            </a:r>
            <a:r>
              <a:rPr lang="en-US" dirty="0"/>
              <a:t>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595817"/>
              </p:ext>
            </p:extLst>
          </p:nvPr>
        </p:nvGraphicFramePr>
        <p:xfrm>
          <a:off x="457200" y="1371600"/>
          <a:ext cx="1127455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9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t>앱 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포트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역할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streamlit_app.py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DL 메인 - 시계열 고장 예측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streamlit_rag.py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LLM/RAG 전용 - Level1 유사 사례 데모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streamlit_femto.py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ML+DL+LLM 통합 진단 (Tab6: AI 정비 권고) — Ollama(gemma4:e2b)+Claude Haiku 4.5 병행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3-Source </a:t>
                      </a:r>
                      <a:r>
                        <a:rPr dirty="0" err="1"/>
                        <a:t>통합</a:t>
                      </a:r>
                      <a:r>
                        <a:rPr dirty="0"/>
                        <a:t> (ML+DL+DL Milling)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8D6B42EF-9BFD-E565-EC86-9A8E46E4E72D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12">
            <a:extLst>
              <a:ext uri="{FF2B5EF4-FFF2-40B4-BE49-F238E27FC236}">
                <a16:creationId xmlns:a16="http://schemas.microsoft.com/office/drawing/2014/main" id="{C75C0E41-1F45-E5A1-DCBD-8C86C12F3277}"/>
              </a:ext>
            </a:extLst>
          </p:cNvPr>
          <p:cNvSpPr/>
          <p:nvPr/>
        </p:nvSpPr>
        <p:spPr>
          <a:xfrm>
            <a:off x="586958" y="4267023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 3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.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Streamlit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통합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진단</a:t>
            </a:r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 - </a:t>
            </a:r>
            <a:r>
              <a:rPr lang="en-US" altLang="ko-KR" b="1" dirty="0">
                <a:solidFill>
                  <a:srgbClr val="1F3A5F"/>
                </a:solidFill>
                <a:latin typeface="Malgun Gothic"/>
                <a:ea typeface="Malgun Gothic"/>
              </a:rPr>
              <a:t>7</a:t>
            </a:r>
            <a:r>
              <a:rPr lang="ko-KR" altLang="en-US" b="1" dirty="0">
                <a:solidFill>
                  <a:srgbClr val="1F3A5F"/>
                </a:solidFill>
                <a:latin typeface="Malgun Gothic"/>
                <a:ea typeface="Malgun Gothic"/>
              </a:rPr>
              <a:t>탭 대시보드 </a:t>
            </a:r>
            <a:r>
              <a:rPr lang="en-US" altLang="ko-KR" b="1" dirty="0">
                <a:solidFill>
                  <a:srgbClr val="1F3A5F"/>
                </a:solidFill>
                <a:latin typeface="Malgun Gothic"/>
                <a:ea typeface="Malgun Gothic"/>
              </a:rPr>
              <a:t>(LLM </a:t>
            </a:r>
            <a:r>
              <a:rPr lang="ko-KR" altLang="en-US" b="1" dirty="0">
                <a:solidFill>
                  <a:srgbClr val="1F3A5F"/>
                </a:solidFill>
                <a:latin typeface="Malgun Gothic"/>
                <a:ea typeface="Malgun Gothic"/>
              </a:rPr>
              <a:t>정비 권고 신규</a:t>
            </a:r>
            <a:r>
              <a:rPr lang="en-US" altLang="ko-KR" b="1" dirty="0">
                <a:solidFill>
                  <a:srgbClr val="1F3A5F"/>
                </a:solidFill>
                <a:latin typeface="Malgun Gothic"/>
                <a:ea typeface="Malgun Gothic"/>
              </a:rPr>
              <a:t>)</a:t>
            </a:r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71500" y="1265787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7탭 구성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" y="1551890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0664" y="155189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데이터 탐색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" y="2118818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40664" y="211881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ML 성능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" y="2685746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40664" y="268574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🔮 DL RUL 예측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" y="325267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40664" y="325267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🏭 통합 진단(실시간)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2791" y="3771720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7" name="Text 15"/>
          <p:cNvSpPr/>
          <p:nvPr/>
        </p:nvSpPr>
        <p:spPr>
          <a:xfrm>
            <a:off x="549075" y="3717727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200" dirty="0"/>
              <a:t>🔬</a:t>
            </a:r>
            <a:r>
              <a:rPr dirty="0"/>
              <a:t> </a:t>
            </a:r>
            <a:r>
              <a:rPr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아키텍처</a:t>
            </a:r>
            <a:r>
              <a:rPr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비교</a:t>
            </a:r>
            <a:r>
              <a:rPr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(5종)</a:t>
            </a:r>
          </a:p>
        </p:txBody>
      </p:sp>
      <p:sp>
        <p:nvSpPr>
          <p:cNvPr id="23" name="Shape 20"/>
          <p:cNvSpPr/>
          <p:nvPr/>
        </p:nvSpPr>
        <p:spPr>
          <a:xfrm>
            <a:off x="579120" y="5408237"/>
            <a:ext cx="5440680" cy="889175"/>
          </a:xfrm>
          <a:prstGeom prst="roundRect">
            <a:avLst>
              <a:gd name="adj" fmla="val 2500"/>
            </a:avLst>
          </a:prstGeom>
          <a:solidFill>
            <a:srgbClr val="EAF3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586958" y="542462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73836" y="5472504"/>
            <a:ext cx="5120640" cy="6766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URL: dlfactoryautomation.streamlit.app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Repo: vapsnamheo-dev/AISOURCE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사이드바: ML 임계값 0.3~0.8 + RUL 경보 기준 30~120분 실시간 조정</a:t>
            </a:r>
            <a:endParaRPr lang="en-US" sz="1100" dirty="0"/>
          </a:p>
        </p:txBody>
      </p:sp>
      <p:cxnSp>
        <p:nvCxnSpPr>
          <p:cNvPr id="31" name="Connector 3">
            <a:extLst>
              <a:ext uri="{FF2B5EF4-FFF2-40B4-BE49-F238E27FC236}">
                <a16:creationId xmlns:a16="http://schemas.microsoft.com/office/drawing/2014/main" id="{57F2D248-B732-81FE-EA2F-A3A96ECD075D}"/>
              </a:ext>
            </a:extLst>
          </p:cNvPr>
          <p:cNvCxnSpPr>
            <a:cxnSpLocks/>
          </p:cNvCxnSpPr>
          <p:nvPr/>
        </p:nvCxnSpPr>
        <p:spPr>
          <a:xfrm>
            <a:off x="6486525" y="1170432"/>
            <a:ext cx="5245227" cy="12700"/>
          </a:xfrm>
          <a:prstGeom prst="bentConnector3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4">
            <a:extLst>
              <a:ext uri="{FF2B5EF4-FFF2-40B4-BE49-F238E27FC236}">
                <a16:creationId xmlns:a16="http://schemas.microsoft.com/office/drawing/2014/main" id="{D133BB57-FDE8-C6F7-4CD8-151351CD3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992563"/>
              </p:ext>
            </p:extLst>
          </p:nvPr>
        </p:nvGraphicFramePr>
        <p:xfrm>
          <a:off x="6349365" y="1796668"/>
          <a:ext cx="5245227" cy="3495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7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3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292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ML 판정</a:t>
                      </a: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DL RUL</a:t>
                      </a: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표시</a:t>
                      </a:r>
                      <a:endParaRPr sz="1300" b="1" i="0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</a:p>
                    <a:p>
                      <a:pPr algn="ctr"/>
                      <a:r>
                        <a:rPr sz="1100" b="0" i="0">
                          <a:solidFill>
                            <a:srgbClr val="6B7785"/>
                          </a:solidFill>
                          <a:latin typeface="Malgun Gothic"/>
                        </a:rPr>
                        <a:t>(P=1.00)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144분</a:t>
                      </a:r>
                    </a:p>
                    <a:p>
                      <a:pPr algn="ctr"/>
                      <a:r>
                        <a:rPr sz="1100" b="0" i="0">
                          <a:solidFill>
                            <a:srgbClr val="6B7785"/>
                          </a:solidFill>
                          <a:latin typeface="Malgun Gothic"/>
                        </a:rPr>
                        <a:t>양호 기준 초과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D99A00"/>
                          </a:solidFill>
                          <a:latin typeface="Malgun Gothic"/>
                        </a:rPr>
                        <a:t>●  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⚠ ML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감지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— RUL 144분 </a:t>
                      </a:r>
                      <a:endParaRPr lang="en-US" sz="1250" b="1" i="0" dirty="0">
                        <a:solidFill>
                          <a:srgbClr val="22303C"/>
                        </a:solidFill>
                        <a:latin typeface="Malgun Gothic"/>
                      </a:endParaRPr>
                    </a:p>
                    <a:p>
                      <a:pPr algn="l"/>
                      <a:r>
                        <a:rPr lang="en-US"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(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단일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입력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추정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, ML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신뢰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)</a:t>
                      </a:r>
                    </a:p>
                    <a:p>
                      <a:pPr algn="l"/>
                      <a:r>
                        <a:rPr lang="en-US"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단일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슬라이더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입력은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시계열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복제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(tile)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추정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→ 'ML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신뢰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'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캡션으로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한계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명시</a:t>
                      </a:r>
                      <a:endParaRPr sz="1050" b="0" i="0" dirty="0">
                        <a:solidFill>
                          <a:srgbClr val="6B7785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100분</a:t>
                      </a:r>
                    </a:p>
                    <a:p>
                      <a:pPr algn="ctr"/>
                      <a:r>
                        <a:rPr sz="110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기준</a:t>
                      </a:r>
                      <a:r>
                        <a:rPr sz="110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2배 </a:t>
                      </a:r>
                      <a:r>
                        <a:rPr sz="110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이내</a:t>
                      </a:r>
                      <a:endParaRPr sz="1100" b="0" i="0" dirty="0">
                        <a:solidFill>
                          <a:srgbClr val="6B7785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C0392B"/>
                          </a:solidFill>
                          <a:latin typeface="Malgun Gothic"/>
                        </a:rPr>
                        <a:t>●  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⚠ ML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감지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—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잔여수명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100분 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(ML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판정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우선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)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50분</a:t>
                      </a:r>
                    </a:p>
                    <a:p>
                      <a:pPr algn="ctr"/>
                      <a:r>
                        <a:rPr sz="1100" b="0" i="0">
                          <a:solidFill>
                            <a:srgbClr val="6B7785"/>
                          </a:solidFill>
                          <a:latin typeface="Malgun Gothic"/>
                        </a:rPr>
                        <a:t>기준 이하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C0392B"/>
                          </a:solidFill>
                          <a:latin typeface="Malgun Gothic"/>
                        </a:rPr>
                        <a:t>●  </a:t>
                      </a:r>
                      <a:r>
                        <a:rPr sz="1250" b="1" i="0" dirty="0" err="1">
                          <a:solidFill>
                            <a:srgbClr val="C0392B"/>
                          </a:solidFill>
                          <a:latin typeface="Malgun Gothic"/>
                        </a:rPr>
                        <a:t>긴급</a:t>
                      </a:r>
                      <a:r>
                        <a:rPr sz="1250" b="1" i="0" dirty="0">
                          <a:solidFill>
                            <a:srgbClr val="C0392B"/>
                          </a:solidFill>
                          <a:latin typeface="Malgun Gothic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C0392B"/>
                          </a:solidFill>
                          <a:latin typeface="Malgun Gothic"/>
                        </a:rPr>
                        <a:t>경보</a:t>
                      </a:r>
                      <a:r>
                        <a:rPr sz="1250" b="1" i="0" dirty="0">
                          <a:solidFill>
                            <a:srgbClr val="C0392B"/>
                          </a:solidFill>
                          <a:latin typeface="Malgun Gothic"/>
                        </a:rPr>
                        <a:t>: </a:t>
                      </a:r>
                      <a:r>
                        <a:rPr sz="1250" b="1" i="0" dirty="0" err="1">
                          <a:solidFill>
                            <a:srgbClr val="C0392B"/>
                          </a:solidFill>
                          <a:latin typeface="Malgun Gothic"/>
                        </a:rPr>
                        <a:t>잔여수명</a:t>
                      </a:r>
                      <a:r>
                        <a:rPr sz="1250" b="1" i="0" dirty="0">
                          <a:solidFill>
                            <a:srgbClr val="C0392B"/>
                          </a:solidFill>
                          <a:latin typeface="Malgun Gothic"/>
                        </a:rPr>
                        <a:t> 50분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정상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6B7785"/>
                          </a:solidFill>
                          <a:latin typeface="Malgun Gothic"/>
                        </a:rPr>
                        <a:t>어떤 값이든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기존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양호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/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주의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/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경보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규칙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그대로</a:t>
                      </a:r>
                      <a:endParaRPr sz="1250" b="0" i="0" dirty="0">
                        <a:solidFill>
                          <a:srgbClr val="6B7785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A9B002BB-41BB-4C9A-5FFB-235A4C8EFC49}"/>
              </a:ext>
            </a:extLst>
          </p:cNvPr>
          <p:cNvSpPr txBox="1"/>
          <p:nvPr/>
        </p:nvSpPr>
        <p:spPr>
          <a:xfrm>
            <a:off x="6382512" y="1349070"/>
            <a:ext cx="5349240" cy="3488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통합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진단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— Stage 4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열화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샘플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클릭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시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표시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로직</a:t>
            </a:r>
            <a:endParaRPr sz="1200" b="1" i="0" dirty="0">
              <a:solidFill>
                <a:srgbClr val="1F3A5F"/>
              </a:solidFill>
              <a:latin typeface="Malgun Gothic"/>
            </a:endParaRPr>
          </a:p>
          <a:p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ML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분류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현재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이상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여부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 + DL RUL(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잔여수명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)을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결합한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경보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표시</a:t>
            </a:r>
            <a:endParaRPr sz="1250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35" name="Rounded Rectangle 5">
            <a:extLst>
              <a:ext uri="{FF2B5EF4-FFF2-40B4-BE49-F238E27FC236}">
                <a16:creationId xmlns:a16="http://schemas.microsoft.com/office/drawing/2014/main" id="{E11C2216-109E-C9AB-D33D-4BCA69E360D8}"/>
              </a:ext>
            </a:extLst>
          </p:cNvPr>
          <p:cNvSpPr/>
          <p:nvPr/>
        </p:nvSpPr>
        <p:spPr>
          <a:xfrm>
            <a:off x="6355081" y="5401300"/>
            <a:ext cx="5257799" cy="896112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14300" rIns="177800" bIns="114300" rtlCol="0" anchor="ctr"/>
          <a:lstStyle/>
          <a:p>
            <a:r>
              <a:rPr sz="1200" dirty="0">
                <a:solidFill>
                  <a:schemeClr val="tx1"/>
                </a:solidFill>
              </a:rPr>
              <a:t>LLM </a:t>
            </a:r>
            <a:r>
              <a:rPr sz="1200" dirty="0" err="1">
                <a:solidFill>
                  <a:schemeClr val="tx1"/>
                </a:solidFill>
              </a:rPr>
              <a:t>정비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권고</a:t>
            </a:r>
            <a:r>
              <a:rPr sz="1200" dirty="0">
                <a:solidFill>
                  <a:schemeClr val="tx1"/>
                </a:solidFill>
              </a:rPr>
              <a:t> 탭 </a:t>
            </a:r>
            <a:r>
              <a:rPr sz="1200" dirty="0" err="1">
                <a:solidFill>
                  <a:schemeClr val="tx1"/>
                </a:solidFill>
              </a:rPr>
              <a:t>상세</a:t>
            </a:r>
            <a:r>
              <a:rPr sz="1200" dirty="0">
                <a:solidFill>
                  <a:schemeClr val="tx1"/>
                </a:solidFill>
              </a:rPr>
              <a:t>: femto_llm_report.py, Claude API(haiku-4-5), RAG-Level1/2 </a:t>
            </a:r>
            <a:r>
              <a:rPr sz="1200" dirty="0" err="1">
                <a:solidFill>
                  <a:schemeClr val="tx1"/>
                </a:solidFill>
              </a:rPr>
              <a:t>근거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결합</a:t>
            </a:r>
            <a:r>
              <a:rPr sz="1200" dirty="0">
                <a:solidFill>
                  <a:schemeClr val="tx1"/>
                </a:solidFill>
              </a:rPr>
              <a:t> -&gt; 5섹션 </a:t>
            </a:r>
            <a:r>
              <a:rPr sz="1200" dirty="0" err="1">
                <a:solidFill>
                  <a:schemeClr val="tx1"/>
                </a:solidFill>
              </a:rPr>
              <a:t>자연어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보고서</a:t>
            </a:r>
            <a:r>
              <a:rPr sz="1200" dirty="0">
                <a:solidFill>
                  <a:schemeClr val="tx1"/>
                </a:solidFill>
              </a:rPr>
              <a:t> + Structured Output. ANTHROPIC_API_KEY </a:t>
            </a:r>
            <a:r>
              <a:rPr sz="1200" dirty="0" err="1">
                <a:solidFill>
                  <a:schemeClr val="tx1"/>
                </a:solidFill>
              </a:rPr>
              <a:t>미설정</a:t>
            </a:r>
            <a:r>
              <a:rPr sz="1200" dirty="0">
                <a:solidFill>
                  <a:schemeClr val="tx1"/>
                </a:solidFill>
              </a:rPr>
              <a:t> 시 Mock </a:t>
            </a:r>
            <a:r>
              <a:rPr sz="1200" dirty="0" err="1">
                <a:solidFill>
                  <a:schemeClr val="tx1"/>
                </a:solidFill>
              </a:rPr>
              <a:t>모드로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무료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데모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가능</a:t>
            </a:r>
            <a:r>
              <a:rPr sz="12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653DAB9E-0291-CE72-F1B7-C998B5962C03}"/>
              </a:ext>
            </a:extLst>
          </p:cNvPr>
          <p:cNvSpPr/>
          <p:nvPr/>
        </p:nvSpPr>
        <p:spPr>
          <a:xfrm>
            <a:off x="457199" y="384048"/>
            <a:ext cx="80554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V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3" name="Text 15">
            <a:extLst>
              <a:ext uri="{FF2B5EF4-FFF2-40B4-BE49-F238E27FC236}">
                <a16:creationId xmlns:a16="http://schemas.microsoft.com/office/drawing/2014/main" id="{933822A4-081C-2D80-8C9A-223F4BBCB05C}"/>
              </a:ext>
            </a:extLst>
          </p:cNvPr>
          <p:cNvSpPr/>
          <p:nvPr/>
        </p:nvSpPr>
        <p:spPr>
          <a:xfrm>
            <a:off x="633549" y="4355577"/>
            <a:ext cx="5120640" cy="4178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🧠 LLM </a:t>
            </a:r>
            <a:r>
              <a:rPr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정비</a:t>
            </a:r>
            <a:r>
              <a:rPr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권고</a:t>
            </a:r>
            <a:r>
              <a:rPr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(AI 진단)</a:t>
            </a:r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CF808E93-F923-8527-85D4-B680E13685A9}"/>
              </a:ext>
            </a:extLst>
          </p:cNvPr>
          <p:cNvSpPr/>
          <p:nvPr/>
        </p:nvSpPr>
        <p:spPr>
          <a:xfrm>
            <a:off x="585216" y="4793435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385F3E-A810-91A3-0E37-DB40027FE02C}"/>
              </a:ext>
            </a:extLst>
          </p:cNvPr>
          <p:cNvSpPr txBox="1"/>
          <p:nvPr/>
        </p:nvSpPr>
        <p:spPr>
          <a:xfrm>
            <a:off x="571500" y="4866750"/>
            <a:ext cx="54543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🖼️ 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CNN </a:t>
            </a:r>
            <a:r>
              <a:rPr lang="ko-KR" alt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이미지 분류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134CC5B-1111-F45C-C3AA-DE1CDB8AAB00}"/>
              </a:ext>
            </a:extLst>
          </p:cNvPr>
          <p:cNvSpPr/>
          <p:nvPr/>
        </p:nvSpPr>
        <p:spPr>
          <a:xfrm>
            <a:off x="514675" y="359701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dirty="0"/>
              <a:t>V</a:t>
            </a:r>
          </a:p>
        </p:txBody>
      </p:sp>
      <p:sp>
        <p:nvSpPr>
          <p:cNvPr id="19" name="Text 46">
            <a:extLst>
              <a:ext uri="{FF2B5EF4-FFF2-40B4-BE49-F238E27FC236}">
                <a16:creationId xmlns:a16="http://schemas.microsoft.com/office/drawing/2014/main" id="{9EA25B21-2DCE-9C98-500A-E66FF5F8BD26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dirty="0"/>
              <a:t>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4.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릴리스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노트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-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비용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관리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및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안정성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개선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rPr dirty="0" err="1"/>
              <a:t>의의</a:t>
            </a:r>
            <a:r>
              <a:rPr dirty="0"/>
              <a:t>: v0.5 draft </a:t>
            </a:r>
            <a:r>
              <a:rPr dirty="0" err="1"/>
              <a:t>이후</a:t>
            </a:r>
            <a:r>
              <a:rPr dirty="0"/>
              <a:t> </a:t>
            </a:r>
            <a:r>
              <a:rPr dirty="0" err="1"/>
              <a:t>배포</a:t>
            </a:r>
            <a:r>
              <a:rPr dirty="0"/>
              <a:t> </a:t>
            </a:r>
            <a:r>
              <a:rPr dirty="0" err="1"/>
              <a:t>안정성</a:t>
            </a:r>
            <a:r>
              <a:rPr dirty="0"/>
              <a:t> </a:t>
            </a:r>
            <a:r>
              <a:rPr dirty="0" err="1"/>
              <a:t>버그</a:t>
            </a:r>
            <a:r>
              <a:rPr dirty="0"/>
              <a:t> </a:t>
            </a:r>
            <a:r>
              <a:rPr dirty="0" err="1"/>
              <a:t>수정과</a:t>
            </a:r>
            <a:r>
              <a:rPr dirty="0"/>
              <a:t> </a:t>
            </a:r>
            <a:r>
              <a:rPr dirty="0" err="1"/>
              <a:t>과금</a:t>
            </a:r>
            <a:r>
              <a:rPr dirty="0"/>
              <a:t> </a:t>
            </a:r>
            <a:r>
              <a:rPr dirty="0" err="1"/>
              <a:t>방지</a:t>
            </a:r>
            <a:r>
              <a:rPr dirty="0"/>
              <a:t> </a:t>
            </a:r>
            <a:r>
              <a:rPr dirty="0" err="1"/>
              <a:t>기능을</a:t>
            </a:r>
            <a:r>
              <a:rPr dirty="0"/>
              <a:t> </a:t>
            </a:r>
            <a:r>
              <a:rPr dirty="0" err="1"/>
              <a:t>지속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특히</a:t>
            </a:r>
            <a:r>
              <a:rPr dirty="0"/>
              <a:t> Anthropic </a:t>
            </a:r>
            <a:r>
              <a:rPr dirty="0" err="1"/>
              <a:t>크레딧</a:t>
            </a:r>
            <a:r>
              <a:rPr dirty="0"/>
              <a:t> </a:t>
            </a:r>
            <a:r>
              <a:rPr dirty="0" err="1"/>
              <a:t>부족</a:t>
            </a:r>
            <a:r>
              <a:rPr dirty="0"/>
              <a:t>(400) </a:t>
            </a:r>
            <a:r>
              <a:rPr dirty="0" err="1"/>
              <a:t>에러를</a:t>
            </a:r>
            <a:r>
              <a:rPr dirty="0"/>
              <a:t> </a:t>
            </a:r>
            <a:r>
              <a:rPr dirty="0" err="1"/>
              <a:t>코드</a:t>
            </a:r>
            <a:r>
              <a:rPr dirty="0"/>
              <a:t> </a:t>
            </a:r>
            <a:r>
              <a:rPr dirty="0" err="1"/>
              <a:t>버그와</a:t>
            </a:r>
            <a:r>
              <a:rPr dirty="0"/>
              <a:t> </a:t>
            </a:r>
            <a:r>
              <a:rPr dirty="0" err="1"/>
              <a:t>구분해</a:t>
            </a:r>
            <a:r>
              <a:rPr dirty="0"/>
              <a:t> </a:t>
            </a:r>
            <a:r>
              <a:rPr dirty="0" err="1"/>
              <a:t>결제</a:t>
            </a:r>
            <a:r>
              <a:rPr dirty="0"/>
              <a:t> </a:t>
            </a:r>
            <a:r>
              <a:rPr dirty="0" err="1"/>
              <a:t>안내로</a:t>
            </a:r>
            <a:r>
              <a:rPr dirty="0"/>
              <a:t> </a:t>
            </a:r>
            <a:r>
              <a:rPr dirty="0" err="1"/>
              <a:t>표시하도록</a:t>
            </a:r>
            <a:r>
              <a:rPr dirty="0"/>
              <a:t> </a:t>
            </a:r>
            <a:r>
              <a:rPr dirty="0" err="1"/>
              <a:t>개선</a:t>
            </a:r>
            <a:r>
              <a:rPr dirty="0"/>
              <a:t>(2026-07-03).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014014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7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rPr dirty="0" err="1"/>
                        <a:t>구분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신규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ANTHROPIC_API_KEY on/off </a:t>
                      </a:r>
                      <a:r>
                        <a:rPr dirty="0" err="1"/>
                        <a:t>스위치</a:t>
                      </a:r>
                      <a:r>
                        <a:rPr dirty="0"/>
                        <a:t> + </a:t>
                      </a:r>
                      <a:r>
                        <a:rPr dirty="0" err="1"/>
                        <a:t>토큰수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비용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화면표시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버그 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피처 스키마 불일치 / pandas 버전드리프트 / 중첩버튼 / 패키지 누락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RAG 개선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temperature 0.0 고정 + Hybrid RAG(BM25+벡터) 적용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UX 개선(07-03)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크레딧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부족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에러를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결제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안내로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구분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표시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타이틀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캡션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갱신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200B4512-D305-B02D-7F00-3102E9BC1255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/>
              <a:t>VI.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1.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결론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및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기대효과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521208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rPr dirty="0" err="1"/>
              <a:t>의의</a:t>
            </a:r>
            <a:r>
              <a:rPr dirty="0"/>
              <a:t>: LLM </a:t>
            </a:r>
            <a:r>
              <a:rPr dirty="0" err="1"/>
              <a:t>추가로</a:t>
            </a:r>
            <a:r>
              <a:rPr dirty="0"/>
              <a:t> </a:t>
            </a:r>
            <a:r>
              <a:rPr dirty="0" err="1"/>
              <a:t>PdM</a:t>
            </a:r>
            <a:r>
              <a:rPr dirty="0"/>
              <a:t> </a:t>
            </a:r>
            <a:r>
              <a:rPr dirty="0" err="1"/>
              <a:t>시스템의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실용성이</a:t>
            </a:r>
            <a:r>
              <a:rPr dirty="0"/>
              <a:t> </a:t>
            </a:r>
            <a:r>
              <a:rPr dirty="0" err="1"/>
              <a:t>대폭</a:t>
            </a:r>
            <a:r>
              <a:rPr dirty="0"/>
              <a:t> </a:t>
            </a:r>
            <a:r>
              <a:rPr dirty="0" err="1"/>
              <a:t>향상</a:t>
            </a:r>
            <a:endParaRPr lang="en-US" dirty="0"/>
          </a:p>
          <a:p>
            <a:r>
              <a:rPr lang="en-US" dirty="0"/>
              <a:t>         </a:t>
            </a:r>
            <a:r>
              <a:rPr dirty="0"/>
              <a:t> </a:t>
            </a:r>
            <a:r>
              <a:rPr lang="en-US" dirty="0"/>
              <a:t> </a:t>
            </a:r>
            <a:r>
              <a:rPr lang="en-US" altLang="ko-KR" dirty="0"/>
              <a:t> → </a:t>
            </a:r>
            <a:r>
              <a:rPr dirty="0"/>
              <a:t>ML-&gt;DL-&gt;RAG-&gt;</a:t>
            </a:r>
            <a:r>
              <a:rPr dirty="0" err="1"/>
              <a:t>LLM까지</a:t>
            </a:r>
            <a:r>
              <a:rPr dirty="0"/>
              <a:t> </a:t>
            </a:r>
            <a:r>
              <a:rPr dirty="0" err="1"/>
              <a:t>이어지는</a:t>
            </a:r>
            <a:r>
              <a:rPr dirty="0"/>
              <a:t> end-to-end </a:t>
            </a:r>
            <a:r>
              <a:rPr dirty="0" err="1"/>
              <a:t>파이프라인</a:t>
            </a:r>
            <a:r>
              <a:rPr lang="en-US" dirty="0"/>
              <a:t> </a:t>
            </a:r>
            <a:r>
              <a:rPr dirty="0" err="1"/>
              <a:t>완성</a:t>
            </a:r>
            <a:endParaRPr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651663"/>
              </p:ext>
            </p:extLst>
          </p:nvPr>
        </p:nvGraphicFramePr>
        <p:xfrm>
          <a:off x="457200" y="1371600"/>
          <a:ext cx="11274552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9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현장 접근성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수치-&gt;자연어: 비전문가도 즉시 이해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의사결정 가속화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즉시/24h/1주 조치 자동 분류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RAG 시너지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과거 사례를 의미있는 설명으로 변환, Hybrid RAG로 정확도 개선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비용 최적화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haiku 모델 + Mock 모드 + on/off 스위치(v0.6)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확장성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Agent/Tool Use -&gt; </a:t>
                      </a:r>
                      <a:r>
                        <a:rPr dirty="0" err="1"/>
                        <a:t>LangGraph</a:t>
                      </a:r>
                      <a:r>
                        <a:rPr dirty="0"/>
                        <a:t> -&gt; (</a:t>
                      </a:r>
                      <a:r>
                        <a:rPr dirty="0" err="1"/>
                        <a:t>필요시</a:t>
                      </a:r>
                      <a:r>
                        <a:rPr dirty="0"/>
                        <a:t>) </a:t>
                      </a:r>
                      <a:r>
                        <a:rPr dirty="0" err="1"/>
                        <a:t>GraphRAG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단계적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고도화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신뢰성/투명성(신규)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환각 방어 3층 게이트(femto_llm_guard) + RAG 출처근거 Citation 표기(femto_doc_rag)로 답변 신뢰도·추적성 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313206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957C5F59-75B5-D0E4-FC3B-F35B3DB3E6DB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474614" y="5443725"/>
            <a:ext cx="11274552" cy="10241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70432" y="42642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2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. LLM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성능개선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로드맵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(4단계) 및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한계점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98448"/>
            <a:ext cx="612648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LLM 성능개선 로드맵 (1~4순위)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58742" y="1298448"/>
            <a:ext cx="4391297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1400" b="1" i="0" dirty="0" err="1">
                <a:solidFill>
                  <a:srgbClr val="1F3A5F"/>
                </a:solidFill>
                <a:latin typeface="Malgun Gothic"/>
              </a:rPr>
              <a:t>한계점</a:t>
            </a:r>
            <a:r>
              <a:rPr sz="1400" b="1" i="0" dirty="0">
                <a:solidFill>
                  <a:srgbClr val="1F3A5F"/>
                </a:solidFill>
                <a:latin typeface="Malgun Gothic"/>
              </a:rPr>
              <a:t> (Limitations)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71657" y="1681625"/>
            <a:ext cx="4040777" cy="3495297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r>
              <a:rPr sz="1600" dirty="0">
                <a:solidFill>
                  <a:schemeClr val="tx1"/>
                </a:solidFill>
              </a:rPr>
              <a:t>•  </a:t>
            </a:r>
            <a:r>
              <a:rPr sz="1600" dirty="0" err="1">
                <a:solidFill>
                  <a:schemeClr val="tx1"/>
                </a:solidFill>
              </a:rPr>
              <a:t>비용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발생</a:t>
            </a:r>
            <a:r>
              <a:rPr sz="1600" dirty="0">
                <a:solidFill>
                  <a:schemeClr val="tx1"/>
                </a:solidFill>
              </a:rPr>
              <a:t> - Claude API </a:t>
            </a:r>
            <a:r>
              <a:rPr sz="1600" dirty="0" err="1">
                <a:solidFill>
                  <a:schemeClr val="tx1"/>
                </a:solidFill>
              </a:rPr>
              <a:t>호출당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과금</a:t>
            </a:r>
            <a:r>
              <a:rPr sz="1600" dirty="0">
                <a:solidFill>
                  <a:schemeClr val="tx1"/>
                </a:solidFill>
              </a:rPr>
              <a:t> (Mock </a:t>
            </a:r>
            <a:r>
              <a:rPr sz="1600" dirty="0" err="1">
                <a:solidFill>
                  <a:schemeClr val="tx1"/>
                </a:solidFill>
              </a:rPr>
              <a:t>모드</a:t>
            </a:r>
            <a:r>
              <a:rPr sz="1600" dirty="0">
                <a:solidFill>
                  <a:schemeClr val="tx1"/>
                </a:solidFill>
              </a:rPr>
              <a:t>/on-off </a:t>
            </a:r>
            <a:r>
              <a:rPr sz="1600" dirty="0" err="1">
                <a:solidFill>
                  <a:schemeClr val="tx1"/>
                </a:solidFill>
              </a:rPr>
              <a:t>스위치로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완화</a:t>
            </a:r>
            <a:r>
              <a:rPr sz="1600" dirty="0">
                <a:solidFill>
                  <a:schemeClr val="tx1"/>
                </a:solidFill>
              </a:rPr>
              <a:t>, v0.6)</a:t>
            </a:r>
          </a:p>
          <a:p>
            <a:r>
              <a:rPr sz="1600" dirty="0">
                <a:solidFill>
                  <a:schemeClr val="tx1"/>
                </a:solidFill>
              </a:rPr>
              <a:t>•  RAG </a:t>
            </a:r>
            <a:r>
              <a:rPr sz="1600" dirty="0" err="1">
                <a:solidFill>
                  <a:schemeClr val="tx1"/>
                </a:solidFill>
              </a:rPr>
              <a:t>문서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커버리지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제한</a:t>
            </a:r>
            <a:r>
              <a:rPr sz="1600" dirty="0">
                <a:solidFill>
                  <a:schemeClr val="tx1"/>
                </a:solidFill>
              </a:rPr>
              <a:t> - </a:t>
            </a:r>
            <a:r>
              <a:rPr sz="1600" dirty="0" err="1">
                <a:solidFill>
                  <a:schemeClr val="tx1"/>
                </a:solidFill>
              </a:rPr>
              <a:t>정비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지식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문서</a:t>
            </a:r>
            <a:r>
              <a:rPr sz="1600" dirty="0">
                <a:solidFill>
                  <a:schemeClr val="tx1"/>
                </a:solidFill>
              </a:rPr>
              <a:t> 1종만 </a:t>
            </a:r>
            <a:r>
              <a:rPr sz="1600" dirty="0" err="1">
                <a:solidFill>
                  <a:schemeClr val="tx1"/>
                </a:solidFill>
              </a:rPr>
              <a:t>인덱싱</a:t>
            </a:r>
            <a:endParaRPr sz="1600" dirty="0">
              <a:solidFill>
                <a:schemeClr val="tx1"/>
              </a:solidFill>
            </a:endParaRPr>
          </a:p>
          <a:p>
            <a:r>
              <a:rPr sz="1600" dirty="0">
                <a:solidFill>
                  <a:schemeClr val="tx1"/>
                </a:solidFill>
              </a:rPr>
              <a:t>•  </a:t>
            </a:r>
            <a:r>
              <a:rPr sz="1600" dirty="0" err="1">
                <a:solidFill>
                  <a:schemeClr val="tx1"/>
                </a:solidFill>
              </a:rPr>
              <a:t>로컬</a:t>
            </a:r>
            <a:r>
              <a:rPr sz="1600" dirty="0">
                <a:solidFill>
                  <a:schemeClr val="tx1"/>
                </a:solidFill>
              </a:rPr>
              <a:t> LLM(</a:t>
            </a:r>
            <a:r>
              <a:rPr sz="1600" dirty="0" err="1">
                <a:solidFill>
                  <a:schemeClr val="tx1"/>
                </a:solidFill>
              </a:rPr>
              <a:t>Ollama</a:t>
            </a:r>
            <a:r>
              <a:rPr sz="1600" dirty="0">
                <a:solidFill>
                  <a:schemeClr val="tx1"/>
                </a:solidFill>
              </a:rPr>
              <a:t>) </a:t>
            </a:r>
            <a:r>
              <a:rPr sz="1600" dirty="0" err="1">
                <a:solidFill>
                  <a:schemeClr val="tx1"/>
                </a:solidFill>
              </a:rPr>
              <a:t>필요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기능은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Streamlit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Cloud에서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미지원</a:t>
            </a:r>
            <a:r>
              <a:rPr sz="1600" dirty="0">
                <a:solidFill>
                  <a:schemeClr val="tx1"/>
                </a:solidFill>
              </a:rPr>
              <a:t> (RAG-Level2 ask())</a:t>
            </a:r>
          </a:p>
          <a:p>
            <a:r>
              <a:rPr sz="1600" dirty="0">
                <a:solidFill>
                  <a:schemeClr val="tx1"/>
                </a:solidFill>
              </a:rPr>
              <a:t>•  환각(hallucination) 방어 - femto_llm_guard 3층 게이트(신뢰도 톤 분기·입력 OOD 판정·클래스 한정 자기인지)로 모를 땐 판단불가로 폴백, 구조적으로 차단(v0.7 신규)</a:t>
            </a:r>
          </a:p>
          <a:p>
            <a:r>
              <a:rPr sz="1600" dirty="0">
                <a:solidFill>
                  <a:schemeClr val="tx1"/>
                </a:solidFill>
              </a:rPr>
              <a:t>•  </a:t>
            </a:r>
            <a:r>
              <a:rPr sz="1600" dirty="0" err="1">
                <a:solidFill>
                  <a:schemeClr val="tx1"/>
                </a:solidFill>
              </a:rPr>
              <a:t>GraphRAG</a:t>
            </a:r>
            <a:r>
              <a:rPr sz="1600" dirty="0">
                <a:solidFill>
                  <a:schemeClr val="tx1"/>
                </a:solidFill>
              </a:rPr>
              <a:t> 등 </a:t>
            </a:r>
            <a:r>
              <a:rPr sz="1600" dirty="0" err="1">
                <a:solidFill>
                  <a:schemeClr val="tx1"/>
                </a:solidFill>
              </a:rPr>
              <a:t>고도화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로드맵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미완료</a:t>
            </a:r>
            <a:r>
              <a:rPr sz="1600" dirty="0">
                <a:solidFill>
                  <a:schemeClr val="tx1"/>
                </a:solidFill>
              </a:rPr>
              <a:t> (4순위)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399" y="5443725"/>
            <a:ext cx="11274552" cy="93268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sz="1600" dirty="0" err="1">
                <a:solidFill>
                  <a:schemeClr val="tx1"/>
                </a:solidFill>
              </a:rPr>
              <a:t>실무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포지셔닝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  <a:r>
              <a:rPr sz="1600" dirty="0">
                <a:solidFill>
                  <a:schemeClr val="tx1"/>
                </a:solidFill>
              </a:rPr>
              <a:t>   </a:t>
            </a:r>
            <a:r>
              <a:rPr sz="1600" dirty="0" err="1">
                <a:solidFill>
                  <a:schemeClr val="tx1"/>
                </a:solidFill>
              </a:rPr>
              <a:t>LLM은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ML·DL의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수치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판정을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대체하지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않고</a:t>
            </a:r>
            <a:r>
              <a:rPr sz="1600" dirty="0">
                <a:solidFill>
                  <a:schemeClr val="tx1"/>
                </a:solidFill>
              </a:rPr>
              <a:t>, RAG </a:t>
            </a:r>
            <a:r>
              <a:rPr sz="1600" dirty="0" err="1">
                <a:solidFill>
                  <a:schemeClr val="tx1"/>
                </a:solidFill>
              </a:rPr>
              <a:t>근거와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함께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현장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담당자가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바로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읽을</a:t>
            </a:r>
            <a:r>
              <a:rPr sz="1600" dirty="0">
                <a:solidFill>
                  <a:schemeClr val="tx1"/>
                </a:solidFill>
              </a:rPr>
              <a:t> 수 </a:t>
            </a:r>
            <a:r>
              <a:rPr sz="1600" dirty="0" err="1">
                <a:solidFill>
                  <a:schemeClr val="tx1"/>
                </a:solidFill>
              </a:rPr>
              <a:t>있는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자연어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정비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권고로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해석·문서화하는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계층으로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포지셔닝</a:t>
            </a:r>
            <a:r>
              <a:rPr sz="1600" dirty="0">
                <a:solidFill>
                  <a:schemeClr val="tx1"/>
                </a:solidFill>
              </a:rPr>
              <a:t>. Structured Output(</a:t>
            </a:r>
            <a:r>
              <a:rPr sz="1600" dirty="0" err="1">
                <a:solidFill>
                  <a:schemeClr val="tx1"/>
                </a:solidFill>
              </a:rPr>
              <a:t>정형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출력</a:t>
            </a:r>
            <a:r>
              <a:rPr sz="1600" dirty="0">
                <a:solidFill>
                  <a:schemeClr val="tx1"/>
                </a:solidFill>
              </a:rPr>
              <a:t>)+RAG </a:t>
            </a:r>
            <a:r>
              <a:rPr sz="1600" dirty="0" err="1">
                <a:solidFill>
                  <a:schemeClr val="tx1"/>
                </a:solidFill>
              </a:rPr>
              <a:t>근거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인용으로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신뢰성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확보</a:t>
            </a:r>
            <a:r>
              <a:rPr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2C1C3E04-64EF-2070-F315-B76656408045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036924"/>
              </p:ext>
            </p:extLst>
          </p:nvPr>
        </p:nvGraphicFramePr>
        <p:xfrm>
          <a:off x="457200" y="1664208"/>
          <a:ext cx="6126480" cy="3603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58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515">
                <a:tc>
                  <a:txBody>
                    <a:bodyPr/>
                    <a:lstStyle/>
                    <a:p>
                      <a:r>
                        <a:t>우선순위 ·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핵심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515">
                <a:tc>
                  <a:txBody>
                    <a:bodyPr/>
                    <a:lstStyle/>
                    <a:p>
                      <a:r>
                        <a:rPr sz="1400" dirty="0"/>
                        <a:t>1순위 - Structured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완료 (v0.5)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Claude output_config.format(JSON Schema)으로 정형 데이터 반환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515">
                <a:tc>
                  <a:txBody>
                    <a:bodyPr/>
                    <a:lstStyle/>
                    <a:p>
                      <a:r>
                        <a:rPr sz="1400"/>
                        <a:t>2순위 - Agent / Tool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 err="1"/>
                        <a:t>예정</a:t>
                      </a:r>
                      <a:r>
                        <a:rPr sz="1400" dirty="0"/>
                        <a:t> (~07/24)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Claude function calling(tool_use)으로 전환, ReAct 패턴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515">
                <a:tc>
                  <a:txBody>
                    <a:bodyPr/>
                    <a:lstStyle/>
                    <a:p>
                      <a:r>
                        <a:rPr sz="1400"/>
                        <a:t>3순위 - Workflow Orchestration (LangGraph)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예정 (~08/21)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 err="1"/>
                        <a:t>센서</a:t>
                      </a:r>
                      <a:r>
                        <a:rPr sz="1400" dirty="0"/>
                        <a:t>-&gt;ML-&gt;DL-&gt;RAG-&gt;LLM </a:t>
                      </a:r>
                      <a:r>
                        <a:rPr sz="1400" dirty="0" err="1"/>
                        <a:t>파이프라인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명시적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그래프화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516">
                <a:tc>
                  <a:txBody>
                    <a:bodyPr/>
                    <a:lstStyle/>
                    <a:p>
                      <a:r>
                        <a:rPr sz="1400"/>
                        <a:t>4순위 - GraphRAG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미구현 (최후순위)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 err="1"/>
                        <a:t>networkx</a:t>
                      </a:r>
                      <a:r>
                        <a:rPr sz="1400" dirty="0"/>
                        <a:t>/neo4j 등 </a:t>
                      </a:r>
                      <a:r>
                        <a:rPr sz="1400" dirty="0" err="1"/>
                        <a:t>미사용</a:t>
                      </a:r>
                      <a:r>
                        <a:rPr sz="1400" dirty="0"/>
                        <a:t>. </a:t>
                      </a:r>
                      <a:r>
                        <a:rPr sz="1400" dirty="0" err="1"/>
                        <a:t>설비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관계망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데이터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확보</a:t>
                      </a:r>
                      <a:r>
                        <a:rPr sz="1400" dirty="0"/>
                        <a:t> 시 </a:t>
                      </a:r>
                      <a:r>
                        <a:rPr sz="1400" dirty="0" err="1"/>
                        <a:t>재검토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99FE0E9-DDF2-EF0E-1AFC-E7F2293765B9}"/>
              </a:ext>
            </a:extLst>
          </p:cNvPr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/>
              <a:t>V</a:t>
            </a:r>
            <a:r>
              <a:rPr sz="2400" dirty="0"/>
              <a:t>I</a:t>
            </a:r>
          </a:p>
        </p:txBody>
      </p:sp>
      <p:sp>
        <p:nvSpPr>
          <p:cNvPr id="6" name="Text 46">
            <a:extLst>
              <a:ext uri="{FF2B5EF4-FFF2-40B4-BE49-F238E27FC236}">
                <a16:creationId xmlns:a16="http://schemas.microsoft.com/office/drawing/2014/main" id="{D1D94CB0-141A-A618-A970-FBF40AE90368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dirty="0"/>
              <a:t>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3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.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향후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계획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- LLM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적용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우선순위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로드맵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Hybrid RAG(BM25+벡터)는 이미 v0.6로 구현을 완료했고, GraphRAG(그래프 기반 지식 검색)는 아직 미구현이며 로드맵상 가장 낮은 4순위다 - 이름은 비슷하지만 현재 상태는 정반대다.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749922"/>
              </p:ext>
            </p:extLst>
          </p:nvPr>
        </p:nvGraphicFramePr>
        <p:xfrm>
          <a:off x="457200" y="1371600"/>
          <a:ext cx="1127455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5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0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r>
                        <a:t>우선순위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핵심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1순위 Structured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완료(v0.5)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JSON Schema 정형 출력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신규 Hybrid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완료(v0.6, 07-03)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BM25+벡터 결합 검색 정확도 개선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2순위 Agent/Tool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예정(~07/24)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Claude function calling(ReAct 패턴)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3순위 LangGraph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예정(~08/21)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파이프라인 명시적 그래프화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4순위 GraphRAG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미구현, 최후순위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설비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관계망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수준으로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확장</a:t>
                      </a:r>
                      <a:r>
                        <a:rPr dirty="0"/>
                        <a:t> 시 </a:t>
                      </a:r>
                      <a:r>
                        <a:rPr dirty="0" err="1"/>
                        <a:t>재검토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신규 환각방지 3층 게이트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완료(v0.7, 07-07)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femto_llm_guard.py — 모를 땐 판단불가 폴백으로 hallucination 구조적 차단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299586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신규 RAG 출처근거(Citation)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완료(v0.7, 07-07)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femto_doc_rag.py — 파일명·절 번호·개정일 태깅으로 근거 추적 가능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87533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2712F1C0-8FE8-B720-7A31-F40C93818F72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A. DL/ML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프로젝트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lang="ko-KR" altLang="en-US" b="1" dirty="0">
                <a:solidFill>
                  <a:srgbClr val="1F3A5F"/>
                </a:solidFill>
                <a:latin typeface="Malgun Gothic"/>
                <a:ea typeface="Malgun Gothic"/>
              </a:rPr>
              <a:t>구성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</a:p>
        </p:txBody>
      </p:sp>
      <p:sp>
        <p:nvSpPr>
          <p:cNvPr id="5" name="Text 3"/>
          <p:cNvSpPr/>
          <p:nvPr/>
        </p:nvSpPr>
        <p:spPr>
          <a:xfrm>
            <a:off x="1245323" y="8150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PdM 도입 효과 / FEMTO-ST 데이터 구성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61549" y="4566642"/>
            <a:ext cx="5630094" cy="1150404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0" name="Text 8"/>
          <p:cNvSpPr/>
          <p:nvPr/>
        </p:nvSpPr>
        <p:spPr>
          <a:xfrm>
            <a:off x="644429" y="4547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</a:t>
            </a: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효과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403" y="4900911"/>
            <a:ext cx="5699760" cy="6656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계획외 정지  30~50% 감소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 비용  10~25% 절감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지표:  OOS</a:t>
            </a:r>
            <a:r>
              <a:rPr lang="en-US" altLang="ko-KR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8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(*</a:t>
            </a:r>
            <a:r>
              <a:rPr lang="ko-KR" altLang="en-US" sz="8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３）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RMSE &lt; 900분 / ML </a:t>
            </a:r>
            <a:r>
              <a:rPr lang="ko-KR" alt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 </a:t>
            </a:r>
            <a:r>
              <a:rPr lang="en-US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개선율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&gt; 10% / 응답 &lt; 2초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6312" y="5739011"/>
            <a:ext cx="11064240" cy="896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(*1) </a:t>
            </a:r>
            <a:r>
              <a:rPr lang="en-US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GroupKFold</a:t>
            </a:r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무작위 분할이 아닌 베어링 단위를 통째로 분리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시계열</a:t>
            </a:r>
            <a:r>
              <a:rPr 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누수</a:t>
            </a:r>
            <a:r>
              <a:rPr 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완전</a:t>
            </a:r>
            <a:r>
              <a:rPr 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차단</a:t>
            </a:r>
            <a:endParaRPr lang="en-US" sz="12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(*2) 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"GRU v1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정규화 계층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LayerNorm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BatchNorm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추가한 개선 버전</a:t>
            </a:r>
            <a:endParaRPr lang="en-US" altLang="ko-KR" sz="12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(*3)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</a:rPr>
              <a:t>(Out-Of-Sample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</a:rPr>
              <a:t>／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</a:rPr>
              <a:t>OOS</a:t>
            </a:r>
            <a:r>
              <a:rPr lang="ko-KR" altLang="ko-KR" sz="1200" dirty="0">
                <a:latin typeface="Malgun Gothic" pitchFamily="34" charset="0"/>
                <a:ea typeface="Malgun Gothic" pitchFamily="34" charset="-122"/>
              </a:rPr>
              <a:t> 모델 학습에 쓰지 않은 데이터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</a:rPr>
              <a:t>) 11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개는 3개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Condition에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걸친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미관측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베어링</a:t>
            </a:r>
            <a:endParaRPr lang="en-US" altLang="ko-KR" sz="12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　　</a:t>
            </a:r>
            <a:r>
              <a:rPr lang="ko-KR" altLang="ko-KR" sz="1200" b="1" dirty="0"/>
              <a:t> </a:t>
            </a:r>
            <a:r>
              <a:rPr lang="ko-KR" altLang="en-US" sz="1200" b="1" dirty="0"/>
              <a:t>→</a:t>
            </a:r>
            <a:r>
              <a:rPr lang="ko-KR" alt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과</a:t>
            </a:r>
            <a:r>
              <a:rPr lang="ko-KR" altLang="ko-KR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적합을 </a:t>
            </a:r>
            <a:r>
              <a:rPr lang="ko-KR" altLang="ko-KR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드러내고</a:t>
            </a:r>
            <a:r>
              <a:rPr lang="ko-KR" alt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＇</a:t>
            </a:r>
            <a:r>
              <a:rPr lang="ko-KR" altLang="ko-KR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새</a:t>
            </a:r>
            <a:r>
              <a:rPr lang="ko-KR" altLang="ko-KR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설비 배포 시 실제 성능</a:t>
            </a:r>
            <a:r>
              <a:rPr lang="ko-KR" alt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＇</a:t>
            </a:r>
            <a:r>
              <a:rPr lang="ko-KR" altLang="ko-KR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정직하게 모사</a:t>
            </a:r>
            <a:r>
              <a:rPr lang="ko-KR" altLang="ko-KR" sz="1200" dirty="0"/>
              <a:t>(</a:t>
            </a:r>
            <a:r>
              <a:rPr lang="ko-KR" altLang="ko-KR" sz="1200" dirty="0" err="1"/>
              <a:t>RF·XGB가</a:t>
            </a:r>
            <a:r>
              <a:rPr lang="ko-KR" altLang="ko-KR" sz="1200" dirty="0"/>
              <a:t> IS F1 0.94 → OOS </a:t>
            </a:r>
            <a:r>
              <a:rPr lang="ko-KR" altLang="ko-KR" sz="1200" dirty="0" err="1"/>
              <a:t>Recall</a:t>
            </a:r>
            <a:r>
              <a:rPr lang="ko-KR" altLang="ko-KR" sz="1200" dirty="0"/>
              <a:t> 0.5로 무너진 게 그 증거)</a:t>
            </a:r>
            <a:endParaRPr lang="en-US" altLang="ko-KR" sz="12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24AD574F-A3DB-BF00-A220-349DCFCF7970}"/>
              </a:ext>
            </a:extLst>
          </p:cNvPr>
          <p:cNvSpPr/>
          <p:nvPr/>
        </p:nvSpPr>
        <p:spPr>
          <a:xfrm>
            <a:off x="6274523" y="4613962"/>
            <a:ext cx="5630094" cy="1031966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83316452-C5D0-CB9C-6A2C-8652A046A396}"/>
              </a:ext>
            </a:extLst>
          </p:cNvPr>
          <p:cNvSpPr/>
          <p:nvPr/>
        </p:nvSpPr>
        <p:spPr>
          <a:xfrm>
            <a:off x="6457403" y="461396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방법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C65ABCA4-A075-2234-EC1C-571E04D0CF48}"/>
              </a:ext>
            </a:extLst>
          </p:cNvPr>
          <p:cNvSpPr/>
          <p:nvPr/>
        </p:nvSpPr>
        <p:spPr>
          <a:xfrm>
            <a:off x="6274522" y="4852059"/>
            <a:ext cx="5760723" cy="842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200" dirty="0" err="1"/>
              <a:t>GroupKFold</a:t>
            </a:r>
            <a:r>
              <a:rPr sz="1200" dirty="0"/>
              <a:t>(*1) + VIF + 3종 </a:t>
            </a:r>
            <a:r>
              <a:rPr sz="1200" dirty="0" err="1"/>
              <a:t>GridSearch</a:t>
            </a:r>
            <a:r>
              <a:rPr sz="1200" dirty="0"/>
              <a:t> → ML </a:t>
            </a:r>
            <a:r>
              <a:rPr sz="1200" dirty="0" err="1"/>
              <a:t>베이스라인</a:t>
            </a:r>
            <a:endParaRPr sz="1200" dirty="0"/>
          </a:p>
          <a:p>
            <a:r>
              <a:rPr sz="1200" dirty="0"/>
              <a:t>GRU </a:t>
            </a:r>
            <a:r>
              <a:rPr sz="1200" dirty="0" err="1"/>
              <a:t>시계열</a:t>
            </a:r>
            <a:r>
              <a:rPr sz="1200" dirty="0"/>
              <a:t> </a:t>
            </a:r>
            <a:r>
              <a:rPr sz="1200" dirty="0" err="1"/>
              <a:t>학습</a:t>
            </a:r>
            <a:r>
              <a:rPr sz="1200" dirty="0"/>
              <a:t> → RUL </a:t>
            </a:r>
            <a:r>
              <a:rPr sz="1200" dirty="0" err="1"/>
              <a:t>정밀도</a:t>
            </a:r>
            <a:r>
              <a:rPr sz="1200" dirty="0"/>
              <a:t> </a:t>
            </a:r>
            <a:r>
              <a:rPr sz="1200" dirty="0" err="1"/>
              <a:t>향상</a:t>
            </a:r>
            <a:r>
              <a:rPr sz="1200" dirty="0"/>
              <a:t> (BN+LN (*2))</a:t>
            </a:r>
          </a:p>
          <a:p>
            <a:r>
              <a:rPr sz="1200" dirty="0" err="1"/>
              <a:t>Streamlit</a:t>
            </a:r>
            <a:r>
              <a:rPr sz="1200" dirty="0"/>
              <a:t> 6탭 </a:t>
            </a:r>
            <a:r>
              <a:rPr sz="1200" dirty="0" err="1"/>
              <a:t>통합</a:t>
            </a:r>
            <a:r>
              <a:rPr sz="1200" dirty="0"/>
              <a:t> 진단 </a:t>
            </a:r>
            <a:r>
              <a:rPr sz="1200" dirty="0" err="1"/>
              <a:t>대시보드</a:t>
            </a:r>
            <a:endParaRPr sz="1200" dirty="0"/>
          </a:p>
          <a:p>
            <a:r>
              <a:rPr sz="1200" dirty="0"/>
              <a:t>LLM(Claude API)+RAG 2단계로 </a:t>
            </a:r>
            <a:r>
              <a:rPr sz="1200" dirty="0" err="1"/>
              <a:t>자연어</a:t>
            </a:r>
            <a:r>
              <a:rPr sz="1200" dirty="0"/>
              <a:t> 진단 </a:t>
            </a:r>
            <a:r>
              <a:rPr sz="1200" dirty="0" err="1"/>
              <a:t>보고서</a:t>
            </a:r>
            <a:r>
              <a:rPr sz="1200" dirty="0"/>
              <a:t> </a:t>
            </a:r>
            <a:r>
              <a:rPr sz="1200" dirty="0" err="1"/>
              <a:t>자동화</a:t>
            </a:r>
            <a:r>
              <a:rPr sz="1200" dirty="0"/>
              <a:t> (본 </a:t>
            </a:r>
            <a:r>
              <a:rPr sz="1200" dirty="0" err="1"/>
              <a:t>프로젝트</a:t>
            </a:r>
            <a:r>
              <a:rPr sz="1200" dirty="0"/>
              <a:t>, </a:t>
            </a:r>
            <a:r>
              <a:rPr sz="1200" dirty="0" err="1"/>
              <a:t>부록</a:t>
            </a:r>
            <a:r>
              <a:rPr sz="1200" dirty="0"/>
              <a:t> C </a:t>
            </a:r>
            <a:r>
              <a:rPr sz="1200" dirty="0" err="1"/>
              <a:t>참고</a:t>
            </a:r>
            <a:r>
              <a:rPr sz="1200" dirty="0"/>
              <a:t>)</a:t>
            </a:r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79EF70C5-8A1C-C5EC-B54E-AAE3667AA23D}"/>
              </a:ext>
            </a:extLst>
          </p:cNvPr>
          <p:cNvSpPr/>
          <p:nvPr/>
        </p:nvSpPr>
        <p:spPr>
          <a:xfrm>
            <a:off x="465905" y="1335024"/>
            <a:ext cx="11173101" cy="789865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F580D9B1-D797-E2F6-B7D3-D39C01B3943F}"/>
              </a:ext>
            </a:extLst>
          </p:cNvPr>
          <p:cNvSpPr/>
          <p:nvPr/>
        </p:nvSpPr>
        <p:spPr>
          <a:xfrm>
            <a:off x="648786" y="1327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</a:t>
            </a:r>
            <a:endParaRPr lang="en-US" sz="13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EE5CE6DA-E886-54D8-AB78-A3AA83A62A57}"/>
              </a:ext>
            </a:extLst>
          </p:cNvPr>
          <p:cNvSpPr/>
          <p:nvPr/>
        </p:nvSpPr>
        <p:spPr>
          <a:xfrm>
            <a:off x="552992" y="1549527"/>
            <a:ext cx="11173101" cy="575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핵심부품 베어링의 기존 정기 점검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(PM)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보통 분 단위 잔여수명을 예측 못하고  </a:t>
            </a: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경보에 </a:t>
            </a: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머뭄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실제 열화 상태를 반영하지 못해 과잉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과소 점검이 반복되는 한계 →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진동·온도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ML·DL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학습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ML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분류로 즉시 이상 판정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DL RUL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교체 시점 조기경보 → 현장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PdM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753BABE-3BED-1D63-5E80-1AB5DC04BE01}"/>
              </a:ext>
            </a:extLst>
          </p:cNvPr>
          <p:cNvGrpSpPr/>
          <p:nvPr/>
        </p:nvGrpSpPr>
        <p:grpSpPr>
          <a:xfrm>
            <a:off x="465905" y="2101963"/>
            <a:ext cx="11457432" cy="2431893"/>
            <a:chOff x="274320" y="1136022"/>
            <a:chExt cx="11643360" cy="2402041"/>
          </a:xfrm>
        </p:grpSpPr>
        <p:sp>
          <p:nvSpPr>
            <p:cNvPr id="40" name="rect">
              <a:extLst>
                <a:ext uri="{FF2B5EF4-FFF2-40B4-BE49-F238E27FC236}">
                  <a16:creationId xmlns:a16="http://schemas.microsoft.com/office/drawing/2014/main" id="{E7817C48-448E-9FE5-FB81-EDA42413F94B}"/>
                </a:ext>
              </a:extLst>
            </p:cNvPr>
            <p:cNvSpPr/>
            <p:nvPr/>
          </p:nvSpPr>
          <p:spPr>
            <a:xfrm>
              <a:off x="274320" y="1511143"/>
              <a:ext cx="3698240" cy="457200"/>
            </a:xfrm>
            <a:prstGeom prst="rect">
              <a:avLst/>
            </a:prstGeom>
            <a:solidFill>
              <a:srgbClr val="1A4A7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06C5BC8-358C-AC92-03BA-E878D24E9571}"/>
                </a:ext>
              </a:extLst>
            </p:cNvPr>
            <p:cNvSpPr txBox="1"/>
            <p:nvPr/>
          </p:nvSpPr>
          <p:spPr>
            <a:xfrm>
              <a:off x="274320" y="1511143"/>
              <a:ext cx="36982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① ML 단계</a:t>
              </a:r>
            </a:p>
          </p:txBody>
        </p:sp>
        <p:sp>
          <p:nvSpPr>
            <p:cNvPr id="42" name="rect">
              <a:extLst>
                <a:ext uri="{FF2B5EF4-FFF2-40B4-BE49-F238E27FC236}">
                  <a16:creationId xmlns:a16="http://schemas.microsoft.com/office/drawing/2014/main" id="{90A555DC-80A9-209E-2DC2-3A9866CC6E63}"/>
                </a:ext>
              </a:extLst>
            </p:cNvPr>
            <p:cNvSpPr/>
            <p:nvPr/>
          </p:nvSpPr>
          <p:spPr>
            <a:xfrm>
              <a:off x="274320" y="1968343"/>
              <a:ext cx="3698240" cy="411480"/>
            </a:xfrm>
            <a:prstGeom prst="rect">
              <a:avLst/>
            </a:prstGeom>
            <a:solidFill>
              <a:srgbClr val="1A4A7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E4DEE19-428F-FFE1-29ED-6023683D7046}"/>
                </a:ext>
              </a:extLst>
            </p:cNvPr>
            <p:cNvSpPr txBox="1"/>
            <p:nvPr/>
          </p:nvSpPr>
          <p:spPr>
            <a:xfrm>
              <a:off x="274320" y="1968343"/>
              <a:ext cx="3698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</a:rPr>
                <a:t>정상 / 열화 분류</a:t>
              </a:r>
            </a:p>
          </p:txBody>
        </p:sp>
        <p:sp>
          <p:nvSpPr>
            <p:cNvPr id="44" name="rect">
              <a:extLst>
                <a:ext uri="{FF2B5EF4-FFF2-40B4-BE49-F238E27FC236}">
                  <a16:creationId xmlns:a16="http://schemas.microsoft.com/office/drawing/2014/main" id="{19B104EE-3C83-682F-940E-90E2F3B9576D}"/>
                </a:ext>
              </a:extLst>
            </p:cNvPr>
            <p:cNvSpPr/>
            <p:nvPr/>
          </p:nvSpPr>
          <p:spPr>
            <a:xfrm>
              <a:off x="274320" y="2379823"/>
              <a:ext cx="3698240" cy="1144976"/>
            </a:xfrm>
            <a:prstGeom prst="rect">
              <a:avLst/>
            </a:prstGeom>
            <a:solidFill>
              <a:srgbClr val="E8F0FE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AB60381-2906-62FC-A847-70AB89FF00EE}"/>
                </a:ext>
              </a:extLst>
            </p:cNvPr>
            <p:cNvSpPr txBox="1"/>
            <p:nvPr/>
          </p:nvSpPr>
          <p:spPr>
            <a:xfrm>
              <a:off x="347472" y="2425543"/>
              <a:ext cx="3588512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</a:rPr>
                <a:t>▸ 알고리즘: RandomForest · XGBoost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입력: 진동 RMS · 첨도 · 크레스트 인자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출력: 열화 확률(%) · 임계값 기반 판정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역할: '지금 이상이 있는가?' 1차 경보</a:t>
              </a:r>
            </a:p>
          </p:txBody>
        </p:sp>
        <p:sp>
          <p:nvSpPr>
            <p:cNvPr id="46" name="rect">
              <a:extLst>
                <a:ext uri="{FF2B5EF4-FFF2-40B4-BE49-F238E27FC236}">
                  <a16:creationId xmlns:a16="http://schemas.microsoft.com/office/drawing/2014/main" id="{842C1599-81AC-3FF5-8815-B72BA3BE877E}"/>
                </a:ext>
              </a:extLst>
            </p:cNvPr>
            <p:cNvSpPr/>
            <p:nvPr/>
          </p:nvSpPr>
          <p:spPr>
            <a:xfrm>
              <a:off x="4246880" y="1511143"/>
              <a:ext cx="3698240" cy="457200"/>
            </a:xfrm>
            <a:prstGeom prst="rect">
              <a:avLst/>
            </a:prstGeom>
            <a:solidFill>
              <a:srgbClr val="0A6A2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260EEE1-B5E6-7847-8AB8-B2B728E0C123}"/>
                </a:ext>
              </a:extLst>
            </p:cNvPr>
            <p:cNvSpPr txBox="1"/>
            <p:nvPr/>
          </p:nvSpPr>
          <p:spPr>
            <a:xfrm>
              <a:off x="4246880" y="1511143"/>
              <a:ext cx="36982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② DL 단계</a:t>
              </a:r>
            </a:p>
          </p:txBody>
        </p:sp>
        <p:sp>
          <p:nvSpPr>
            <p:cNvPr id="48" name="rect">
              <a:extLst>
                <a:ext uri="{FF2B5EF4-FFF2-40B4-BE49-F238E27FC236}">
                  <a16:creationId xmlns:a16="http://schemas.microsoft.com/office/drawing/2014/main" id="{8C9D28B9-B872-1785-2974-4D5A9844A2DD}"/>
                </a:ext>
              </a:extLst>
            </p:cNvPr>
            <p:cNvSpPr/>
            <p:nvPr/>
          </p:nvSpPr>
          <p:spPr>
            <a:xfrm>
              <a:off x="4246880" y="1968343"/>
              <a:ext cx="3698240" cy="411480"/>
            </a:xfrm>
            <a:prstGeom prst="rect">
              <a:avLst/>
            </a:prstGeom>
            <a:solidFill>
              <a:srgbClr val="0A6A2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3483E00-3B67-CE85-1B41-E43E036836FC}"/>
                </a:ext>
              </a:extLst>
            </p:cNvPr>
            <p:cNvSpPr txBox="1"/>
            <p:nvPr/>
          </p:nvSpPr>
          <p:spPr>
            <a:xfrm>
              <a:off x="4246880" y="1968343"/>
              <a:ext cx="3698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</a:rPr>
                <a:t>잔여수명(RUL) 정밀 예측</a:t>
              </a:r>
            </a:p>
          </p:txBody>
        </p:sp>
        <p:sp>
          <p:nvSpPr>
            <p:cNvPr id="50" name="rect">
              <a:extLst>
                <a:ext uri="{FF2B5EF4-FFF2-40B4-BE49-F238E27FC236}">
                  <a16:creationId xmlns:a16="http://schemas.microsoft.com/office/drawing/2014/main" id="{40029F22-09C0-ECB8-8C7B-32A5392BB8B5}"/>
                </a:ext>
              </a:extLst>
            </p:cNvPr>
            <p:cNvSpPr/>
            <p:nvPr/>
          </p:nvSpPr>
          <p:spPr>
            <a:xfrm>
              <a:off x="4246880" y="2379823"/>
              <a:ext cx="3698240" cy="1127271"/>
            </a:xfrm>
            <a:prstGeom prst="rect">
              <a:avLst/>
            </a:prstGeom>
            <a:solidFill>
              <a:srgbClr val="E6F7E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98643F0-BD28-085A-1BC1-36F831C9EDC2}"/>
                </a:ext>
              </a:extLst>
            </p:cNvPr>
            <p:cNvSpPr txBox="1"/>
            <p:nvPr/>
          </p:nvSpPr>
          <p:spPr>
            <a:xfrm>
              <a:off x="4320031" y="2425543"/>
              <a:ext cx="3687097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</a:rPr>
                <a:t>▸ 알고리즘: GRU v2 (Batch Norm + Layer Norm)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입력: 진동 시계열 시퀀스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출력: 잔여 가동 시간(분) 예측값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역할: '언제 교체해야 하는가?' 정밀 예측</a:t>
              </a:r>
            </a:p>
          </p:txBody>
        </p:sp>
        <p:sp>
          <p:nvSpPr>
            <p:cNvPr id="52" name="rect">
              <a:extLst>
                <a:ext uri="{FF2B5EF4-FFF2-40B4-BE49-F238E27FC236}">
                  <a16:creationId xmlns:a16="http://schemas.microsoft.com/office/drawing/2014/main" id="{0EA0A4B2-2E66-2269-2E38-10869B6D1EAB}"/>
                </a:ext>
              </a:extLst>
            </p:cNvPr>
            <p:cNvSpPr/>
            <p:nvPr/>
          </p:nvSpPr>
          <p:spPr>
            <a:xfrm>
              <a:off x="8219440" y="1511143"/>
              <a:ext cx="3698240" cy="457200"/>
            </a:xfrm>
            <a:prstGeom prst="rect">
              <a:avLst/>
            </a:prstGeom>
            <a:solidFill>
              <a:srgbClr val="8B00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FF30FAC-C269-9063-D1EB-A54F12AF56D0}"/>
                </a:ext>
              </a:extLst>
            </p:cNvPr>
            <p:cNvSpPr txBox="1"/>
            <p:nvPr/>
          </p:nvSpPr>
          <p:spPr>
            <a:xfrm>
              <a:off x="8219440" y="1511143"/>
              <a:ext cx="36982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③ CNN + Grad-CAM</a:t>
              </a:r>
            </a:p>
          </p:txBody>
        </p:sp>
        <p:sp>
          <p:nvSpPr>
            <p:cNvPr id="54" name="rect">
              <a:extLst>
                <a:ext uri="{FF2B5EF4-FFF2-40B4-BE49-F238E27FC236}">
                  <a16:creationId xmlns:a16="http://schemas.microsoft.com/office/drawing/2014/main" id="{43661050-86D4-E55F-9D44-71A054788089}"/>
                </a:ext>
              </a:extLst>
            </p:cNvPr>
            <p:cNvSpPr/>
            <p:nvPr/>
          </p:nvSpPr>
          <p:spPr>
            <a:xfrm>
              <a:off x="8219440" y="1968343"/>
              <a:ext cx="3698240" cy="411480"/>
            </a:xfrm>
            <a:prstGeom prst="rect">
              <a:avLst/>
            </a:prstGeom>
            <a:solidFill>
              <a:srgbClr val="8B00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77D3E57-AA1D-8882-F50A-1F2526609527}"/>
                </a:ext>
              </a:extLst>
            </p:cNvPr>
            <p:cNvSpPr txBox="1"/>
            <p:nvPr/>
          </p:nvSpPr>
          <p:spPr>
            <a:xfrm>
              <a:off x="8219440" y="1968343"/>
              <a:ext cx="3698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</a:rPr>
                <a:t>고장 부위·시점 시각화</a:t>
              </a:r>
            </a:p>
          </p:txBody>
        </p:sp>
        <p:sp>
          <p:nvSpPr>
            <p:cNvPr id="56" name="rect">
              <a:extLst>
                <a:ext uri="{FF2B5EF4-FFF2-40B4-BE49-F238E27FC236}">
                  <a16:creationId xmlns:a16="http://schemas.microsoft.com/office/drawing/2014/main" id="{72802C0F-3593-B838-C06F-A5F40436293A}"/>
                </a:ext>
              </a:extLst>
            </p:cNvPr>
            <p:cNvSpPr/>
            <p:nvPr/>
          </p:nvSpPr>
          <p:spPr>
            <a:xfrm>
              <a:off x="8219440" y="2379823"/>
              <a:ext cx="3698240" cy="1158240"/>
            </a:xfrm>
            <a:prstGeom prst="rect">
              <a:avLst/>
            </a:prstGeom>
            <a:solidFill>
              <a:srgbClr val="FDEDED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D88A6-177E-8506-1664-2E3E950D7F98}"/>
                </a:ext>
              </a:extLst>
            </p:cNvPr>
            <p:cNvSpPr txBox="1"/>
            <p:nvPr/>
          </p:nvSpPr>
          <p:spPr>
            <a:xfrm>
              <a:off x="8292592" y="2425543"/>
              <a:ext cx="3625088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</a:rPr>
                <a:t>▸ 알고리즘: CNN (Conv2D × 3 레이어)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입력: 진동 신호 → matplotlib 이미지 변환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Grad-CAM: 마지막 Conv 기울기 역전파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  → 히트맵으로 '어느 시점이 위험했나' 표시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역할: XAI — CNN 판정 근거 시각화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B071E40-B5E4-EBAE-B683-9F80DCAB31C9}"/>
                </a:ext>
              </a:extLst>
            </p:cNvPr>
            <p:cNvSpPr txBox="1"/>
            <p:nvPr/>
          </p:nvSpPr>
          <p:spPr>
            <a:xfrm>
              <a:off x="621647" y="1136022"/>
              <a:ext cx="1111010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① ML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이상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탐지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  →   ② DL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잔여수명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예측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  →   ③ CNN + Grad-CAM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시각화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  →  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정비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의사결정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지원</a:t>
              </a:r>
              <a:endParaRPr sz="14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</p:grpSp>
      <p:sp>
        <p:nvSpPr>
          <p:cNvPr id="7" name="Text 1">
            <a:extLst>
              <a:ext uri="{FF2B5EF4-FFF2-40B4-BE49-F238E27FC236}">
                <a16:creationId xmlns:a16="http://schemas.microsoft.com/office/drawing/2014/main" id="{B4C1E3BD-469D-DAC9-CD51-21E82D091819}"/>
              </a:ext>
            </a:extLst>
          </p:cNvPr>
          <p:cNvSpPr/>
          <p:nvPr/>
        </p:nvSpPr>
        <p:spPr>
          <a:xfrm>
            <a:off x="457200" y="384048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600" dirty="0" err="1">
                <a:solidFill>
                  <a:schemeClr val="bg1"/>
                </a:solidFill>
              </a:rPr>
              <a:t>부록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8" name="Text 46">
            <a:extLst>
              <a:ext uri="{FF2B5EF4-FFF2-40B4-BE49-F238E27FC236}">
                <a16:creationId xmlns:a16="http://schemas.microsoft.com/office/drawing/2014/main" id="{1B1A61D3-3446-AB54-FE58-0080A498B50D}"/>
              </a:ext>
            </a:extLst>
          </p:cNvPr>
          <p:cNvSpPr/>
          <p:nvPr/>
        </p:nvSpPr>
        <p:spPr>
          <a:xfrm>
            <a:off x="9440093" y="64725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" y="443957"/>
            <a:ext cx="1060704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B. 세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과제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lang="ko-KR" altLang="en-US" b="1" dirty="0">
                <a:solidFill>
                  <a:srgbClr val="1F3A5F"/>
                </a:solidFill>
                <a:latin typeface="Malgun Gothic"/>
                <a:ea typeface="Malgun Gothic"/>
              </a:rPr>
              <a:t>구성 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— ML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과제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↔ DL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과제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↔ LLM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과제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(본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프로젝트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line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" y="1417320"/>
            <a:ext cx="4206240" cy="7315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r>
              <a:rPr sz="1250" b="1" i="0">
                <a:solidFill>
                  <a:srgbClr val="1F3A5F"/>
                </a:solidFill>
                <a:latin typeface="Malgun Gothic"/>
              </a:rPr>
              <a:t>현장 데이터</a:t>
            </a:r>
          </a:p>
          <a:p>
            <a:pPr algn="ctr"/>
            <a:r>
              <a:rPr sz="1000" b="0" i="0">
                <a:solidFill>
                  <a:srgbClr val="6B7785"/>
                </a:solidFill>
                <a:latin typeface="Malgun Gothic"/>
              </a:rPr>
              <a:t>센서 → 엣지(1분 12피처) → 발행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63440" y="1783080"/>
            <a:ext cx="594360" cy="0"/>
          </a:xfrm>
          <a:prstGeom prst="line">
            <a:avLst/>
          </a:prstGeom>
          <a:ln w="2540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57800" y="1417320"/>
            <a:ext cx="4160520" cy="731520"/>
          </a:xfrm>
          <a:prstGeom prst="roundRect">
            <a:avLst/>
          </a:prstGeom>
          <a:solidFill>
            <a:srgbClr val="13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algun Gothic"/>
              </a:rPr>
              <a:t>브로커 (MQTT) = IoT 플랫폼</a:t>
            </a:r>
          </a:p>
          <a:p>
            <a:pPr algn="ctr"/>
            <a:r>
              <a:rPr sz="1000" b="0" i="0">
                <a:solidFill>
                  <a:srgbClr val="CFDCEA"/>
                </a:solidFill>
                <a:latin typeface="Malgun Gothic"/>
              </a:rPr>
              <a:t>구독(Subscribe) — 1:N 분배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554480"/>
            <a:ext cx="23774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↓ 세 앱이 구독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108960" y="2148840"/>
            <a:ext cx="2377440" cy="502920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2148840"/>
            <a:ext cx="1280160" cy="502920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2651760"/>
            <a:ext cx="5212080" cy="183794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5212080" cy="325987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  ① ML 과제 — PdM-Guard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10128"/>
            <a:ext cx="4754880" cy="1783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 dirty="0" err="1">
                <a:solidFill>
                  <a:srgbClr val="2E7D32"/>
                </a:solidFill>
                <a:latin typeface="Malgun Gothic"/>
              </a:rPr>
              <a:t>mlfactoryautomation.streamlit.app</a:t>
            </a:r>
            <a:endParaRPr sz="1050" b="1" i="0" dirty="0">
              <a:solidFill>
                <a:srgbClr val="2E7D32"/>
              </a:solidFill>
              <a:latin typeface="Malgun Gothic"/>
            </a:endParaRPr>
          </a:p>
          <a:p>
            <a:pPr algn="l">
              <a:spcAft>
                <a:spcPts val="400"/>
              </a:spcAft>
            </a:pPr>
            <a:r>
              <a:rPr sz="1150" b="1" i="0" dirty="0">
                <a:solidFill>
                  <a:srgbClr val="22303C"/>
                </a:solidFill>
                <a:latin typeface="Malgun Gothic"/>
              </a:rPr>
              <a:t>• </a:t>
            </a:r>
            <a:r>
              <a:rPr sz="1150" b="1" i="0" dirty="0" err="1">
                <a:solidFill>
                  <a:srgbClr val="22303C"/>
                </a:solidFill>
                <a:latin typeface="Malgun Gothic"/>
              </a:rPr>
              <a:t>데이터</a:t>
            </a:r>
            <a:r>
              <a:rPr sz="1150" b="1" i="0" dirty="0">
                <a:solidFill>
                  <a:srgbClr val="22303C"/>
                </a:solidFill>
                <a:latin typeface="Malgun Gothic"/>
              </a:rPr>
              <a:t>: 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AI4I 2020 (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설비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센서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1150" b="1" i="0" dirty="0">
                <a:solidFill>
                  <a:srgbClr val="22303C"/>
                </a:solidFill>
                <a:latin typeface="Malgun Gothic"/>
              </a:rPr>
              <a:t>• </a:t>
            </a:r>
            <a:r>
              <a:rPr sz="1150" b="1" i="0" dirty="0" err="1">
                <a:solidFill>
                  <a:srgbClr val="22303C"/>
                </a:solidFill>
                <a:latin typeface="Malgun Gothic"/>
              </a:rPr>
              <a:t>모델</a:t>
            </a:r>
            <a:r>
              <a:rPr sz="1150" b="1" i="0" dirty="0">
                <a:solidFill>
                  <a:srgbClr val="22303C"/>
                </a:solidFill>
                <a:latin typeface="Malgun Gothic"/>
              </a:rPr>
              <a:t>: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XGBoost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열화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분류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(ML)</a:t>
            </a:r>
          </a:p>
          <a:p>
            <a:pPr algn="l">
              <a:spcAft>
                <a:spcPts val="400"/>
              </a:spcAft>
            </a:pPr>
            <a:r>
              <a:rPr sz="1150" b="1" i="0" dirty="0">
                <a:solidFill>
                  <a:srgbClr val="22303C"/>
                </a:solidFill>
                <a:latin typeface="Malgun Gothic"/>
              </a:rPr>
              <a:t>• </a:t>
            </a:r>
            <a:r>
              <a:rPr sz="1150" b="1" i="0" dirty="0" err="1">
                <a:solidFill>
                  <a:srgbClr val="22303C"/>
                </a:solidFill>
                <a:latin typeface="Malgun Gothic"/>
              </a:rPr>
              <a:t>기능</a:t>
            </a:r>
            <a:r>
              <a:rPr sz="1150" b="1" i="0" dirty="0">
                <a:solidFill>
                  <a:srgbClr val="22303C"/>
                </a:solidFill>
                <a:latin typeface="Malgun Gothic"/>
              </a:rPr>
              <a:t>: 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P(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열화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)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임계값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경보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·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즉시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이상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판정</a:t>
            </a:r>
            <a:endParaRPr sz="1150" b="0" i="0" dirty="0">
              <a:solidFill>
                <a:srgbClr val="22303C"/>
              </a:solidFill>
              <a:latin typeface="Malgun Gothic"/>
            </a:endParaRPr>
          </a:p>
          <a:p>
            <a:pPr algn="l">
              <a:spcAft>
                <a:spcPts val="400"/>
              </a:spcAft>
            </a:pPr>
            <a:r>
              <a:rPr sz="1150" b="1" i="0" dirty="0">
                <a:solidFill>
                  <a:srgbClr val="2E7D32"/>
                </a:solidFill>
                <a:latin typeface="Malgun Gothic"/>
              </a:rPr>
              <a:t>• </a:t>
            </a:r>
            <a:r>
              <a:rPr sz="1150" b="1" i="0" dirty="0" err="1">
                <a:solidFill>
                  <a:srgbClr val="2E7D32"/>
                </a:solidFill>
                <a:latin typeface="Malgun Gothic"/>
              </a:rPr>
              <a:t>역할</a:t>
            </a:r>
            <a:r>
              <a:rPr sz="1150" b="1" i="0" dirty="0">
                <a:solidFill>
                  <a:srgbClr val="2E7D32"/>
                </a:solidFill>
                <a:latin typeface="Malgun Gothic"/>
              </a:rPr>
              <a:t>: 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"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지금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이상인가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?"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분류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진단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28232" y="2651760"/>
            <a:ext cx="5212080" cy="1837945"/>
          </a:xfrm>
          <a:prstGeom prst="roundRect">
            <a:avLst/>
          </a:prstGeom>
          <a:solidFill>
            <a:srgbClr val="F2F7FB"/>
          </a:solidFill>
          <a:ln w="2222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28232" y="2651760"/>
            <a:ext cx="5212080" cy="325987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  ② DL 과제 — 현재 발표 프로젝트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3310128"/>
            <a:ext cx="4754880" cy="1783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>
                <a:solidFill>
                  <a:srgbClr val="2E75B6"/>
                </a:solidFill>
                <a:latin typeface="Malgun Gothic"/>
              </a:rPr>
              <a:t>dlfactoryautomation.streamlit.app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데이터: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FEMTO-ST (진동·온도 시계열)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모델: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GRU RUL(DL) + AE 이상(DL) + LR·RF 분류(ML)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기능: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잔여수명 예측 + 이상탐지 + 통합 진단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Malgun Gothic"/>
              </a:rPr>
              <a:t>• 역할: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"얼마 남았나?" RUL + ML 통합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5779008" y="3703320"/>
            <a:ext cx="630936" cy="0"/>
          </a:xfrm>
          <a:prstGeom prst="line">
            <a:avLst/>
          </a:prstGeom>
          <a:ln w="28575">
            <a:solidFill>
              <a:srgbClr val="D9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42432" y="3767328"/>
            <a:ext cx="704088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1" i="0">
                <a:solidFill>
                  <a:srgbClr val="D98A00"/>
                </a:solidFill>
                <a:latin typeface="Malgun Gothic"/>
              </a:rPr>
              <a:t>앱</a:t>
            </a:r>
          </a:p>
          <a:p>
            <a:pPr algn="ctr"/>
            <a:r>
              <a:rPr sz="900" b="1" i="0">
                <a:solidFill>
                  <a:srgbClr val="D98A00"/>
                </a:solidFill>
                <a:latin typeface="Malgun Gothic"/>
              </a:rPr>
              <a:t>연동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630062"/>
            <a:ext cx="11081657" cy="167929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88900" rtlCol="0" anchor="ctr"/>
          <a:lstStyle/>
          <a:p>
            <a:r>
              <a:rPr sz="1400" dirty="0" err="1"/>
              <a:t>개념</a:t>
            </a:r>
            <a:r>
              <a:rPr sz="1400" dirty="0"/>
              <a:t>   </a:t>
            </a:r>
            <a:r>
              <a:rPr sz="1400" dirty="0" err="1"/>
              <a:t>예지보전</a:t>
            </a:r>
            <a:r>
              <a:rPr sz="1400" dirty="0"/>
              <a:t>(</a:t>
            </a:r>
            <a:r>
              <a:rPr sz="1400" dirty="0" err="1"/>
              <a:t>PdM</a:t>
            </a:r>
            <a:r>
              <a:rPr sz="1400" dirty="0"/>
              <a:t>)은 </a:t>
            </a:r>
            <a:r>
              <a:rPr sz="1400" dirty="0" err="1"/>
              <a:t>목적이고</a:t>
            </a:r>
            <a:r>
              <a:rPr sz="1400" dirty="0"/>
              <a:t>, 그 </a:t>
            </a:r>
            <a:r>
              <a:rPr sz="1400" dirty="0" err="1"/>
              <a:t>아래</a:t>
            </a:r>
            <a:r>
              <a:rPr sz="1400" dirty="0"/>
              <a:t> ML </a:t>
            </a:r>
            <a:r>
              <a:rPr sz="1400" dirty="0" err="1"/>
              <a:t>과제</a:t>
            </a:r>
            <a:r>
              <a:rPr sz="1400" dirty="0"/>
              <a:t>(</a:t>
            </a:r>
            <a:r>
              <a:rPr sz="1400" dirty="0" err="1"/>
              <a:t>PdM</a:t>
            </a:r>
            <a:r>
              <a:rPr sz="1400" dirty="0"/>
              <a:t>-Guard)=</a:t>
            </a:r>
            <a:r>
              <a:rPr sz="1400" dirty="0" err="1"/>
              <a:t>열화</a:t>
            </a:r>
            <a:r>
              <a:rPr sz="1400" dirty="0"/>
              <a:t> </a:t>
            </a:r>
            <a:r>
              <a:rPr sz="1400" dirty="0" err="1"/>
              <a:t>분류</a:t>
            </a:r>
            <a:r>
              <a:rPr sz="1400" dirty="0"/>
              <a:t> </a:t>
            </a:r>
            <a:r>
              <a:rPr sz="1400" dirty="0" err="1"/>
              <a:t>전담</a:t>
            </a:r>
            <a:r>
              <a:rPr sz="1400" dirty="0"/>
              <a:t>, DL </a:t>
            </a:r>
            <a:r>
              <a:rPr sz="1400" dirty="0" err="1"/>
              <a:t>과제</a:t>
            </a:r>
            <a:r>
              <a:rPr sz="1400" dirty="0"/>
              <a:t>=RUL </a:t>
            </a:r>
            <a:r>
              <a:rPr sz="1400" dirty="0" err="1"/>
              <a:t>예측</a:t>
            </a:r>
            <a:r>
              <a:rPr sz="1400" dirty="0"/>
              <a:t> </a:t>
            </a:r>
            <a:r>
              <a:rPr sz="1400" dirty="0" err="1"/>
              <a:t>중심</a:t>
            </a:r>
            <a:r>
              <a:rPr sz="1400" dirty="0"/>
              <a:t> + ML </a:t>
            </a:r>
            <a:r>
              <a:rPr sz="1400" dirty="0" err="1"/>
              <a:t>분류까지</a:t>
            </a:r>
            <a:r>
              <a:rPr sz="1400" dirty="0"/>
              <a:t> </a:t>
            </a:r>
            <a:r>
              <a:rPr sz="1400" dirty="0" err="1"/>
              <a:t>통합입니다</a:t>
            </a:r>
            <a:r>
              <a:rPr sz="1400" dirty="0"/>
              <a:t>.</a:t>
            </a:r>
          </a:p>
          <a:p>
            <a:r>
              <a:rPr sz="1400" dirty="0"/>
              <a:t>→ 두 </a:t>
            </a:r>
            <a:r>
              <a:rPr sz="1400" dirty="0" err="1"/>
              <a:t>앱은</a:t>
            </a:r>
            <a:r>
              <a:rPr sz="1400" dirty="0"/>
              <a:t> </a:t>
            </a:r>
            <a:r>
              <a:rPr sz="1400" dirty="0" err="1"/>
              <a:t>링크로</a:t>
            </a:r>
            <a:r>
              <a:rPr sz="1400" dirty="0"/>
              <a:t> </a:t>
            </a:r>
            <a:r>
              <a:rPr sz="1400" dirty="0" err="1"/>
              <a:t>연결된</a:t>
            </a:r>
            <a:r>
              <a:rPr sz="1400" dirty="0"/>
              <a:t> </a:t>
            </a:r>
            <a:r>
              <a:rPr sz="1400" dirty="0" err="1"/>
              <a:t>상호보완</a:t>
            </a:r>
            <a:r>
              <a:rPr sz="1400" dirty="0"/>
              <a:t> </a:t>
            </a:r>
            <a:r>
              <a:rPr sz="1400" dirty="0" err="1"/>
              <a:t>구성</a:t>
            </a:r>
            <a:r>
              <a:rPr sz="1400" dirty="0"/>
              <a:t> — </a:t>
            </a:r>
            <a:r>
              <a:rPr sz="1400" dirty="0" err="1"/>
              <a:t>DL앱의</a:t>
            </a:r>
            <a:r>
              <a:rPr sz="1400" dirty="0"/>
              <a:t> "ML </a:t>
            </a:r>
            <a:r>
              <a:rPr sz="1400" dirty="0" err="1"/>
              <a:t>설비</a:t>
            </a:r>
            <a:r>
              <a:rPr sz="1400" dirty="0"/>
              <a:t> 진단 </a:t>
            </a:r>
            <a:r>
              <a:rPr sz="1400" dirty="0" err="1"/>
              <a:t>앱으로</a:t>
            </a:r>
            <a:r>
              <a:rPr sz="1400" dirty="0"/>
              <a:t> →" </a:t>
            </a:r>
            <a:r>
              <a:rPr sz="1400" dirty="0" err="1"/>
              <a:t>버튼으로</a:t>
            </a:r>
            <a:r>
              <a:rPr sz="1400" dirty="0"/>
              <a:t> </a:t>
            </a:r>
            <a:r>
              <a:rPr sz="1400" dirty="0" err="1"/>
              <a:t>이동</a:t>
            </a:r>
            <a:r>
              <a:rPr sz="1400" dirty="0"/>
              <a:t>. </a:t>
            </a:r>
            <a:r>
              <a:rPr sz="1400" dirty="0" err="1"/>
              <a:t>분류</a:t>
            </a:r>
            <a:r>
              <a:rPr sz="1400" dirty="0"/>
              <a:t>(ML)는 "</a:t>
            </a:r>
            <a:r>
              <a:rPr sz="1400" dirty="0" err="1"/>
              <a:t>지금</a:t>
            </a:r>
            <a:r>
              <a:rPr sz="1400" dirty="0"/>
              <a:t> </a:t>
            </a:r>
            <a:r>
              <a:rPr sz="1400" dirty="0" err="1"/>
              <a:t>이상</a:t>
            </a:r>
            <a:r>
              <a:rPr sz="1400" dirty="0"/>
              <a:t>?", RUL(DL)은 "</a:t>
            </a:r>
            <a:r>
              <a:rPr sz="1400" dirty="0" err="1"/>
              <a:t>얼마</a:t>
            </a:r>
            <a:r>
              <a:rPr sz="1400" dirty="0"/>
              <a:t> </a:t>
            </a:r>
            <a:r>
              <a:rPr sz="1400" dirty="0" err="1"/>
              <a:t>남았나</a:t>
            </a:r>
            <a:r>
              <a:rPr sz="1400" dirty="0"/>
              <a:t>?"를 </a:t>
            </a:r>
            <a:r>
              <a:rPr sz="1400" dirty="0" err="1"/>
              <a:t>담당</a:t>
            </a:r>
            <a:r>
              <a:rPr sz="1400" dirty="0"/>
              <a:t>.</a:t>
            </a:r>
          </a:p>
          <a:p>
            <a:endParaRPr sz="1400" dirty="0"/>
          </a:p>
          <a:p>
            <a:r>
              <a:rPr sz="1400" dirty="0"/>
              <a:t>③ LLM </a:t>
            </a:r>
            <a:r>
              <a:rPr sz="1400" dirty="0" err="1"/>
              <a:t>과제</a:t>
            </a:r>
            <a:r>
              <a:rPr sz="1400" dirty="0"/>
              <a:t>(본 </a:t>
            </a:r>
            <a:r>
              <a:rPr sz="1400" dirty="0" err="1"/>
              <a:t>프로젝트</a:t>
            </a:r>
            <a:r>
              <a:rPr sz="1400" dirty="0"/>
              <a:t>) - </a:t>
            </a:r>
            <a:r>
              <a:rPr sz="1400" dirty="0" err="1"/>
              <a:t>llmfactoryautomation.streamlit.app</a:t>
            </a:r>
            <a:r>
              <a:rPr sz="1400" dirty="0"/>
              <a:t>: RAG(FAISS </a:t>
            </a:r>
            <a:r>
              <a:rPr sz="1400" dirty="0" err="1"/>
              <a:t>수치유사도</a:t>
            </a:r>
            <a:r>
              <a:rPr sz="1400" dirty="0"/>
              <a:t> + Chroma Hybrid </a:t>
            </a:r>
            <a:r>
              <a:rPr sz="1400" dirty="0" err="1"/>
              <a:t>문서RAG</a:t>
            </a:r>
            <a:r>
              <a:rPr sz="1400" dirty="0"/>
              <a:t>)+Claude </a:t>
            </a:r>
            <a:r>
              <a:rPr sz="1400" dirty="0" err="1"/>
              <a:t>API로</a:t>
            </a:r>
            <a:r>
              <a:rPr sz="1400" dirty="0"/>
              <a:t> ML·DL </a:t>
            </a:r>
            <a:r>
              <a:rPr sz="1400" dirty="0" err="1"/>
              <a:t>결과를</a:t>
            </a:r>
            <a:r>
              <a:rPr sz="1400" dirty="0"/>
              <a:t> </a:t>
            </a:r>
            <a:r>
              <a:rPr sz="1400" dirty="0" err="1"/>
              <a:t>자연어</a:t>
            </a:r>
            <a:r>
              <a:rPr sz="1400" dirty="0"/>
              <a:t> 진단 </a:t>
            </a:r>
            <a:r>
              <a:rPr sz="1400" dirty="0" err="1"/>
              <a:t>보고서로</a:t>
            </a:r>
            <a:r>
              <a:rPr sz="1400" dirty="0"/>
              <a:t> </a:t>
            </a:r>
            <a:r>
              <a:rPr sz="1400" dirty="0" err="1"/>
              <a:t>변환</a:t>
            </a:r>
            <a:r>
              <a:rPr sz="1400" dirty="0"/>
              <a:t>. 세 </a:t>
            </a:r>
            <a:r>
              <a:rPr sz="1400" dirty="0" err="1"/>
              <a:t>앱은</a:t>
            </a:r>
            <a:r>
              <a:rPr sz="1400" dirty="0"/>
              <a:t> ML-&gt;DL-&gt;LLM </a:t>
            </a:r>
            <a:r>
              <a:rPr sz="1400" dirty="0" err="1"/>
              <a:t>순으로</a:t>
            </a:r>
            <a:r>
              <a:rPr sz="1400" dirty="0"/>
              <a:t> </a:t>
            </a:r>
            <a:r>
              <a:rPr sz="1400" dirty="0" err="1"/>
              <a:t>계층적으로</a:t>
            </a:r>
            <a:r>
              <a:rPr sz="1400" dirty="0"/>
              <a:t> </a:t>
            </a:r>
            <a:r>
              <a:rPr sz="1400" dirty="0" err="1"/>
              <a:t>확장됨</a:t>
            </a:r>
            <a:r>
              <a:rPr sz="1400" dirty="0"/>
              <a:t> (GitHub: </a:t>
            </a:r>
            <a:r>
              <a:rPr sz="1400" dirty="0" err="1"/>
              <a:t>vapsnamheo</a:t>
            </a:r>
            <a:r>
              <a:rPr sz="1400" dirty="0"/>
              <a:t>-dev/AISOURCE).</a:t>
            </a: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1339EE66-BC98-8490-B6B7-A2B011AF5F73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20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5FCD88A6-AAA3-01F9-45FD-2F19B7621A95}"/>
              </a:ext>
            </a:extLst>
          </p:cNvPr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데이터를 세 </a:t>
            </a:r>
            <a:r>
              <a:rPr lang="en-US" altLang="ko-KR" sz="125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</a:t>
            </a:r>
            <a:r>
              <a:rPr lang="en-US" altLang="ko-KR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구독 </a:t>
            </a:r>
            <a:r>
              <a:rPr lang="en-US" altLang="ko-KR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분담과 상호 연결</a:t>
            </a:r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72BC0D19-B201-104F-85B5-784A9DD70072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D3D83116-FD46-AA78-84BF-DFB58400C4B2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04483F78-6C3D-E49E-B5C4-2B770FB12F0E}"/>
              </a:ext>
            </a:extLst>
          </p:cNvPr>
          <p:cNvSpPr/>
          <p:nvPr/>
        </p:nvSpPr>
        <p:spPr>
          <a:xfrm>
            <a:off x="457200" y="384048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600" dirty="0" err="1">
                <a:solidFill>
                  <a:schemeClr val="bg1"/>
                </a:solidFill>
              </a:rPr>
              <a:t>부록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2" name="Text 46">
            <a:extLst>
              <a:ext uri="{FF2B5EF4-FFF2-40B4-BE49-F238E27FC236}">
                <a16:creationId xmlns:a16="http://schemas.microsoft.com/office/drawing/2014/main" id="{4500A771-4B3F-0DB7-7AF0-E1BA3670D764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t>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C. 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LM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프로젝트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-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검토했으나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미채택한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방안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및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산출물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</a:t>
            </a:r>
          </a:p>
          <a:p>
            <a:r>
              <a:t>Proposal A(채택)는 구현 난이도가 낮고 즉시 현장 적용 가능해 우선 구현했다. B/C는 데이터/인프라가 갖춰지면 재검토 대상이며, 실제 실행 가능한 파이프라인은 산출물/LLM프로젝트 노트북에서 확인할 수 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649296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9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5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Proposal B (미채택)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LLM이 이상 패턴을 직접 학습 - 난이도 높음, 학습 데이터/검증 비용 과다로 보류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Proposal C (미채택)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멀티모달 센서+문서 RAG 결합 - 난이도 중간이나 현재 데이터로는 이득 대비 복잡도 부담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재검토 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데이터 규모 확대, 설비 관계망 데이터 확보 시 GraphRAG(4순위)와 함께 재검토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소스 산출물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산출물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LLM프로젝트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허남_LLM프로젝트.ipynb</a:t>
                      </a:r>
                      <a:r>
                        <a:rPr dirty="0"/>
                        <a:t>, .</a:t>
                      </a:r>
                      <a:r>
                        <a:rPr dirty="0" err="1"/>
                        <a:t>py</a:t>
                      </a:r>
                      <a:r>
                        <a:rPr dirty="0"/>
                        <a:t> - ML-&gt;DL-&gt;RAG(Level1+Hybrid)-&gt;LLM </a:t>
                      </a:r>
                      <a:r>
                        <a:rPr dirty="0" err="1"/>
                        <a:t>전체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파이프라인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실행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가능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노트북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CBD20133-5AE8-A9D4-D274-C9F67A259EAC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/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t>부록</a:t>
            </a:r>
          </a:p>
        </p:txBody>
      </p:sp>
      <p:sp>
        <p:nvSpPr>
          <p:cNvPr id="402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D. 환각(Hallucination) 방어 3층 게이트 (신규, v0.7)</a:t>
            </a:r>
            <a:endParaRPr dirty="0"/>
          </a:p>
        </p:txBody>
      </p:sp>
      <p:cxnSp>
        <p:nvCxnSpPr>
          <p:cNvPr id="403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04" name="Table 8"/>
          <p:cNvGraphicFramePr>
            <a:graphicFrameLocks noGrp="1"/>
          </p:cNvGraphicFramePr>
          <p:nvPr/>
        </p:nvGraphicFramePr>
        <p:xfrm>
          <a:off x="457200" y="1371600"/>
          <a:ext cx="11274552" cy="2258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t>게이트</a:t>
                      </a:r>
                    </a:p>
                  </a:txBody>
                  <a:tcPr marL="101600" marR="76200" marT="38100" marB="381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내용</a:t>
                      </a:r>
                    </a:p>
                  </a:txBody>
                  <a:tcPr marL="101600" marR="76200" marT="38100" marB="381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통과 시 / 이탈 시</a:t>
                      </a:r>
                    </a:p>
                  </a:txBody>
                  <a:tcPr marL="101600" marR="76200" marT="38100" marB="38100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/>
                      <a:r>
                        <a:t>① 신뢰도 톤 분기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prob 구간별 어투 강도 조절 (confidence_tone)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고확신 → 단정 / 애매 → 확인 권유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/>
                      <a:r>
                        <a:t>② 입력 게이트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센서값 물리적 OOD 판정 (check_input_gate)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정상 → 처리 / 과실·비정상 → 차단·재측정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/>
                      <a:r>
                        <a:t>③ 클래스 한정성 자기인지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아는 범위 4종 고정 (정상·주의·위험·판단불가)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범위 내 → 판단 / 범위 밖 → 진단 보류(판단불가)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5" name="Rounded Rectangle 5"/>
          <p:cNvSpPr/>
          <p:nvPr/>
        </p:nvSpPr>
        <p:spPr>
          <a:xfrm>
            <a:off x="457200" y="3930168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모를 땐 '모른다'고 답한다 — 통과는 정직한 처방, 이탈은 차단·보류로 처리해 환각(hallucination)을 구조적으로 차단한다. 근거 구조 감사: format=JSON 스키마 + 검증 재시도 + 근거출처 코드 주입 — 스키마 위반 시 1회 재시도, 그래도 실패하면 추측 대신 판단불가로 폴백. (src/femto_llm_guard.py 신규, tests/test_femto_llm_guard.py 11건 pytest 통과)</a:t>
            </a:r>
          </a:p>
          <a:p>
            <a:endParaRPr/>
          </a:p>
        </p:txBody>
      </p:sp>
      <p:sp>
        <p:nvSpPr>
          <p:cNvPr id="406" name="Text 46">
            <a:extLst>
              <a:ext uri="{FF2B5EF4-FFF2-40B4-BE49-F238E27FC236}">
                <a16:creationId xmlns:a16="http://schemas.microsoft.com/office/drawing/2014/main" id="{CBD20133-5AE8-A9D4-D274-C9F67A259EAC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/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t>부록</a:t>
            </a:r>
          </a:p>
        </p:txBody>
      </p:sp>
      <p:sp>
        <p:nvSpPr>
          <p:cNvPr id="412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E. RAG 출처근거(Citation) 표기 (개선, v0.7)</a:t>
            </a:r>
            <a:endParaRPr dirty="0"/>
          </a:p>
        </p:txBody>
      </p:sp>
      <p:cxnSp>
        <p:nvCxnSpPr>
          <p:cNvPr id="413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14" name="Table 8"/>
          <p:cNvGraphicFramePr>
            <a:graphicFrameLocks noGrp="1"/>
          </p:cNvGraphicFramePr>
          <p:nvPr/>
        </p:nvGraphicFramePr>
        <p:xfrm>
          <a:off x="457200" y="1371600"/>
          <a:ext cx="11274552" cy="2258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t>항목</a:t>
                      </a:r>
                    </a:p>
                  </a:txBody>
                  <a:tcPr marL="101600" marR="76200" marT="38100" marB="381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내용</a:t>
                      </a:r>
                    </a:p>
                  </a:txBody>
                  <a:tcPr marL="101600" marR="76200" marT="38100" marB="3810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비고</a:t>
                      </a:r>
                    </a:p>
                  </a:txBody>
                  <a:tcPr marL="101600" marR="76200" marT="38100" marB="38100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/>
                      <a:r>
                        <a:t>출처 태그 형식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[출처: 파일명 § N.절제목 · 개정 YYYY-MM-DD]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bearing_maintenance_guide.txt 상단 개정일 프론트매터에서 추출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/>
                      <a:r>
                        <a:t>적용 범위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retrieve_docs() · ask() · BM25+벡터 Hybrid 양쪽 경로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기존엔 BM25 경로에서 출처 메타데이터 소실 — 수정함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algn="l"/>
                      <a:r>
                        <a:t>검증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pytest 5건 통과 + 로컬 Chroma 인덱스 재빌드 실제 호출 확인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tests/test_femto_doc_rag_citations.py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15" name="Rounded Rectangle 5"/>
          <p:cNvSpPr/>
          <p:nvPr/>
        </p:nvSpPr>
        <p:spPr>
          <a:xfrm>
            <a:off x="457200" y="3930168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문서 근거를 "파일명 § 절 번호·제목 · 개정일" 형식으로 태깅해, LLM 답변이 어느 문서의 어느 부분을 인용했는지 사람이 바로 확인 가능. 신문기사의 "OO신문 며칠자" 인용과 동일한 역할 — 근거 문서가 늘어나도 동일한 메타데이터 패턴 그대로 적용 가능. (src/femto_doc_rag.py 개선, tests/test_femto_doc_rag_citations.py 5건 pytest 통과)</a:t>
            </a:r>
          </a:p>
          <a:p>
            <a:endParaRPr/>
          </a:p>
        </p:txBody>
      </p:sp>
      <p:sp>
        <p:nvSpPr>
          <p:cNvPr id="416" name="Text 46">
            <a:extLst>
              <a:ext uri="{FF2B5EF4-FFF2-40B4-BE49-F238E27FC236}">
                <a16:creationId xmlns:a16="http://schemas.microsoft.com/office/drawing/2014/main" id="{CBD20133-5AE8-A9D4-D274-C9F67A259EAC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/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1434</TotalTime>
  <Words>3048</Words>
  <Application>Microsoft Office PowerPoint</Application>
  <PresentationFormat>와이드스크린</PresentationFormat>
  <Paragraphs>406</Paragraphs>
  <Slides>18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FEMTO-ST 베어링 RUL 예측 — ML+DL 통합 예지보전</dc:title>
  <dc:subject>PptxGenJS Presentation</dc:subject>
  <dc:creator>허남</dc:creator>
  <cp:lastModifiedBy>남 허</cp:lastModifiedBy>
  <cp:revision>55</cp:revision>
  <dcterms:created xsi:type="dcterms:W3CDTF">2026-06-30T01:06:45Z</dcterms:created>
  <dcterms:modified xsi:type="dcterms:W3CDTF">2026-07-07T14:53:25Z</dcterms:modified>
</cp:coreProperties>
</file>