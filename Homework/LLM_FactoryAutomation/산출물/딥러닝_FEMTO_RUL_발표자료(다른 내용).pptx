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371600"/>
            <a:ext cx="100584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맑은 고딕"/>
              </a:rPr>
              <a:t>AI 기반 베어링 잔여수명(RUL)
예측 모델 개발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3832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BDD7EE"/>
                </a:solidFill>
                <a:latin typeface="맑은 고딕"/>
              </a:rPr>
              <a:t>FEMTO-ST PRONOSTIA IEEE PHM 2012  |  GRU v2 + BN+LN  |  Streamlit 대시보드</a:t>
            </a:r>
          </a:p>
        </p:txBody>
      </p:sp>
      <p:sp>
        <p:nvSpPr>
          <p:cNvPr id="7" name="Rectangle 6"/>
          <p:cNvSpPr/>
          <p:nvPr/>
        </p:nvSpPr>
        <p:spPr>
          <a:xfrm>
            <a:off x="1828800" y="4114800"/>
            <a:ext cx="8531352" cy="36576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42976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BDD7EE"/>
                </a:solidFill>
                <a:latin typeface="맑은 고딕"/>
              </a:rPr>
              <a:t>딥러닝 프로젝트  |  허남  |  2026. 06. 29.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54864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맑은 고딕"/>
              </a:rPr>
              <a:t>목  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21792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BDD7EE"/>
                </a:solidFill>
                <a:latin typeface="맑은 고딕"/>
              </a:rPr>
              <a:t>Table of Contents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05156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F4E79"/>
                </a:solidFill>
                <a:latin typeface="맑은 고딕"/>
              </a:rPr>
              <a:t>Ⅰ. AI 개발 수행내용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맑은 고딕"/>
              </a:rPr>
              <a:t>1. 개요 및 현황 (추진배경 / 과제범위 / 추진방법)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96596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F4E79"/>
                </a:solidFill>
                <a:latin typeface="맑은 고딕"/>
              </a:rPr>
              <a:t>Ⅱ. 연구개발 주요 결과물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2468880"/>
            <a:ext cx="11430000" cy="2743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31520" y="2606040"/>
            <a:ext cx="5394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맑은 고딕"/>
              </a:rPr>
              <a:t>1. 데이터 수집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606040"/>
            <a:ext cx="5394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맑은 고딕"/>
              </a:rPr>
              <a:t>2. 탐색적 데이터 분석 (EDA)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291840"/>
            <a:ext cx="5394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맑은 고딕"/>
              </a:rPr>
              <a:t>3. 데이터 전처리 및 피처 엔지니어링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3291840"/>
            <a:ext cx="5394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맑은 고딕"/>
              </a:rPr>
              <a:t>4. 학습 및 모델 평가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977639"/>
            <a:ext cx="5394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맑은 고딕"/>
              </a:rPr>
              <a:t>5. Streamlit 웹 애플리케이션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3977639"/>
            <a:ext cx="5394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맑은 고딕"/>
              </a:rPr>
              <a:t>6. 결과 요약 및 향후 방향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4709160"/>
            <a:ext cx="11430000" cy="2743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65760" y="48006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F4E79"/>
                </a:solidFill>
                <a:latin typeface="맑은 고딕"/>
              </a:rPr>
              <a:t>부록 A. 성능 개선 실험 (Performance Improvement)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48006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F4E79"/>
                </a:solidFill>
                <a:latin typeface="맑은 고딕"/>
              </a:rPr>
              <a:t>부록 B. 데이터 프로파일링 리포트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54864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맑은 고딕"/>
              </a:rPr>
              <a:t>I-1. 개요 및 현황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21792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BDD7EE"/>
                </a:solidFill>
                <a:latin typeface="맑은 고딕"/>
              </a:rPr>
              <a:t>추진배경 / 과제범위 / 추진방법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051560"/>
            <a:ext cx="5394960" cy="5303520"/>
          </a:xfrm>
          <a:prstGeom prst="rect">
            <a:avLst/>
          </a:prstGeom>
          <a:solidFill>
            <a:srgbClr val="D6E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65760" y="109728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F4E79"/>
                </a:solidFill>
                <a:latin typeface="맑은 고딕"/>
              </a:rPr>
              <a:t>문제 정의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554480"/>
            <a:ext cx="51206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>
                <a:solidFill>
                  <a:srgbClr val="1A1A1A"/>
                </a:solidFill>
                <a:latin typeface="맑은 고딕"/>
              </a:rPr>
              <a:t>• 산업용 베어링 예상치 못한 파손 → 생산 라인 전체 정지</a:t>
            </a:r>
          </a:p>
          <a:p>
            <a:pPr algn="l"/>
            <a:r>
              <a:rPr sz="1400">
                <a:solidFill>
                  <a:srgbClr val="1A1A1A"/>
                </a:solidFill>
                <a:latin typeface="맑은 고딕"/>
              </a:rPr>
              <a:t>• 정기 점검(PM) 방식: 실제 열화 상태 미반영</a:t>
            </a:r>
          </a:p>
          <a:p>
            <a:pPr algn="l"/>
            <a:r>
              <a:rPr sz="1400">
                <a:solidFill>
                  <a:srgbClr val="1A1A1A"/>
                </a:solidFill>
                <a:latin typeface="맑은 고딕"/>
              </a:rPr>
              <a:t>• 과잉/과소 점검 반복 → 비용 낭비 또는 사고 위험</a:t>
            </a:r>
          </a:p>
          <a:p>
            <a:pPr algn="l"/>
            <a:r>
              <a:rPr sz="1400">
                <a:solidFill>
                  <a:srgbClr val="1A1A1A"/>
                </a:solidFill>
                <a:latin typeface="맑은 고딕"/>
              </a:rPr>
              <a:t>• RUL 정량 예측 없이 최적 교체 시점 결정 불가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0" y="1051560"/>
            <a:ext cx="5943600" cy="5303520"/>
          </a:xfrm>
          <a:prstGeom prst="rect">
            <a:avLst/>
          </a:prstGeom>
          <a:solidFill>
            <a:srgbClr val="D6E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035040" y="1097280"/>
            <a:ext cx="5669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F4E79"/>
                </a:solidFill>
                <a:latin typeface="맑은 고딕"/>
              </a:rPr>
              <a:t>과제 목표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35040" y="1554480"/>
            <a:ext cx="56692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>
                <a:solidFill>
                  <a:srgbClr val="1A1A1A"/>
                </a:solidFill>
                <a:latin typeface="맑은 고딕"/>
              </a:rPr>
              <a:t>• 딥러닝(GRU)으로 베어링 RUL 정량 예측</a:t>
            </a:r>
          </a:p>
          <a:p>
            <a:pPr algn="l"/>
            <a:r>
              <a:rPr sz="1400">
                <a:solidFill>
                  <a:srgbClr val="1A1A1A"/>
                </a:solidFill>
                <a:latin typeface="맑은 고딕"/>
              </a:rPr>
              <a:t>• RF 베이스라인 대비 10% 이상 RMSE 개선</a:t>
            </a:r>
          </a:p>
          <a:p>
            <a:pPr algn="l"/>
            <a:r>
              <a:rPr sz="1400">
                <a:solidFill>
                  <a:srgbClr val="1A1A1A"/>
                </a:solidFill>
                <a:latin typeface="맑은 고딕"/>
              </a:rPr>
              <a:t>• 현장 담당자용 Streamlit 웹 대시보드 구축</a:t>
            </a:r>
          </a:p>
          <a:p>
            <a:pPr algn="l"/>
            <a:r>
              <a:rPr sz="1400">
                <a:solidFill>
                  <a:srgbClr val="1A1A1A"/>
                </a:solidFill>
                <a:latin typeface="맑은 고딕"/>
              </a:rPr>
              <a:t>• 미관측 베어링(OOS) 일반화 성능 검증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5623560"/>
            <a:ext cx="11612880" cy="82296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65760" y="566928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맑은 고딕"/>
              </a:rPr>
              <a:t>최종 달성:  GRU v2  OOS RMSE 810.38분  |  RF 대비 15.08% 개선  |  Streamlit Cloud 배포 완료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54864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맑은 고딕"/>
              </a:rPr>
              <a:t>II-1. 데이터 수집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21792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BDD7EE"/>
                </a:solidFill>
                <a:latin typeface="맑은 고딕"/>
              </a:rPr>
              <a:t>FEMTO-ST PRONOSTIA IEEE PHM 2012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051560"/>
          <a:ext cx="11430000" cy="33876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15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15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70262">
                <a:tc>
                  <a:txBody>
                    <a:bodyPr/>
                    <a:lstStyle/>
                    <a:p>
                      <a:r>
                        <a:t>항목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내용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0262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1A1A1A"/>
                          </a:solidFill>
                          <a:latin typeface="맑은 고딕"/>
                        </a:rPr>
                        <a:t>데이터셋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A1A1A"/>
                          </a:solidFill>
                          <a:latin typeface="맑은 고딕"/>
                        </a:rPr>
                        <a:t>FEMTO-ST PRONOSTIA Bearing Dataset (IEEE PHM 2012 Challenge)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0262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1A1A1A"/>
                          </a:solidFill>
                          <a:latin typeface="맑은 고딕"/>
                        </a:rPr>
                        <a:t>베어링 수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A1A1A"/>
                          </a:solidFill>
                          <a:latin typeface="맑은 고딕"/>
                        </a:rPr>
                        <a:t>17개 (Learning_set 6개 + Full_Test_Set 11개)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0262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1A1A1A"/>
                          </a:solidFill>
                          <a:latin typeface="맑은 고딕"/>
                        </a:rPr>
                        <a:t>운전 조건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A1A1A"/>
                          </a:solidFill>
                          <a:latin typeface="맑은 고딕"/>
                        </a:rPr>
                        <a:t>Cond.1: 1800rpm/4kN  |  Cond.2: 1650rpm/4.2kN  |  Cond.3: 1500rpm/5kN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0262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1A1A1A"/>
                          </a:solidFill>
                          <a:latin typeface="맑은 고딕"/>
                        </a:rPr>
                        <a:t>측정 간격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A1A1A"/>
                          </a:solidFill>
                          <a:latin typeface="맑은 고딕"/>
                        </a:rPr>
                        <a:t>1분 간격 스냅샷, acc CSV 25,600 샘플 / temp CSV 각 1행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0262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1A1A1A"/>
                          </a:solidFill>
                          <a:latin typeface="맑은 고딕"/>
                        </a:rPr>
                        <a:t>원본 피처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A1A1A"/>
                          </a:solidFill>
                          <a:latin typeface="맑은 고딕"/>
                        </a:rPr>
                        <a:t>h/v RMS · Kurtosis · Skewness · CrestFactor (각 4개) + 온도 = 9개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0268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1A1A1A"/>
                          </a:solidFill>
                          <a:latin typeface="맑은 고딕"/>
                        </a:rPr>
                        <a:t>파생 피처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A1A1A"/>
                          </a:solidFill>
                          <a:latin typeface="맑은 고딕"/>
                        </a:rPr>
                        <a:t>energy=h²+v²  |  health_idx=h_rms×h_kurt  |  rms_ratio=h/v  →  3개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914400" y="4572000"/>
            <a:ext cx="3200400" cy="128016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05840" y="4617720"/>
            <a:ext cx="3017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BDD7EE"/>
                </a:solidFill>
                <a:latin typeface="맑은 고딕"/>
              </a:rPr>
              <a:t>총 피처 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5029200"/>
            <a:ext cx="3017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맑은 고딕"/>
              </a:rPr>
              <a:t>12개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0" y="4572000"/>
            <a:ext cx="4114800" cy="128016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663440" y="4617720"/>
            <a:ext cx="3931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BDD7EE"/>
                </a:solidFill>
                <a:latin typeface="맑은 고딕"/>
              </a:rPr>
              <a:t>RUL 라벨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5029200"/>
            <a:ext cx="3931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맑은 고딕"/>
              </a:rPr>
              <a:t>total - minute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144000" y="4572000"/>
            <a:ext cx="2743200" cy="128016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235440" y="4617720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BDD7EE"/>
                </a:solidFill>
                <a:latin typeface="맑은 고딕"/>
              </a:rPr>
              <a:t>열화 임계값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35440" y="5029200"/>
            <a:ext cx="2560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맑은 고딕"/>
              </a:rPr>
              <a:t>init×2.5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54864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맑은 고딕"/>
              </a:rPr>
              <a:t>II-2. 탐색적 데이터 분석 (EDA)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21792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BDD7EE"/>
                </a:solidFill>
                <a:latin typeface="맑은 고딕"/>
              </a:rPr>
              <a:t>Feature Analysis &amp; VIF Selection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051560"/>
          <a:ext cx="1143000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57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57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57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575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87680">
                <a:tc>
                  <a:txBody>
                    <a:bodyPr/>
                    <a:lstStyle/>
                    <a:p>
                      <a:r>
                        <a:t>피처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초기 (정상)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말기 (열화)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기여도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1A1A1A"/>
                          </a:solidFill>
                          <a:latin typeface="맑은 고딕"/>
                        </a:rPr>
                        <a:t>h_rms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A1A1A"/>
                          </a:solidFill>
                          <a:latin typeface="맑은 고딕"/>
                        </a:rPr>
                        <a:t>0.02~0.05g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A1A1A"/>
                          </a:solidFill>
                          <a:latin typeface="맑은 고딕"/>
                        </a:rPr>
                        <a:t>0.1~3.0g 급증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A1A1A"/>
                          </a:solidFill>
                          <a:latin typeface="맑은 고딕"/>
                        </a:rPr>
                        <a:t>★★★★ 핵심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1A1A1A"/>
                          </a:solidFill>
                          <a:latin typeface="맑은 고딕"/>
                        </a:rPr>
                        <a:t>h_kurt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A1A1A"/>
                          </a:solidFill>
                          <a:latin typeface="맑은 고딕"/>
                        </a:rPr>
                        <a:t>3.0~4.0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A1A1A"/>
                          </a:solidFill>
                          <a:latin typeface="맑은 고딕"/>
                        </a:rPr>
                        <a:t>5.0 이상 급등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A1A1A"/>
                          </a:solidFill>
                          <a:latin typeface="맑은 고딕"/>
                        </a:rPr>
                        <a:t>★★★★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1A1A1A"/>
                          </a:solidFill>
                          <a:latin typeface="맑은 고딕"/>
                        </a:rPr>
                        <a:t>health_idx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A1A1A"/>
                          </a:solidFill>
                          <a:latin typeface="맑은 고딕"/>
                        </a:rPr>
                        <a:t>낮음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A1A1A"/>
                          </a:solidFill>
                          <a:latin typeface="맑은 고딕"/>
                        </a:rPr>
                        <a:t>급격 증가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A1A1A"/>
                          </a:solidFill>
                          <a:latin typeface="맑은 고딕"/>
                        </a:rPr>
                        <a:t>★★★★ 파생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1A1A1A"/>
                          </a:solidFill>
                          <a:latin typeface="맑은 고딕"/>
                        </a:rPr>
                        <a:t>energy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A1A1A"/>
                          </a:solidFill>
                          <a:latin typeface="맑은 고딕"/>
                        </a:rPr>
                        <a:t>낮음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A1A1A"/>
                          </a:solidFill>
                          <a:latin typeface="맑은 고딕"/>
                        </a:rPr>
                        <a:t>급격 증가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A1A1A"/>
                          </a:solidFill>
                          <a:latin typeface="맑은 고딕"/>
                        </a:rPr>
                        <a:t>★★★☆ 파생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1A1A1A"/>
                          </a:solidFill>
                          <a:latin typeface="맑은 고딕"/>
                        </a:rPr>
                        <a:t>temp_mean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A1A1A"/>
                          </a:solidFill>
                          <a:latin typeface="맑은 고딕"/>
                        </a:rPr>
                        <a:t>25~30°C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A1A1A"/>
                          </a:solidFill>
                          <a:latin typeface="맑은 고딕"/>
                        </a:rPr>
                        <a:t>30~60°C 완만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A1A1A"/>
                          </a:solidFill>
                          <a:latin typeface="맑은 고딕"/>
                        </a:rPr>
                        <a:t>★★☆☆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274320" y="4114800"/>
            <a:ext cx="5486400" cy="2377440"/>
          </a:xfrm>
          <a:prstGeom prst="rect">
            <a:avLst/>
          </a:prstGeom>
          <a:solidFill>
            <a:srgbClr val="D6E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65760" y="416052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F4E79"/>
                </a:solidFill>
                <a:latin typeface="맑은 고딕"/>
              </a:rPr>
              <a:t>VIF 분석 결과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4572000"/>
            <a:ext cx="52120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>
                <a:solidFill>
                  <a:srgbClr val="1A1A1A"/>
                </a:solidFill>
                <a:latin typeface="맑은 고딕"/>
              </a:rPr>
              <a:t>• VIF 기준: &lt; 10 (다중공선성 제거)</a:t>
            </a:r>
          </a:p>
          <a:p>
            <a:pPr algn="l"/>
            <a:r>
              <a:rPr sz="1300">
                <a:solidFill>
                  <a:srgbClr val="1A1A1A"/>
                </a:solidFill>
                <a:latin typeface="맑은 고딕"/>
              </a:rPr>
              <a:t>• 결과: 12개 전체 피처 VIF &lt; 10 → 모두 선택</a:t>
            </a:r>
          </a:p>
          <a:p>
            <a:pPr algn="l"/>
            <a:r>
              <a:rPr sz="1300">
                <a:solidFill>
                  <a:srgbClr val="1A1A1A"/>
                </a:solidFill>
                <a:latin typeface="맑은 고딕"/>
              </a:rPr>
              <a:t>• 최대 VIF: energy ≈ 8.5 (파생 피처 중 가장 높음)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0" y="4114800"/>
            <a:ext cx="5760720" cy="2377440"/>
          </a:xfrm>
          <a:prstGeom prst="rect">
            <a:avLst/>
          </a:prstGeom>
          <a:solidFill>
            <a:srgbClr val="D6E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035040" y="41605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F4E79"/>
                </a:solidFill>
                <a:latin typeface="맑은 고딕"/>
              </a:rPr>
              <a:t>RUL 분포 특성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35040" y="4572000"/>
            <a:ext cx="54864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>
                <a:solidFill>
                  <a:srgbClr val="1A1A1A"/>
                </a:solidFill>
                <a:latin typeface="맑은 고딕"/>
              </a:rPr>
              <a:t>• 베어링 수명: 28분 ~ 2,832분 (100배 차이)</a:t>
            </a:r>
          </a:p>
          <a:p>
            <a:pPr algn="l"/>
            <a:r>
              <a:rPr sz="1300">
                <a:solidFill>
                  <a:srgbClr val="1A1A1A"/>
                </a:solidFill>
                <a:latin typeface="맑은 고딕"/>
              </a:rPr>
              <a:t>• 분포: 오른쪽 편향 (대부분 단수명)</a:t>
            </a:r>
          </a:p>
          <a:p>
            <a:pPr algn="l"/>
            <a:r>
              <a:rPr sz="1300">
                <a:solidFill>
                  <a:srgbClr val="1A1A1A"/>
                </a:solidFill>
                <a:latin typeface="맑은 고딕"/>
              </a:rPr>
              <a:t>• 베어링간 편차 크므로 GroupKFold 필수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54864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맑은 고딕"/>
              </a:rPr>
              <a:t>II-3. 데이터 전처리 및 피처 엔지니어링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21792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BDD7EE"/>
                </a:solidFill>
                <a:latin typeface="맑은 고딕"/>
              </a:rPr>
              <a:t>Preprocessing Pipeline &amp; GroupKFold Split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051560"/>
            <a:ext cx="64008" cy="521208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097280"/>
            <a:ext cx="5394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F4E79"/>
                </a:solidFill>
                <a:latin typeface="맑은 고딕"/>
              </a:rPr>
              <a:t>전처리 파이프라인 (5단계)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600200"/>
            <a:ext cx="2194560" cy="74980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1645920"/>
            <a:ext cx="21031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맑은 고딕"/>
              </a:rPr>
              <a:t>① 온도 결측 처리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34640" y="1691640"/>
            <a:ext cx="2834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맑은 고딕"/>
              </a:rPr>
              <a:t>선형 보간 → bfill/ffill → 중앙값 채움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496312"/>
            <a:ext cx="2194560" cy="74980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02920" y="2542032"/>
            <a:ext cx="21031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맑은 고딕"/>
              </a:rPr>
              <a:t>② 파생 피처 생성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34640" y="2587752"/>
            <a:ext cx="2834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맑은 고딕"/>
              </a:rPr>
              <a:t>energy=h²+v², health_idx=h_rms×h_kurt, rms_ratio=h/v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392424"/>
            <a:ext cx="2194560" cy="74980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02920" y="3438144"/>
            <a:ext cx="21031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맑은 고딕"/>
              </a:rPr>
              <a:t>③ VIF 분석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34640" y="3483864"/>
            <a:ext cx="2834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맑은 고딕"/>
              </a:rPr>
              <a:t>VIF&lt;10 기준 → 12개 전체 선택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4288536"/>
            <a:ext cx="2194560" cy="74980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02920" y="4334256"/>
            <a:ext cx="21031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맑은 고딕"/>
              </a:rPr>
              <a:t>④ 슬라이딩 윈도우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34640" y="4379976"/>
            <a:ext cx="2834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맑은 고딕"/>
              </a:rPr>
              <a:t>window=20분, stride=1 → X:(N,20,12), y:(N,)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5184648"/>
            <a:ext cx="2194560" cy="74980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02920" y="5230368"/>
            <a:ext cx="21031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맑은 고딕"/>
              </a:rPr>
              <a:t>⑤ 독립 MinMaxScaler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834640" y="5276088"/>
            <a:ext cx="2834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맑은 고딕"/>
              </a:rPr>
              <a:t>X용 seq_scaler + y용 y_scaler (누수 방지)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989320" y="1051560"/>
            <a:ext cx="36576" cy="521208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126480" y="1097280"/>
            <a:ext cx="5669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F4E79"/>
                </a:solidFill>
                <a:latin typeface="맑은 고딕"/>
              </a:rPr>
              <a:t>데이터 분할 전략 (GroupKFold)</a:t>
            </a:r>
          </a:p>
        </p:txBody>
      </p:sp>
      <p:graphicFrame>
        <p:nvGraphicFramePr>
          <p:cNvPr id="25" name="Table 24"/>
          <p:cNvGraphicFramePr>
            <a:graphicFrameLocks noGrp="1"/>
          </p:cNvGraphicFramePr>
          <p:nvPr/>
        </p:nvGraphicFramePr>
        <p:xfrm>
          <a:off x="6126480" y="1554480"/>
          <a:ext cx="566928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89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89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897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r>
                        <a:t>용도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베어링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역할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1A1A1A"/>
                          </a:solidFill>
                          <a:latin typeface="맑은 고딕"/>
                        </a:rPr>
                        <a:t>훈련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A1A1A"/>
                          </a:solidFill>
                          <a:latin typeface="맑은 고딕"/>
                        </a:rPr>
                        <a:t>1_1 / 2_1 / 3_1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A1A1A"/>
                          </a:solidFill>
                          <a:latin typeface="맑은 고딕"/>
                        </a:rPr>
                        <a:t>GroupKFold 학습·검증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1A1A1A"/>
                          </a:solidFill>
                          <a:latin typeface="맑은 고딕"/>
                        </a:rPr>
                        <a:t>데모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A1A1A"/>
                          </a:solidFill>
                          <a:latin typeface="맑은 고딕"/>
                        </a:rPr>
                        <a:t>1_2 / 2_2 / 3_2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A1A1A"/>
                          </a:solidFill>
                          <a:latin typeface="맑은 고딕"/>
                        </a:rPr>
                        <a:t>Streamlit 시연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1A1A1A"/>
                          </a:solidFill>
                          <a:latin typeface="맑은 고딕"/>
                        </a:rPr>
                        <a:t>테스트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A1A1A"/>
                          </a:solidFill>
                          <a:latin typeface="맑은 고딕"/>
                        </a:rPr>
                        <a:t>1_3~7 / 2_3~7 / 3_3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A1A1A"/>
                          </a:solidFill>
                          <a:latin typeface="맑은 고딕"/>
                        </a:rPr>
                        <a:t>OOS 최종 평가 (11개)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6" name="Rectangle 25"/>
          <p:cNvSpPr/>
          <p:nvPr/>
        </p:nvSpPr>
        <p:spPr>
          <a:xfrm>
            <a:off x="274320" y="5577840"/>
            <a:ext cx="11612880" cy="868680"/>
          </a:xfrm>
          <a:prstGeom prst="rect">
            <a:avLst/>
          </a:prstGeom>
          <a:solidFill>
            <a:srgbClr val="D6E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65760" y="5623560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F4E79"/>
                </a:solidFill>
                <a:latin typeface="맑은 고딕"/>
              </a:rPr>
              <a:t>GroupKFold — 베어링 단위 완전 분리 → 시계열 데이터 누수 완전 차단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54864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맑은 고딕"/>
              </a:rPr>
              <a:t>II-4. 학습 및 모델 평가 ① RF 베이스라인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21792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BDD7EE"/>
                </a:solidFill>
                <a:latin typeface="맑은 고딕"/>
              </a:rPr>
              <a:t>RandomForest Baseline (RUL Regression)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09728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F4E79"/>
                </a:solidFill>
                <a:latin typeface="맑은 고딕"/>
              </a:rPr>
              <a:t>설정: 마지막 타임스텝의 12개 피처(X[:, -1, :]) 사용 — 시계열 구조 미활용</a:t>
            </a:r>
          </a:p>
        </p:txBody>
      </p:sp>
      <p:sp>
        <p:nvSpPr>
          <p:cNvPr id="7" name="Rectangle 6"/>
          <p:cNvSpPr/>
          <p:nvPr/>
        </p:nvSpPr>
        <p:spPr>
          <a:xfrm>
            <a:off x="1371600" y="1828800"/>
            <a:ext cx="4114800" cy="155448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463040" y="1874520"/>
            <a:ext cx="3931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BDD7EE"/>
                </a:solidFill>
                <a:latin typeface="맑은 고딕"/>
              </a:rPr>
              <a:t>RF OOS RMSE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2286000"/>
            <a:ext cx="3931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맑은 고딕"/>
              </a:rPr>
              <a:t>954.52분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0" y="1828800"/>
            <a:ext cx="4114800" cy="155448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675120" y="1874520"/>
            <a:ext cx="3931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BDD7EE"/>
                </a:solidFill>
                <a:latin typeface="맑은 고딕"/>
              </a:rPr>
              <a:t>RF OOS MAE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0" y="2286000"/>
            <a:ext cx="3931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맑은 고딕"/>
              </a:rPr>
              <a:t>757.71분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365760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F4E79"/>
                </a:solidFill>
                <a:latin typeface="맑은 고딕"/>
              </a:rPr>
              <a:t>DL 최종 모델(GRU v2) 대비 개선 효과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365760" y="4114800"/>
          <a:ext cx="1143000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57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57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57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575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38912">
                <a:tc>
                  <a:txBody>
                    <a:bodyPr/>
                    <a:lstStyle/>
                    <a:p>
                      <a:r>
                        <a:t>모델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OOS RMSE (분)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OOS MAE (분)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RF 대비 개선율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1A1A1A"/>
                          </a:solidFill>
                          <a:latin typeface="맑은 고딕"/>
                        </a:rPr>
                        <a:t>RF 베이스라인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A1A1A"/>
                          </a:solidFill>
                          <a:latin typeface="맑은 고딕"/>
                        </a:rPr>
                        <a:t>954.52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A1A1A"/>
                          </a:solidFill>
                          <a:latin typeface="맑은 고딕"/>
                        </a:rPr>
                        <a:t>757.71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A1A1A"/>
                          </a:solidFill>
                          <a:latin typeface="맑은 고딕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1A1A1A"/>
                          </a:solidFill>
                          <a:latin typeface="맑은 고딕"/>
                        </a:rPr>
                        <a:t>LSTM 초기 모델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A1A1A"/>
                          </a:solidFill>
                          <a:latin typeface="맑은 고딕"/>
                        </a:rPr>
                        <a:t>934.01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A1A1A"/>
                          </a:solidFill>
                          <a:latin typeface="맑은 고딕"/>
                        </a:rPr>
                        <a:t>767.09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A1A1A"/>
                          </a:solidFill>
                          <a:latin typeface="맑은 고딕"/>
                        </a:rPr>
                        <a:t>▼ 2.15%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1A1A1A"/>
                          </a:solidFill>
                          <a:latin typeface="맑은 고딕"/>
                        </a:rPr>
                        <a:t>GRU 아키텍처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A1A1A"/>
                          </a:solidFill>
                          <a:latin typeface="맑은 고딕"/>
                        </a:rPr>
                        <a:t>909.96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A1A1A"/>
                          </a:solidFill>
                          <a:latin typeface="맑은 고딕"/>
                        </a:rPr>
                        <a:t>741.50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A1A1A"/>
                          </a:solidFill>
                          <a:latin typeface="맑은 고딕"/>
                        </a:rPr>
                        <a:t>▼ 4.67%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1A1A1A"/>
                          </a:solidFill>
                          <a:latin typeface="맑은 고딕"/>
                        </a:rPr>
                        <a:t>GRU v2 최종 ★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A1A1A"/>
                          </a:solidFill>
                          <a:latin typeface="맑은 고딕"/>
                        </a:rPr>
                        <a:t>810.38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A1A1A"/>
                          </a:solidFill>
                          <a:latin typeface="맑은 고딕"/>
                        </a:rPr>
                        <a:t>665.63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A1A1A"/>
                          </a:solidFill>
                          <a:latin typeface="맑은 고딕"/>
                        </a:rPr>
                        <a:t>▼ 15.08%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54864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맑은 고딕"/>
              </a:rPr>
              <a:t>II-4. 학습 및 모델 평가 ② DL 아키텍처 5종 비교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21792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BDD7EE"/>
                </a:solidFill>
                <a:latin typeface="맑은 고딕"/>
              </a:rPr>
              <a:t>OOS RMSE — Full_Test_Set 11 bearings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051560"/>
          <a:ext cx="1143000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r>
                        <a:t>순위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모델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OOS RMSE (분)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OOS MAE (분)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특징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1A1A1A"/>
                          </a:solidFill>
                          <a:latin typeface="맑은 고딕"/>
                        </a:rPr>
                        <a:t>1위 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A1A1A"/>
                          </a:solidFill>
                          <a:latin typeface="맑은 고딕"/>
                        </a:rPr>
                        <a:t>GRU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A1A1A"/>
                          </a:solidFill>
                          <a:latin typeface="맑은 고딕"/>
                        </a:rPr>
                        <a:t>909.96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A1A1A"/>
                          </a:solidFill>
                          <a:latin typeface="맑은 고딕"/>
                        </a:rPr>
                        <a:t>741.5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A1A1A"/>
                          </a:solidFill>
                          <a:latin typeface="맑은 고딕"/>
                        </a:rPr>
                        <a:t>게이트 단순, 소형 모델 과적합 억제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1A1A1A"/>
                          </a:solidFill>
                          <a:latin typeface="맑은 고딕"/>
                        </a:rPr>
                        <a:t>2위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A1A1A"/>
                          </a:solidFill>
                          <a:latin typeface="맑은 고딕"/>
                        </a:rPr>
                        <a:t>1D-CNN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A1A1A"/>
                          </a:solidFill>
                          <a:latin typeface="맑은 고딕"/>
                        </a:rPr>
                        <a:t>938.03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A1A1A"/>
                          </a:solidFill>
                          <a:latin typeface="맑은 고딕"/>
                        </a:rPr>
                        <a:t>754.87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A1A1A"/>
                          </a:solidFill>
                          <a:latin typeface="맑은 고딕"/>
                        </a:rPr>
                        <a:t>국소 주파수 패턴 학습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1A1A1A"/>
                          </a:solidFill>
                          <a:latin typeface="맑은 고딕"/>
                        </a:rPr>
                        <a:t>3위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A1A1A"/>
                          </a:solidFill>
                          <a:latin typeface="맑은 고딕"/>
                        </a:rPr>
                        <a:t>CNN-LSTM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A1A1A"/>
                          </a:solidFill>
                          <a:latin typeface="맑은 고딕"/>
                        </a:rPr>
                        <a:t>996.61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A1A1A"/>
                          </a:solidFill>
                          <a:latin typeface="맑은 고딕"/>
                        </a:rPr>
                        <a:t>789.89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A1A1A"/>
                          </a:solidFill>
                          <a:latin typeface="맑은 고딕"/>
                        </a:rPr>
                        <a:t>공간+시계열 복합 구조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1A1A1A"/>
                          </a:solidFill>
                          <a:latin typeface="맑은 고딕"/>
                        </a:rPr>
                        <a:t>4위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A1A1A"/>
                          </a:solidFill>
                          <a:latin typeface="맑은 고딕"/>
                        </a:rPr>
                        <a:t>BiLSTM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A1A1A"/>
                          </a:solidFill>
                          <a:latin typeface="맑은 고딕"/>
                        </a:rPr>
                        <a:t>1021.19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A1A1A"/>
                          </a:solidFill>
                          <a:latin typeface="맑은 고딕"/>
                        </a:rPr>
                        <a:t>805.53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A1A1A"/>
                          </a:solidFill>
                          <a:latin typeface="맑은 고딕"/>
                        </a:rPr>
                        <a:t>양방향 — 인과 관계상 불리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1A1A1A"/>
                          </a:solidFill>
                          <a:latin typeface="맑은 고딕"/>
                        </a:rPr>
                        <a:t>5위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A1A1A"/>
                          </a:solidFill>
                          <a:latin typeface="맑은 고딕"/>
                        </a:rPr>
                        <a:t>LSTM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A1A1A"/>
                          </a:solidFill>
                          <a:latin typeface="맑은 고딕"/>
                        </a:rPr>
                        <a:t>1036.91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A1A1A"/>
                          </a:solidFill>
                          <a:latin typeface="맑은 고딕"/>
                        </a:rPr>
                        <a:t>846.21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A1A1A"/>
                          </a:solidFill>
                          <a:latin typeface="맑은 고딕"/>
                        </a:rPr>
                        <a:t>장기 의존성 학습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274320" y="4526280"/>
            <a:ext cx="11612880" cy="2103120"/>
          </a:xfrm>
          <a:prstGeom prst="rect">
            <a:avLst/>
          </a:prstGeom>
          <a:solidFill>
            <a:srgbClr val="D6E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65760" y="457200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F4E79"/>
                </a:solidFill>
                <a:latin typeface="맑은 고딕"/>
              </a:rPr>
              <a:t>GRU 최종 선정 근거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5029200"/>
            <a:ext cx="114300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>
                <a:solidFill>
                  <a:srgbClr val="1A1A1A"/>
                </a:solidFill>
                <a:latin typeface="맑은 고딕"/>
              </a:rPr>
              <a:t>• OOS RMSE 909.96 — 미관측 베어링 11개에서 5종 중 최저</a:t>
            </a:r>
          </a:p>
          <a:p>
            <a:pPr algn="l"/>
            <a:r>
              <a:rPr sz="1300">
                <a:solidFill>
                  <a:srgbClr val="1A1A1A"/>
                </a:solidFill>
                <a:latin typeface="맑은 고딕"/>
              </a:rPr>
              <a:t>• 파라미터 수 최소 (업데이트/리셋 게이트만) → 적은 학습 데이터에서 과적합 억제</a:t>
            </a:r>
          </a:p>
          <a:p>
            <a:pPr algn="l"/>
            <a:r>
              <a:rPr sz="1300">
                <a:solidFill>
                  <a:srgbClr val="1A1A1A"/>
                </a:solidFill>
                <a:latin typeface="맑은 고딕"/>
              </a:rPr>
              <a:t>• 예지보전 특성상 과거→현재 단방향 인과 관계 → BiLSTM 양방향 우위 없음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54864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맑은 고딕"/>
              </a:rPr>
              <a:t>II-4. 학습 및 모델 평가 ③ 하이퍼파라미터 튜닝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21792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BDD7EE"/>
                </a:solidFill>
                <a:latin typeface="맑은 고딕"/>
              </a:rPr>
              <a:t>Grid Search 27조합 → 옵티마이저 → 배치 → BN+LN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1097280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F4E79"/>
                </a:solidFill>
                <a:latin typeface="맑은 고딕"/>
              </a:rPr>
              <a:t>① 그리드서치 (27조합)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274320" y="1508760"/>
          <a:ext cx="539496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98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98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98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r>
                        <a:t>파라미터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탐색 범위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최적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1A1A1A"/>
                          </a:solidFill>
                          <a:latin typeface="맑은 고딕"/>
                        </a:rPr>
                        <a:t>window_size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A1A1A"/>
                          </a:solidFill>
                          <a:latin typeface="맑은 고딕"/>
                        </a:rPr>
                        <a:t>[20,30,50]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A1A1A"/>
                          </a:solidFill>
                          <a:latin typeface="맑은 고딕"/>
                        </a:rPr>
                        <a:t>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1A1A1A"/>
                          </a:solidFill>
                          <a:latin typeface="맑은 고딕"/>
                        </a:rPr>
                        <a:t>units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A1A1A"/>
                          </a:solidFill>
                          <a:latin typeface="맑은 고딕"/>
                        </a:rPr>
                        <a:t>[32,64,128]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A1A1A"/>
                          </a:solidFill>
                          <a:latin typeface="맑은 고딕"/>
                        </a:rPr>
                        <a:t>32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1A1A1A"/>
                          </a:solidFill>
                          <a:latin typeface="맑은 고딕"/>
                        </a:rPr>
                        <a:t>dropout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A1A1A"/>
                          </a:solidFill>
                          <a:latin typeface="맑은 고딕"/>
                        </a:rPr>
                        <a:t>[0.1,0.2,0.3]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A1A1A"/>
                          </a:solidFill>
                          <a:latin typeface="맑은 고딕"/>
                        </a:rPr>
                        <a:t>0.1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365760" y="32461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00000"/>
                </a:solidFill>
                <a:latin typeface="맑은 고딕"/>
              </a:rPr>
              <a:t>→ OOS RMSE: 956.05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0" y="109728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F4E79"/>
                </a:solidFill>
                <a:latin typeface="맑은 고딕"/>
              </a:rPr>
              <a:t>② 옵티마이저 비교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035040" y="1508760"/>
          <a:ext cx="539496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97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97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r>
                        <a:t>옵티마이저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OOS RMSE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1A1A1A"/>
                          </a:solidFill>
                          <a:latin typeface="맑은 고딕"/>
                        </a:rPr>
                        <a:t>Nadam 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A1A1A"/>
                          </a:solidFill>
                          <a:latin typeface="맑은 고딕"/>
                        </a:rPr>
                        <a:t>977.70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1A1A1A"/>
                          </a:solidFill>
                          <a:latin typeface="맑은 고딕"/>
                        </a:rPr>
                        <a:t>Adam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A1A1A"/>
                          </a:solidFill>
                          <a:latin typeface="맑은 고딕"/>
                        </a:rPr>
                        <a:t>996.88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1A1A1A"/>
                          </a:solidFill>
                          <a:latin typeface="맑은 고딕"/>
                        </a:rPr>
                        <a:t>AdamW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A1A1A"/>
                          </a:solidFill>
                          <a:latin typeface="맑은 고딕"/>
                        </a:rPr>
                        <a:t>1011.36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274320" y="3749039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F4E79"/>
                </a:solidFill>
                <a:latin typeface="맑은 고딕"/>
              </a:rPr>
              <a:t>③ 배치 크기 튜닝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274320" y="4160520"/>
          <a:ext cx="5394960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97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97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20624">
                <a:tc>
                  <a:txBody>
                    <a:bodyPr/>
                    <a:lstStyle/>
                    <a:p>
                      <a:r>
                        <a:t>배치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OOS RMSE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1A1A1A"/>
                          </a:solidFill>
                          <a:latin typeface="맑은 고딕"/>
                        </a:rPr>
                        <a:t>16 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A1A1A"/>
                          </a:solidFill>
                          <a:latin typeface="맑은 고딕"/>
                        </a:rPr>
                        <a:t>836.60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1A1A1A"/>
                          </a:solidFill>
                          <a:latin typeface="맑은 고딕"/>
                        </a:rPr>
                        <a:t>32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A1A1A"/>
                          </a:solidFill>
                          <a:latin typeface="맑은 고딕"/>
                        </a:rPr>
                        <a:t>1002.56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1A1A1A"/>
                          </a:solidFill>
                          <a:latin typeface="맑은 고딕"/>
                        </a:rPr>
                        <a:t>64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A1A1A"/>
                          </a:solidFill>
                          <a:latin typeface="맑은 고딕"/>
                        </a:rPr>
                        <a:t>1114.39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1A1A1A"/>
                          </a:solidFill>
                          <a:latin typeface="맑은 고딕"/>
                        </a:rPr>
                        <a:t>128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A1A1A"/>
                          </a:solidFill>
                          <a:latin typeface="맑은 고딕"/>
                        </a:rPr>
                        <a:t>1054.33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6035040" y="3749039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F4E79"/>
                </a:solidFill>
                <a:latin typeface="맑은 고딕"/>
              </a:rPr>
              <a:t>④ BN+LN 정규화 효과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6035040" y="4160520"/>
          <a:ext cx="576072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r>
                        <a:t>모델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OOS RMSE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개선율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1A1A1A"/>
                          </a:solidFill>
                          <a:latin typeface="맑은 고딕"/>
                        </a:rPr>
                        <a:t>v1 (Dropout만)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A1A1A"/>
                          </a:solidFill>
                          <a:latin typeface="맑은 고딕"/>
                        </a:rPr>
                        <a:t>973.47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A1A1A"/>
                          </a:solidFill>
                          <a:latin typeface="맑은 고딕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1A1A1A"/>
                          </a:solidFill>
                          <a:latin typeface="맑은 고딕"/>
                        </a:rPr>
                        <a:t>v2 (BN+LN) ★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A1A1A"/>
                          </a:solidFill>
                          <a:latin typeface="맑은 고딕"/>
                        </a:rPr>
                        <a:t>810.38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A1A1A"/>
                          </a:solidFill>
                          <a:latin typeface="맑은 고딕"/>
                        </a:rPr>
                        <a:t>▼16.75%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6035040" y="562356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00000"/>
                </a:solidFill>
                <a:latin typeface="맑은 고딕"/>
              </a:rPr>
              <a:t>학습 Epoch: 54 → 33으로 단축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54864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맑은 고딕"/>
              </a:rPr>
              <a:t>II-4. 학습 및 모델 평가 ④ GRU v2 최종 모델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21792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BDD7EE"/>
                </a:solidFill>
                <a:latin typeface="맑은 고딕"/>
              </a:rPr>
              <a:t>GRU + LayerNormalization + BatchNormalization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051560"/>
            <a:ext cx="3291840" cy="48463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11480" y="1069848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맑은 고딕"/>
              </a:rPr>
              <a:t>Input (20, 12)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49039" y="1069848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맑은 고딕"/>
              </a:rPr>
              <a:t>← 시퀀스 입력 (20분, 12피처)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600200"/>
            <a:ext cx="3291840" cy="484632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11480" y="1618488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맑은 고딕"/>
              </a:rPr>
              <a:t>GRU(32, ret=True)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49039" y="1618488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맑은 고딕"/>
              </a:rPr>
              <a:t>← 시퀀스 전체 학습 (return_sequences=True)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2148839"/>
            <a:ext cx="3291840" cy="484632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11480" y="2167128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맑은 고딕"/>
              </a:rPr>
              <a:t>LayerNorm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49039" y="2167128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맑은 고딕"/>
              </a:rPr>
              <a:t>← 시퀀스 내 정규화 (배치 의존 없음)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2697479"/>
            <a:ext cx="3291840" cy="48463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11480" y="2715768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맑은 고딕"/>
              </a:rPr>
              <a:t>Dropout(0.1)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49039" y="2715768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맑은 고딕"/>
              </a:rPr>
              <a:t>← 과적합 억제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3246120"/>
            <a:ext cx="3291840" cy="484632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11480" y="3264408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맑은 고딕"/>
              </a:rPr>
              <a:t>GRU(16)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49039" y="3264408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맑은 고딕"/>
              </a:rPr>
              <a:t>← 최종 상태 추출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3794760"/>
            <a:ext cx="3291840" cy="484632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11480" y="3813048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맑은 고딕"/>
              </a:rPr>
              <a:t>LayerNorm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49039" y="3813048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맑은 고딕"/>
              </a:rPr>
              <a:t>← 2차 정규화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4343400"/>
            <a:ext cx="3291840" cy="484632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11480" y="4361688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맑은 고딕"/>
              </a:rPr>
              <a:t>BatchNorm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49039" y="4361688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맑은 고딕"/>
              </a:rPr>
              <a:t>← 특성 분포 안정화 (학습 가속)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5760" y="4892040"/>
            <a:ext cx="3291840" cy="48463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11480" y="4910328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맑은 고딕"/>
              </a:rPr>
              <a:t>Dense(32, relu)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749039" y="4910328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맑은 고딕"/>
              </a:rPr>
              <a:t>← 비선형 변환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5760" y="5440679"/>
            <a:ext cx="3291840" cy="48463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11480" y="5458968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맑은 고딕"/>
              </a:rPr>
              <a:t>Dropout(0.1)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749039" y="5458968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맑은 고딕"/>
              </a:rPr>
              <a:t>← 과적합 억제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5989319"/>
            <a:ext cx="3291840" cy="484632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11480" y="6007607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맑은 고딕"/>
              </a:rPr>
              <a:t>Dense(1) — RUL 출력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749039" y="6007607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맑은 고딕"/>
              </a:rPr>
              <a:t>← 잔여수명 분 단위 예측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06640" y="109728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F4E79"/>
                </a:solidFill>
                <a:latin typeface="맑은 고딕"/>
              </a:rPr>
              <a:t>학습 설정</a:t>
            </a:r>
          </a:p>
        </p:txBody>
      </p:sp>
      <p:graphicFrame>
        <p:nvGraphicFramePr>
          <p:cNvPr id="37" name="Table 36"/>
          <p:cNvGraphicFramePr>
            <a:graphicFrameLocks noGrp="1"/>
          </p:cNvGraphicFramePr>
          <p:nvPr/>
        </p:nvGraphicFramePr>
        <p:xfrm>
          <a:off x="7406640" y="1508760"/>
          <a:ext cx="4480560" cy="3931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40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40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36880">
                <a:tc>
                  <a:txBody>
                    <a:bodyPr/>
                    <a:lstStyle/>
                    <a:p>
                      <a:r>
                        <a:t>항목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값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688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A1A1A"/>
                          </a:solidFill>
                          <a:latin typeface="맑은 고딕"/>
                        </a:rPr>
                        <a:t>window_size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맑은 고딕"/>
                        </a:rPr>
                        <a:t>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688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A1A1A"/>
                          </a:solidFill>
                          <a:latin typeface="맑은 고딕"/>
                        </a:rPr>
                        <a:t>units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맑은 고딕"/>
                        </a:rPr>
                        <a:t>32 → 16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688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A1A1A"/>
                          </a:solidFill>
                          <a:latin typeface="맑은 고딕"/>
                        </a:rPr>
                        <a:t>dropout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맑은 고딕"/>
                        </a:rPr>
                        <a:t>0.1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688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A1A1A"/>
                          </a:solidFill>
                          <a:latin typeface="맑은 고딕"/>
                        </a:rPr>
                        <a:t>batch_size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맑은 고딕"/>
                        </a:rPr>
                        <a:t>16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688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A1A1A"/>
                          </a:solidFill>
                          <a:latin typeface="맑은 고딕"/>
                        </a:rPr>
                        <a:t>optimizer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맑은 고딕"/>
                        </a:rPr>
                        <a:t>Adam(1e-3)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688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A1A1A"/>
                          </a:solidFill>
                          <a:latin typeface="맑은 고딕"/>
                        </a:rPr>
                        <a:t>loss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맑은 고딕"/>
                        </a:rPr>
                        <a:t>MSE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3688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A1A1A"/>
                          </a:solidFill>
                          <a:latin typeface="맑은 고딕"/>
                        </a:rPr>
                        <a:t>EarlyStopping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맑은 고딕"/>
                        </a:rPr>
                        <a:t>patience=10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3688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A1A1A"/>
                          </a:solidFill>
                          <a:latin typeface="맑은 고딕"/>
                        </a:rPr>
                        <a:t>ModelCheckpoint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맑은 고딕"/>
                        </a:rPr>
                        <a:t>val_loss 최소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38" name="Rectangle 37"/>
          <p:cNvSpPr/>
          <p:nvPr/>
        </p:nvSpPr>
        <p:spPr>
          <a:xfrm>
            <a:off x="7406640" y="5669280"/>
            <a:ext cx="4480560" cy="77724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7452360" y="5687568"/>
            <a:ext cx="429768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맑은 고딕"/>
              </a:rPr>
              <a:t>OOS RMSE: 810.38분
OOS MAE:   665.63분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54864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맑은 고딕"/>
              </a:rPr>
              <a:t>II-5. Streamlit 웹 애플리케이션 프로토타입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21792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BDD7EE"/>
                </a:solidFill>
                <a:latin typeface="맑은 고딕"/>
              </a:rPr>
              <a:t>https://dlfactoryautomation.streamlit.app/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024128"/>
            <a:ext cx="2560320" cy="3840480"/>
          </a:xfrm>
          <a:prstGeom prst="rect">
            <a:avLst/>
          </a:prstGeom>
          <a:solidFill>
            <a:srgbClr val="D6E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65760" y="105156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F4E79"/>
                </a:solidFill>
                <a:latin typeface="맑은 고딕"/>
              </a:rPr>
              <a:t>⚙️ 사이드바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1463040"/>
            <a:ext cx="24688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맑은 고딕"/>
              </a:rPr>
              <a:t>• ML 임계값 슬라이더 (기본 0.50)</a:t>
            </a:r>
          </a:p>
          <a:p>
            <a:pPr algn="l"/>
            <a:r>
              <a:rPr sz="1100">
                <a:solidFill>
                  <a:srgbClr val="1A1A1A"/>
                </a:solidFill>
                <a:latin typeface="맑은 고딕"/>
              </a:rPr>
              <a:t>• RUL 경보 기준 (기본 60분)</a:t>
            </a:r>
          </a:p>
          <a:p>
            <a:pPr algn="l"/>
            <a:r>
              <a:rPr sz="1100">
                <a:solidFill>
                  <a:srgbClr val="1A1A1A"/>
                </a:solidFill>
                <a:latin typeface="맑은 고딕"/>
              </a:rPr>
              <a:t>• 변경 이력 expander</a:t>
            </a:r>
          </a:p>
          <a:p>
            <a:pPr algn="l"/>
            <a:r>
              <a:rPr sz="1100">
                <a:solidFill>
                  <a:srgbClr val="1A1A1A"/>
                </a:solidFill>
                <a:latin typeface="맑은 고딕"/>
              </a:rPr>
              <a:t>• 실행 순서 안내</a:t>
            </a:r>
          </a:p>
        </p:txBody>
      </p:sp>
      <p:sp>
        <p:nvSpPr>
          <p:cNvPr id="9" name="Rectangle 8"/>
          <p:cNvSpPr/>
          <p:nvPr/>
        </p:nvSpPr>
        <p:spPr>
          <a:xfrm>
            <a:off x="3017520" y="1024128"/>
            <a:ext cx="1737360" cy="64008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063240" y="1042415"/>
            <a:ext cx="1645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</a:rPr>
              <a:t>📊 탭 1
데이터 탐색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017520" y="1691640"/>
            <a:ext cx="1737360" cy="2697480"/>
          </a:xfrm>
          <a:prstGeom prst="rect">
            <a:avLst/>
          </a:prstGeom>
          <a:solidFill>
            <a:srgbClr val="D6E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090672" y="1755648"/>
            <a:ext cx="1600200" cy="2578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맑은 고딕"/>
              </a:rPr>
              <a:t>h_rms 추이
열화 라벨 분포
피처 박스플롯
4개 KPI 메트릭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846320" y="1024128"/>
            <a:ext cx="1737360" cy="64008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892040" y="1042415"/>
            <a:ext cx="1645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</a:rPr>
              <a:t>🤖 탭 2
ML 성능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846320" y="1691640"/>
            <a:ext cx="1737360" cy="2697480"/>
          </a:xfrm>
          <a:prstGeom prst="rect">
            <a:avLst/>
          </a:prstGeom>
          <a:solidFill>
            <a:srgbClr val="D6E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919472" y="1755648"/>
            <a:ext cx="1600200" cy="2578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맑은 고딕"/>
              </a:rPr>
              <a:t>VIF 분석 표
모델 3종 비교
Feature Importance
Confusion Matrix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675120" y="1024128"/>
            <a:ext cx="1737360" cy="64008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720840" y="1042415"/>
            <a:ext cx="1645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</a:rPr>
              <a:t>🔮 탭 3
DL RUL 예측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675120" y="1691640"/>
            <a:ext cx="1737360" cy="2697480"/>
          </a:xfrm>
          <a:prstGeom prst="rect">
            <a:avLst/>
          </a:prstGeom>
          <a:solidFill>
            <a:srgbClr val="D6E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748272" y="1755648"/>
            <a:ext cx="1600200" cy="2578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맑은 고딕"/>
              </a:rPr>
              <a:t>ML vs LSTM 비교
LSTM 학습곡선
베어링 RUL 추이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503920" y="1024128"/>
            <a:ext cx="1737360" cy="64008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549640" y="1042415"/>
            <a:ext cx="1645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</a:rPr>
              <a:t>🏭 탭 4
통합 진단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503920" y="1691640"/>
            <a:ext cx="1737360" cy="2697480"/>
          </a:xfrm>
          <a:prstGeom prst="rect">
            <a:avLst/>
          </a:prstGeom>
          <a:solidFill>
            <a:srgbClr val="D6E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577072" y="1755648"/>
            <a:ext cx="1600200" cy="2578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맑은 고딕"/>
              </a:rPr>
              <a:t>진동값 9개 슬라이더
진단하기 버튼
ML 열화 판정
RUL &amp; 경보 등급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0332720" y="1024128"/>
            <a:ext cx="1737360" cy="64008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0378440" y="1042415"/>
            <a:ext cx="1645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</a:rPr>
              <a:t>🔬 탭 5
아키텍처 비교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332720" y="1691640"/>
            <a:ext cx="1737360" cy="2697480"/>
          </a:xfrm>
          <a:prstGeom prst="rect">
            <a:avLst/>
          </a:prstGeom>
          <a:solidFill>
            <a:srgbClr val="D6E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0405872" y="1755648"/>
            <a:ext cx="1600200" cy="2578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맑은 고딕"/>
              </a:rPr>
              <a:t>5종 성능 비교표
EarlyStopping 분석
학습곡선 PNG
OOS 예측 PNG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74320" y="4617720"/>
            <a:ext cx="11612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F4E79"/>
                </a:solidFill>
                <a:latin typeface="맑은 고딕"/>
              </a:rPr>
              <a:t>시스템 품질 지표</a:t>
            </a:r>
          </a:p>
        </p:txBody>
      </p: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274320" y="5010912"/>
          <a:ext cx="11612880" cy="17922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032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032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032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032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56616">
                <a:tc>
                  <a:txBody>
                    <a:bodyPr/>
                    <a:lstStyle/>
                    <a:p>
                      <a:r>
                        <a:t>항목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기준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실제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판정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A1A1A"/>
                          </a:solidFill>
                          <a:latin typeface="맑은 고딕"/>
                        </a:rPr>
                        <a:t>OOS RMSE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맑은 고딕"/>
                        </a:rPr>
                        <a:t>&lt; 900분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맑은 고딕"/>
                        </a:rPr>
                        <a:t>810.38분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맑은 고딕"/>
                        </a:rPr>
                        <a:t>✔ PASS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A1A1A"/>
                          </a:solidFill>
                          <a:latin typeface="맑은 고딕"/>
                        </a:rPr>
                        <a:t>RF 대비 개선율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맑은 고딕"/>
                        </a:rPr>
                        <a:t>&gt; 10%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맑은 고딕"/>
                        </a:rPr>
                        <a:t>15.08%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맑은 고딕"/>
                        </a:rPr>
                        <a:t>✔ PASS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A1A1A"/>
                          </a:solidFill>
                          <a:latin typeface="맑은 고딕"/>
                        </a:rPr>
                        <a:t>응답 시간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맑은 고딕"/>
                        </a:rPr>
                        <a:t>&lt; 2초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맑은 고딕"/>
                        </a:rPr>
                        <a:t>@st.cache_resource ~0.1초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맑은 고딕"/>
                        </a:rPr>
                        <a:t>✔ PASS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A1A1A"/>
                          </a:solidFill>
                          <a:latin typeface="맑은 고딕"/>
                        </a:rPr>
                        <a:t>데이터 누수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맑은 고딕"/>
                        </a:rPr>
                        <a:t>GroupKFold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맑은 고딕"/>
                        </a:rPr>
                        <a:t>베어링 단위 완전 분리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맑은 고딕"/>
                        </a:rPr>
                        <a:t>✔ PASS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54864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맑은 고딕"/>
              </a:rPr>
              <a:t>II-6. 결과 요약 및 향후 방향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21792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BDD7EE"/>
                </a:solidFill>
                <a:latin typeface="맑은 고딕"/>
              </a:rPr>
              <a:t>Conclusion &amp; Future Work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051560"/>
            <a:ext cx="5486400" cy="4663440"/>
          </a:xfrm>
          <a:prstGeom prst="rect">
            <a:avLst/>
          </a:prstGeom>
          <a:solidFill>
            <a:srgbClr val="D6E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65760" y="109728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F4E79"/>
                </a:solidFill>
                <a:latin typeface="맑은 고딕"/>
              </a:rPr>
              <a:t>결과 요약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554480"/>
            <a:ext cx="5212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>
                <a:solidFill>
                  <a:srgbClr val="1A1A1A"/>
                </a:solidFill>
                <a:latin typeface="맑은 고딕"/>
              </a:rPr>
              <a:t>• 아키텍처 5종 비교 → GRU 최종 선정</a:t>
            </a:r>
          </a:p>
          <a:p>
            <a:pPr algn="l"/>
            <a:r>
              <a:rPr sz="1300">
                <a:solidFill>
                  <a:srgbClr val="1A1A1A"/>
                </a:solidFill>
                <a:latin typeface="맑은 고딕"/>
              </a:rPr>
              <a:t>• BN+LN 정규화로 OOS RMSE 16.75% 개선</a:t>
            </a:r>
          </a:p>
          <a:p>
            <a:pPr algn="l"/>
            <a:r>
              <a:rPr sz="1300">
                <a:solidFill>
                  <a:srgbClr val="1A1A1A"/>
                </a:solidFill>
                <a:latin typeface="맑은 고딕"/>
              </a:rPr>
              <a:t>• 배치=16으로 최적 일반화 달성</a:t>
            </a:r>
          </a:p>
          <a:p>
            <a:pPr algn="l"/>
            <a:r>
              <a:rPr sz="1300">
                <a:solidFill>
                  <a:srgbClr val="1A1A1A"/>
                </a:solidFill>
                <a:latin typeface="맑은 고딕"/>
              </a:rPr>
              <a:t>• GRU v2: OOS RMSE 810.38 (RF 대비 15.08%↓)</a:t>
            </a:r>
          </a:p>
          <a:p>
            <a:pPr algn="l"/>
            <a:r>
              <a:rPr sz="1300">
                <a:solidFill>
                  <a:srgbClr val="1A1A1A"/>
                </a:solidFill>
                <a:latin typeface="맑은 고딕"/>
              </a:rPr>
              <a:t>• Streamlit Cloud 5탭 대시보드 배포 완료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0" y="1051560"/>
            <a:ext cx="5486400" cy="4663440"/>
          </a:xfrm>
          <a:prstGeom prst="rect">
            <a:avLst/>
          </a:prstGeom>
          <a:solidFill>
            <a:srgbClr val="D6E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92240" y="109728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F4E79"/>
                </a:solidFill>
                <a:latin typeface="맑은 고딕"/>
              </a:rPr>
              <a:t>향후 방향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1554480"/>
            <a:ext cx="5212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>
                <a:solidFill>
                  <a:srgbClr val="1A1A1A"/>
                </a:solidFill>
                <a:latin typeface="맑은 고딕"/>
              </a:rPr>
              <a:t>• Attention 메커니즘 → 열화 말기 정밀도 향상</a:t>
            </a:r>
          </a:p>
          <a:p>
            <a:pPr algn="l"/>
            <a:r>
              <a:rPr sz="1300">
                <a:solidFill>
                  <a:srgbClr val="1A1A1A"/>
                </a:solidFill>
                <a:latin typeface="맑은 고딕"/>
              </a:rPr>
              <a:t>• SHAP 해설 → 피처별 기여도 시각화</a:t>
            </a:r>
          </a:p>
          <a:p>
            <a:pPr algn="l"/>
            <a:r>
              <a:rPr sz="1300">
                <a:solidFill>
                  <a:srgbClr val="1A1A1A"/>
                </a:solidFill>
                <a:latin typeface="맑은 고딕"/>
              </a:rPr>
              <a:t>• 앙상블 (GRU + 1D-CNN) 성능 향상</a:t>
            </a:r>
          </a:p>
          <a:p>
            <a:pPr algn="l"/>
            <a:r>
              <a:rPr sz="1300">
                <a:solidFill>
                  <a:srgbClr val="1A1A1A"/>
                </a:solidFill>
                <a:latin typeface="맑은 고딕"/>
              </a:rPr>
              <a:t>• IoT 실시간 스트림 연동 (MQTT, 1분 주기)</a:t>
            </a:r>
          </a:p>
          <a:p>
            <a:pPr algn="l"/>
            <a:r>
              <a:rPr sz="1300">
                <a:solidFill>
                  <a:srgbClr val="1A1A1A"/>
                </a:solidFill>
                <a:latin typeface="맑은 고딕"/>
              </a:rPr>
              <a:t>• MLOps 자동 재학습 파이프라인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89320" y="1051560"/>
            <a:ext cx="36576" cy="466344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274320" y="5852160"/>
          <a:ext cx="11612880" cy="1188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70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70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70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r>
                        <a:t>단계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내용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목표 RMSE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A1A1A"/>
                          </a:solidFill>
                          <a:latin typeface="맑은 고딕"/>
                        </a:rPr>
                        <a:t>완료 (현재)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맑은 고딕"/>
                        </a:rPr>
                        <a:t>GRU v2 BN+LN + 배치=16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맑은 고딕"/>
                        </a:rPr>
                        <a:t>810.38분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A1A1A"/>
                          </a:solidFill>
                          <a:latin typeface="맑은 고딕"/>
                        </a:rPr>
                        <a:t>Phase 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맑은 고딕"/>
                        </a:rPr>
                        <a:t>Attention + SHAP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맑은 고딕"/>
                        </a:rPr>
                        <a:t>&lt; 700분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A1A1A"/>
                          </a:solidFill>
                          <a:latin typeface="맑은 고딕"/>
                        </a:rPr>
                        <a:t>Phase 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맑은 고딕"/>
                        </a:rPr>
                        <a:t>앙상블 + 실공장 데이터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맑은 고딕"/>
                        </a:rPr>
                        <a:t>&lt; 600분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54864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맑은 고딕"/>
              </a:rPr>
              <a:t>부록 A. 성능 개선 실험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21792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BDD7EE"/>
                </a:solidFill>
                <a:latin typeface="맑은 고딕"/>
              </a:rPr>
              <a:t>Performance Improvement — All Experiments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05156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F4E79"/>
                </a:solidFill>
                <a:latin typeface="맑은 고딕"/>
              </a:rPr>
              <a:t>아키텍처 5종 비교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5760" y="1463040"/>
          <a:ext cx="5394960" cy="265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98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98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98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41960">
                <a:tc>
                  <a:txBody>
                    <a:bodyPr/>
                    <a:lstStyle/>
                    <a:p>
                      <a:r>
                        <a:t>모델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OOS RMSE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OOS MAE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196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A1A1A"/>
                          </a:solidFill>
                          <a:latin typeface="맑은 고딕"/>
                        </a:rPr>
                        <a:t>GRU 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맑은 고딕"/>
                        </a:rPr>
                        <a:t>909.96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맑은 고딕"/>
                        </a:rPr>
                        <a:t>741.50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196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A1A1A"/>
                          </a:solidFill>
                          <a:latin typeface="맑은 고딕"/>
                        </a:rPr>
                        <a:t>1D-CNN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맑은 고딕"/>
                        </a:rPr>
                        <a:t>938.03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맑은 고딕"/>
                        </a:rPr>
                        <a:t>754.87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196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A1A1A"/>
                          </a:solidFill>
                          <a:latin typeface="맑은 고딕"/>
                        </a:rPr>
                        <a:t>CNN-LSTM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맑은 고딕"/>
                        </a:rPr>
                        <a:t>996.61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맑은 고딕"/>
                        </a:rPr>
                        <a:t>789.89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196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A1A1A"/>
                          </a:solidFill>
                          <a:latin typeface="맑은 고딕"/>
                        </a:rPr>
                        <a:t>BiLSTM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맑은 고딕"/>
                        </a:rPr>
                        <a:t>1021.19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맑은 고딕"/>
                        </a:rPr>
                        <a:t>805.53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196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A1A1A"/>
                          </a:solidFill>
                          <a:latin typeface="맑은 고딕"/>
                        </a:rPr>
                        <a:t>LSTM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맑은 고딕"/>
                        </a:rPr>
                        <a:t>1036.91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맑은 고딕"/>
                        </a:rPr>
                        <a:t>846.21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035040" y="1051560"/>
            <a:ext cx="5760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F4E79"/>
                </a:solidFill>
                <a:latin typeface="맑은 고딕"/>
              </a:rPr>
              <a:t>단계별 성능 개선 요약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035040" y="1463040"/>
          <a:ext cx="576072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401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401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401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401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r>
                        <a:t>단계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내용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OOS RMSE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개선율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A1A1A"/>
                          </a:solidFill>
                          <a:latin typeface="맑은 고딕"/>
                        </a:rPr>
                        <a:t>기준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맑은 고딕"/>
                        </a:rPr>
                        <a:t>RF 베이스라인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맑은 고딕"/>
                        </a:rPr>
                        <a:t>954.52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맑은 고딕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A1A1A"/>
                          </a:solidFill>
                          <a:latin typeface="맑은 고딕"/>
                        </a:rPr>
                        <a:t>①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맑은 고딕"/>
                        </a:rPr>
                        <a:t>GRU 아키텍처 선택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맑은 고딕"/>
                        </a:rPr>
                        <a:t>909.96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맑은 고딕"/>
                        </a:rPr>
                        <a:t>▼ 4.67%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A1A1A"/>
                          </a:solidFill>
                          <a:latin typeface="맑은 고딕"/>
                        </a:rPr>
                        <a:t>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맑은 고딕"/>
                        </a:rPr>
                        <a:t>배치=16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맑은 고딕"/>
                        </a:rPr>
                        <a:t>836.60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맑은 고딕"/>
                        </a:rPr>
                        <a:t>▼ 12.33%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A1A1A"/>
                          </a:solidFill>
                          <a:latin typeface="맑은 고딕"/>
                        </a:rPr>
                        <a:t>③ ★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맑은 고딕"/>
                        </a:rPr>
                        <a:t>BN+LN 정규화 (v2)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맑은 고딕"/>
                        </a:rPr>
                        <a:t>810.38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맑은 고딕"/>
                        </a:rPr>
                        <a:t>▼ 15.08%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365760" y="425196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F4E79"/>
                </a:solidFill>
                <a:latin typeface="맑은 고딕"/>
              </a:rPr>
              <a:t>그리드서치 TOP 5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65760" y="4663440"/>
          <a:ext cx="11430000" cy="1889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r>
                        <a:t>순위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window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units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dropout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OOS RMSE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A1A1A"/>
                          </a:solidFill>
                          <a:latin typeface="맑은 고딕"/>
                        </a:rPr>
                        <a:t>1위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맑은 고딕"/>
                        </a:rPr>
                        <a:t>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맑은 고딕"/>
                        </a:rPr>
                        <a:t>32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맑은 고딕"/>
                        </a:rPr>
                        <a:t>0.1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맑은 고딕"/>
                        </a:rPr>
                        <a:t>956.05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A1A1A"/>
                          </a:solidFill>
                          <a:latin typeface="맑은 고딕"/>
                        </a:rPr>
                        <a:t>2위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맑은 고딕"/>
                        </a:rPr>
                        <a:t>20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맑은 고딕"/>
                        </a:rPr>
                        <a:t>64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맑은 고딕"/>
                        </a:rPr>
                        <a:t>0.1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맑은 고딕"/>
                        </a:rPr>
                        <a:t>959.55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A1A1A"/>
                          </a:solidFill>
                          <a:latin typeface="맑은 고딕"/>
                        </a:rPr>
                        <a:t>3위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맑은 고딕"/>
                        </a:rPr>
                        <a:t>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맑은 고딕"/>
                        </a:rPr>
                        <a:t>128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맑은 고딕"/>
                        </a:rPr>
                        <a:t>0.1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맑은 고딕"/>
                        </a:rPr>
                        <a:t>968.52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A1A1A"/>
                          </a:solidFill>
                          <a:latin typeface="맑은 고딕"/>
                        </a:rPr>
                        <a:t>4위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맑은 고딕"/>
                        </a:rPr>
                        <a:t>20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맑은 고딕"/>
                        </a:rPr>
                        <a:t>64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맑은 고딕"/>
                        </a:rPr>
                        <a:t>0.2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맑은 고딕"/>
                        </a:rPr>
                        <a:t>971.71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A1A1A"/>
                          </a:solidFill>
                          <a:latin typeface="맑은 고딕"/>
                        </a:rPr>
                        <a:t>5위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맑은 고딕"/>
                        </a:rPr>
                        <a:t>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맑은 고딕"/>
                        </a:rPr>
                        <a:t>64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맑은 고딕"/>
                        </a:rPr>
                        <a:t>0.1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맑은 고딕"/>
                        </a:rPr>
                        <a:t>978.35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54864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맑은 고딕"/>
              </a:rPr>
              <a:t>부록 B. 데이터 프로파일링 리포트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21792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BDD7EE"/>
                </a:solidFill>
                <a:latin typeface="맑은 고딕"/>
              </a:rPr>
              <a:t>FEMTO-ST Bearing Data Profile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051560"/>
          <a:ext cx="114300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r>
                        <a:t>베어링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조건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용도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운전 조건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수명 (분)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A1A1A"/>
                          </a:solidFill>
                          <a:latin typeface="맑은 고딕"/>
                        </a:rPr>
                        <a:t>Bearing1_1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맑은 고딕"/>
                        </a:rPr>
                        <a:t>Cond.1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맑은 고딕"/>
                        </a:rPr>
                        <a:t>train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맑은 고딕"/>
                        </a:rPr>
                        <a:t>1800rpm / 4kN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맑은 고딕"/>
                        </a:rPr>
                        <a:t>~2,832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A1A1A"/>
                          </a:solidFill>
                          <a:latin typeface="맑은 고딕"/>
                        </a:rPr>
                        <a:t>Bearing2_1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맑은 고딕"/>
                        </a:rPr>
                        <a:t>Cond.2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맑은 고딕"/>
                        </a:rPr>
                        <a:t>train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맑은 고딕"/>
                        </a:rPr>
                        <a:t>1650rpm / 4.2kN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맑은 고딕"/>
                        </a:rPr>
                        <a:t>~911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A1A1A"/>
                          </a:solidFill>
                          <a:latin typeface="맑은 고딕"/>
                        </a:rPr>
                        <a:t>Bearing3_1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맑은 고딕"/>
                        </a:rPr>
                        <a:t>Cond.3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맑은 고딕"/>
                        </a:rPr>
                        <a:t>train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맑은 고딕"/>
                        </a:rPr>
                        <a:t>1500rpm / 5kN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맑은 고딕"/>
                        </a:rPr>
                        <a:t>~515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A1A1A"/>
                          </a:solidFill>
                          <a:latin typeface="맑은 고딕"/>
                        </a:rPr>
                        <a:t>Bearing1_2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맑은 고딕"/>
                        </a:rPr>
                        <a:t>Cond.1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맑은 고딕"/>
                        </a:rPr>
                        <a:t>demo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맑은 고딕"/>
                        </a:rPr>
                        <a:t>1800rpm / 4kN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맑은 고딕"/>
                        </a:rPr>
                        <a:t>~870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A1A1A"/>
                          </a:solidFill>
                          <a:latin typeface="맑은 고딕"/>
                        </a:rPr>
                        <a:t>Bearing2_2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맑은 고딕"/>
                        </a:rPr>
                        <a:t>Cond.2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맑은 고딕"/>
                        </a:rPr>
                        <a:t>demo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맑은 고딕"/>
                        </a:rPr>
                        <a:t>1650rpm / 4.2kN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맑은 고딕"/>
                        </a:rPr>
                        <a:t>~797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A1A1A"/>
                          </a:solidFill>
                          <a:latin typeface="맑은 고딕"/>
                        </a:rPr>
                        <a:t>Bearing3_2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맑은 고딕"/>
                        </a:rPr>
                        <a:t>Cond.3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맑은 고딕"/>
                        </a:rPr>
                        <a:t>demo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맑은 고딕"/>
                        </a:rPr>
                        <a:t>1500rpm / 5kN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맑은 고딕"/>
                        </a:rPr>
                        <a:t>~1,637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A1A1A"/>
                          </a:solidFill>
                          <a:latin typeface="맑은 고딕"/>
                        </a:rPr>
                        <a:t>Bearing1_3~7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맑은 고딕"/>
                        </a:rPr>
                        <a:t>Cond.1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맑은 고딕"/>
                        </a:rPr>
                        <a:t>test (5)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맑은 고딕"/>
                        </a:rPr>
                        <a:t>1800rpm / 4kN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맑은 고딕"/>
                        </a:rPr>
                        <a:t>28~339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A1A1A"/>
                          </a:solidFill>
                          <a:latin typeface="맑은 고딕"/>
                        </a:rPr>
                        <a:t>Bearing2_3~7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맑은 고딕"/>
                        </a:rPr>
                        <a:t>Cond.2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맑은 고딕"/>
                        </a:rPr>
                        <a:t>test (5)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맑은 고딕"/>
                        </a:rPr>
                        <a:t>1650rpm / 4.2kN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맑은 고딕"/>
                        </a:rPr>
                        <a:t>339~1,637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A1A1A"/>
                          </a:solidFill>
                          <a:latin typeface="맑은 고딕"/>
                        </a:rPr>
                        <a:t>Bearing3_3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맑은 고딕"/>
                        </a:rPr>
                        <a:t>Cond.3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맑은 고딕"/>
                        </a:rPr>
                        <a:t>test (1)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맑은 고딕"/>
                        </a:rPr>
                        <a:t>1500rpm / 5kN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맑은 고딕"/>
                        </a:rPr>
                        <a:t>~820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274320" y="5394960"/>
            <a:ext cx="11612880" cy="1143000"/>
          </a:xfrm>
          <a:prstGeom prst="rect">
            <a:avLst/>
          </a:prstGeom>
          <a:solidFill>
            <a:srgbClr val="D6E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65760" y="544068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F4E79"/>
                </a:solidFill>
                <a:latin typeface="맑은 고딕"/>
              </a:rPr>
              <a:t>데이터 품질 요약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5852160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1A1A"/>
                </a:solidFill>
                <a:latin typeface="맑은 고딕"/>
              </a:rPr>
              <a:t>• 결측치: 온도(temp_mean)만 발생 — 선형 보간 처리 완료</a:t>
            </a:r>
          </a:p>
          <a:p>
            <a:pPr algn="l"/>
            <a:r>
              <a:rPr sz="1200">
                <a:solidFill>
                  <a:srgbClr val="1A1A1A"/>
                </a:solidFill>
                <a:latin typeface="맑은 고딕"/>
              </a:rPr>
              <a:t>• 중복: 0건 (1분 간격 스냅샷, 중복 없음)</a:t>
            </a:r>
          </a:p>
          <a:p>
            <a:pPr algn="l"/>
            <a:r>
              <a:rPr sz="1200">
                <a:solidFill>
                  <a:srgbClr val="1A1A1A"/>
                </a:solidFill>
                <a:latin typeface="맑은 고딕"/>
              </a:rPr>
              <a:t>• 이상치: 말기 h_rms 급등은 열화 신호이므로 제거하지 않음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1805</Words>
  <Application>Microsoft Office PowerPoint</Application>
  <PresentationFormat>사용자 지정</PresentationFormat>
  <Paragraphs>458</Paragraphs>
  <Slides>14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14</vt:i4>
      </vt:variant>
    </vt:vector>
  </HeadingPairs>
  <TitlesOfParts>
    <vt:vector size="18" baseType="lpstr">
      <vt:lpstr>맑은 고딕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남 허</cp:lastModifiedBy>
  <cp:revision>1</cp:revision>
  <dcterms:created xsi:type="dcterms:W3CDTF">2013-01-27T09:14:16Z</dcterms:created>
  <dcterms:modified xsi:type="dcterms:W3CDTF">2026-06-29T03:36:20Z</dcterms:modified>
  <cp:category/>
</cp:coreProperties>
</file>