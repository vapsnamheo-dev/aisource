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92" r:id="rId4"/>
    <p:sldId id="293" r:id="rId5"/>
    <p:sldId id="279" r:id="rId6"/>
    <p:sldId id="259" r:id="rId7"/>
    <p:sldId id="281" r:id="rId8"/>
    <p:sldId id="283" r:id="rId9"/>
    <p:sldId id="260" r:id="rId10"/>
    <p:sldId id="261" r:id="rId11"/>
    <p:sldId id="262" r:id="rId12"/>
    <p:sldId id="294" r:id="rId13"/>
    <p:sldId id="288" r:id="rId14"/>
    <p:sldId id="285" r:id="rId15"/>
    <p:sldId id="265" r:id="rId16"/>
    <p:sldId id="271" r:id="rId17"/>
    <p:sldId id="272" r:id="rId18"/>
    <p:sldId id="264" r:id="rId19"/>
    <p:sldId id="267" r:id="rId20"/>
    <p:sldId id="286" r:id="rId21"/>
    <p:sldId id="276" r:id="rId22"/>
    <p:sldId id="263" r:id="rId23"/>
    <p:sldId id="270" r:id="rId24"/>
    <p:sldId id="273" r:id="rId25"/>
    <p:sldId id="269" r:id="rId26"/>
    <p:sldId id="287" r:id="rId27"/>
    <p:sldId id="296" r:id="rId28"/>
    <p:sldId id="297" r:id="rId29"/>
    <p:sldId id="295" r:id="rId30"/>
    <p:sldId id="289" r:id="rId31"/>
    <p:sldId id="290" r:id="rId32"/>
    <p:sldId id="291" r:id="rId33"/>
    <p:sldId id="298" r:id="rId39"/>
    <p:sldId id="299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87" autoAdjust="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7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9429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E55D-19B0-22B8-FA1B-5E7E9BEC8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5CDC99-E3D3-DB1B-D6E6-34B59FA40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1D9770-E2AC-E8C4-E03F-EFE15A728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8F977-B239-4678-571B-3B80C9D059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6464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6E8C0-5728-7EFF-B165-65A525FFA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0BEBBD-681E-4EC2-F9E5-71ACE04DC6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86D9B6-C1EC-D0A1-A336-851E52B06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B57A1-FB5A-D643-04A9-4B7B29A22D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982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6A246-39C9-89FB-8E82-AA2F76592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8FBD38-90BC-8B8C-1581-60DC6C3B7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C18228-3FA8-6C4F-E748-9A1D96FE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2C0FF-BD35-C1F1-7DEE-D1EAEFF14D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788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020F1-C14F-DB3B-B59D-D7FA884B8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14B20-FB6B-5436-2C8A-057CFE95E8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3D5406-8752-948A-F85C-7DF4C444A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CCF2A-7DB5-5134-3BB2-C2DBF8223C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1131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5415A-EBDC-7E45-1D74-E6F2AE9CE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7DC4F5-9900-A59C-6BBB-9004014FA8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FD7A83-9A7A-E855-89C3-01E95F9DC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BFFF5-A616-448E-939C-DAF9E09F3B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4937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06970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284B7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607040" y="4297680"/>
            <a:ext cx="3108960" cy="3108960"/>
          </a:xfrm>
          <a:prstGeom prst="ellipse">
            <a:avLst/>
          </a:prstGeom>
          <a:solidFill>
            <a:srgbClr val="2A4A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DC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개발 수행내역서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잔여수명(RUL) 예측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ML+DL 통합 예지보전(PdM) </a:t>
            </a:r>
            <a:r>
              <a:rPr lang="en-US" sz="1800" dirty="0" err="1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3886200"/>
            <a:ext cx="2926080" cy="0"/>
          </a:xfrm>
          <a:prstGeom prst="line">
            <a:avLst/>
          </a:prstGeom>
          <a:noFill/>
          <a:ln w="31750">
            <a:solidFill>
              <a:srgbClr val="1384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68680" y="4114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2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담당자: 허남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 err="1">
                <a:solidFill>
                  <a:srgbClr val="E2ECF7"/>
                </a:solidFill>
                <a:latin typeface="Malgun Gothic" pitchFamily="34" charset="0"/>
                <a:ea typeface="Malgun Gothic" pitchFamily="34" charset="-122"/>
              </a:rPr>
              <a:t>데이터셋</a:t>
            </a:r>
            <a:r>
              <a:rPr lang="en-US" sz="1400" dirty="0">
                <a:solidFill>
                  <a:srgbClr val="E2ECF7"/>
                </a:solidFill>
                <a:latin typeface="Malgun Gothic" pitchFamily="34" charset="0"/>
                <a:ea typeface="Malgun Gothic" pitchFamily="34" charset="-122"/>
              </a:rPr>
              <a:t>: FEMTO-ST PRONOSTIA (IEEE PHM 2012)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→ 튜닝 → </a:t>
            </a:r>
            <a:r>
              <a:rPr lang="en-US" sz="125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04672" y="180136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04672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1700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배경 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048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배경 · 개발 방법 · 기대 효과 / FEMTO-ST 데이터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697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04672" y="294436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04672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2843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프로세스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191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피처 명세 · EDA · VIF · 전처리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04672" y="408736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04672" y="4087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3986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학습 (ML · DL)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4334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베이스라인(분류) · DL RUL 개발·튜닝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983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04672" y="523036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04672" y="5230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5129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17320" y="5477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vs DL 종합(+15.08%) · Grad-CAM 진단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0" y="1554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565392" y="1801368"/>
            <a:ext cx="457200" cy="4572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565392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78040" y="1700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 통합 진단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78040" y="2048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6탭 대시보드 + MLflow 부록(48 runs)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0" y="2697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6565392" y="2944368"/>
            <a:ext cx="457200" cy="4572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565392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78040" y="2843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Autoencoder 비지도 탐지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78040" y="3191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비지도 AUC 0.968 · 임계값 원리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0" y="3840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6565392" y="4087368"/>
            <a:ext cx="457200" cy="4572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565392" y="4087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178040" y="3986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 중심 평가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78040" y="4334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PdM 미탐지(FN) 최소화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0" y="4983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6565392" y="5230368"/>
            <a:ext cx="457200" cy="4572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6565392" y="5230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178040" y="5129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— 데이터·모델·성능 보충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178040" y="5477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데이터샘플 · 모델선택 · MLflow · 평가신뢰성 · 혼동행렬 · LLM/RAG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배경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PdM 도입 효과 / FEMTO-ST 데이터 구성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61549" y="4566642"/>
            <a:ext cx="5630094" cy="1150404"/>
          </a:xfrm>
          <a:prstGeom prst="roundRect">
            <a:avLst>
              <a:gd name="adj" fmla="val 2308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0" name="Text 8"/>
          <p:cNvSpPr/>
          <p:nvPr/>
        </p:nvSpPr>
        <p:spPr>
          <a:xfrm>
            <a:off x="644429" y="4547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</a:t>
            </a:r>
            <a:r>
              <a:rPr 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효과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1403" y="4900911"/>
            <a:ext cx="5699760" cy="6656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계획외 정지  30~50% 감소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유지보수 비용  10~25% 절감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지표:  OOS</a:t>
            </a:r>
            <a:r>
              <a:rPr lang="en-US" altLang="ko-KR" sz="12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8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(*</a:t>
            </a:r>
            <a:r>
              <a:rPr lang="ko-KR" altLang="en-US" sz="8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３）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RMSE &lt; 900분 / ML </a:t>
            </a:r>
            <a:r>
              <a:rPr lang="ko-KR" alt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 </a:t>
            </a:r>
            <a:r>
              <a:rPr lang="en-US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개선율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&gt; 10% / 응답 &lt; 2초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46312" y="5739011"/>
            <a:ext cx="11064240" cy="8967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(*1) </a:t>
            </a:r>
            <a:r>
              <a:rPr lang="en-US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GroupKFold</a:t>
            </a:r>
            <a:r>
              <a:rPr 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무작위 분할이 아닌 베어링 단위를 통째로 분리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</a:t>
            </a:r>
            <a:r>
              <a:rPr 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시계열</a:t>
            </a:r>
            <a:r>
              <a:rPr 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누수</a:t>
            </a:r>
            <a:r>
              <a:rPr 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완전</a:t>
            </a:r>
            <a:r>
              <a:rPr 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차단</a:t>
            </a:r>
            <a:endParaRPr lang="en-US" sz="1200" b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  <a:p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(*2) 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"GRU v1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정규화 계층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LayerNorm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BatchNorm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추가한 개선 버전</a:t>
            </a:r>
            <a:endParaRPr lang="en-US" altLang="ko-KR" sz="1200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(*3)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</a:rPr>
              <a:t>(Out-Of-Sample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</a:rPr>
              <a:t>／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</a:rPr>
              <a:t>OOS</a:t>
            </a:r>
            <a:r>
              <a:rPr lang="ko-KR" altLang="ko-KR" sz="1200" dirty="0">
                <a:latin typeface="Malgun Gothic" pitchFamily="34" charset="0"/>
                <a:ea typeface="Malgun Gothic" pitchFamily="34" charset="-122"/>
              </a:rPr>
              <a:t> 모델 학습에 쓰지 않은 데이터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</a:rPr>
              <a:t>) 11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개는 3개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Condition에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걸친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미관측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베어링</a:t>
            </a:r>
            <a:endParaRPr lang="en-US" altLang="ko-KR" sz="1200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　　</a:t>
            </a:r>
            <a:r>
              <a:rPr lang="ko-KR" altLang="ko-KR" sz="1200" b="1" dirty="0"/>
              <a:t> </a:t>
            </a:r>
            <a:r>
              <a:rPr lang="ko-KR" altLang="en-US" sz="1200" b="1" dirty="0"/>
              <a:t>→</a:t>
            </a:r>
            <a:r>
              <a:rPr lang="ko-KR" alt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과</a:t>
            </a:r>
            <a:r>
              <a:rPr lang="ko-KR" altLang="ko-KR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적합을 </a:t>
            </a:r>
            <a:r>
              <a:rPr lang="ko-KR" altLang="ko-KR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드러내고</a:t>
            </a:r>
            <a:r>
              <a:rPr lang="ko-KR" alt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＇</a:t>
            </a:r>
            <a:r>
              <a:rPr lang="ko-KR" altLang="ko-KR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새</a:t>
            </a:r>
            <a:r>
              <a:rPr lang="ko-KR" altLang="ko-KR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설비 배포 시 실제 성능</a:t>
            </a:r>
            <a:r>
              <a:rPr lang="ko-KR" alt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＇</a:t>
            </a:r>
            <a:r>
              <a:rPr lang="ko-KR" altLang="ko-KR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정직하게 모사</a:t>
            </a:r>
            <a:r>
              <a:rPr lang="ko-KR" altLang="ko-KR" sz="1200" dirty="0"/>
              <a:t>(</a:t>
            </a:r>
            <a:r>
              <a:rPr lang="ko-KR" altLang="ko-KR" sz="1200" dirty="0" err="1"/>
              <a:t>RF·XGB가</a:t>
            </a:r>
            <a:r>
              <a:rPr lang="ko-KR" altLang="ko-KR" sz="1200" dirty="0"/>
              <a:t> IS F1 0.94 → OOS </a:t>
            </a:r>
            <a:r>
              <a:rPr lang="ko-KR" altLang="ko-KR" sz="1200" dirty="0" err="1"/>
              <a:t>Recall</a:t>
            </a:r>
            <a:r>
              <a:rPr lang="ko-KR" altLang="ko-KR" sz="1200" dirty="0"/>
              <a:t> 0.5로 무너진 게 그 증거)</a:t>
            </a:r>
            <a:endParaRPr lang="en-US" altLang="ko-KR" sz="1200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231086" y="6446520"/>
            <a:ext cx="262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3</a:t>
            </a:r>
            <a:endParaRPr lang="en-US" sz="900" dirty="0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24AD574F-A3DB-BF00-A220-349DCFCF7970}"/>
              </a:ext>
            </a:extLst>
          </p:cNvPr>
          <p:cNvSpPr/>
          <p:nvPr/>
        </p:nvSpPr>
        <p:spPr>
          <a:xfrm>
            <a:off x="6274523" y="4613962"/>
            <a:ext cx="5630094" cy="1031966"/>
          </a:xfrm>
          <a:prstGeom prst="roundRect">
            <a:avLst>
              <a:gd name="adj" fmla="val 2308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83316452-C5D0-CB9C-6A2C-8652A046A396}"/>
              </a:ext>
            </a:extLst>
          </p:cNvPr>
          <p:cNvSpPr/>
          <p:nvPr/>
        </p:nvSpPr>
        <p:spPr>
          <a:xfrm>
            <a:off x="6457403" y="461396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방법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C65ABCA4-A075-2234-EC1C-571E04D0CF48}"/>
              </a:ext>
            </a:extLst>
          </p:cNvPr>
          <p:cNvSpPr/>
          <p:nvPr/>
        </p:nvSpPr>
        <p:spPr>
          <a:xfrm>
            <a:off x="6274523" y="4878485"/>
            <a:ext cx="5455920" cy="8425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GroupKFold</a:t>
            </a:r>
            <a:r>
              <a:rPr lang="en-US" altLang="ko-KR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(*1)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VIF + 3종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GridSearch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ML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베이스라인</a:t>
            </a:r>
            <a:endParaRPr lang="en-US" altLang="ko-KR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GRU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RUL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정밀도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향상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(BN+LN </a:t>
            </a:r>
            <a:r>
              <a:rPr lang="en-US" altLang="ko-KR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(*2)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altLang="ko-KR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6탭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altLang="ko-KR" sz="1200" dirty="0"/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79EF70C5-8A1C-C5EC-B54E-AAE3667AA23D}"/>
              </a:ext>
            </a:extLst>
          </p:cNvPr>
          <p:cNvSpPr/>
          <p:nvPr/>
        </p:nvSpPr>
        <p:spPr>
          <a:xfrm>
            <a:off x="465905" y="1335024"/>
            <a:ext cx="11173101" cy="789865"/>
          </a:xfrm>
          <a:prstGeom prst="roundRect">
            <a:avLst>
              <a:gd name="adj" fmla="val 2308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F580D9B1-D797-E2F6-B7D3-D39C01B3943F}"/>
              </a:ext>
            </a:extLst>
          </p:cNvPr>
          <p:cNvSpPr/>
          <p:nvPr/>
        </p:nvSpPr>
        <p:spPr>
          <a:xfrm>
            <a:off x="648786" y="1327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배경</a:t>
            </a:r>
            <a:endParaRPr lang="en-US" sz="13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EE5CE6DA-E886-54D8-AB78-A3AA83A62A57}"/>
              </a:ext>
            </a:extLst>
          </p:cNvPr>
          <p:cNvSpPr/>
          <p:nvPr/>
        </p:nvSpPr>
        <p:spPr>
          <a:xfrm>
            <a:off x="552992" y="1549527"/>
            <a:ext cx="11173101" cy="575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핵심부품 베어링의 기존 정기 점검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(PM)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보통 분 단위 잔여수명을 예측 못하고  </a:t>
            </a:r>
            <a:r>
              <a:rPr kumimoji="0" lang="ko-KR" alt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경보에 </a:t>
            </a:r>
            <a:r>
              <a:rPr kumimoji="0" lang="ko-KR" alt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머뭄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실제 열화 상태를 반영하지 못해 과잉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과소 점검이 반복되는 한계 → 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</a:t>
            </a:r>
            <a:r>
              <a:rPr kumimoji="0" lang="en-US" altLang="ko-KR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진동·온도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ML·DL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학습 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ML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분류로 즉시 이상 판정 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DL RUL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교체 시점 조기경보 → 현장 </a:t>
            </a:r>
            <a:r>
              <a:rPr kumimoji="0" lang="en-US" altLang="ko-KR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PdM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4753BABE-3BED-1D63-5E80-1AB5DC04BE01}"/>
              </a:ext>
            </a:extLst>
          </p:cNvPr>
          <p:cNvGrpSpPr/>
          <p:nvPr/>
        </p:nvGrpSpPr>
        <p:grpSpPr>
          <a:xfrm>
            <a:off x="465905" y="2101963"/>
            <a:ext cx="11457432" cy="2431893"/>
            <a:chOff x="274320" y="1136022"/>
            <a:chExt cx="11643360" cy="2402041"/>
          </a:xfrm>
        </p:grpSpPr>
        <p:sp>
          <p:nvSpPr>
            <p:cNvPr id="40" name="rect">
              <a:extLst>
                <a:ext uri="{FF2B5EF4-FFF2-40B4-BE49-F238E27FC236}">
                  <a16:creationId xmlns:a16="http://schemas.microsoft.com/office/drawing/2014/main" id="{E7817C48-448E-9FE5-FB81-EDA42413F94B}"/>
                </a:ext>
              </a:extLst>
            </p:cNvPr>
            <p:cNvSpPr/>
            <p:nvPr/>
          </p:nvSpPr>
          <p:spPr>
            <a:xfrm>
              <a:off x="274320" y="1511143"/>
              <a:ext cx="3698240" cy="457200"/>
            </a:xfrm>
            <a:prstGeom prst="rect">
              <a:avLst/>
            </a:prstGeom>
            <a:solidFill>
              <a:srgbClr val="1A4A7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06C5BC8-358C-AC92-03BA-E878D24E9571}"/>
                </a:ext>
              </a:extLst>
            </p:cNvPr>
            <p:cNvSpPr txBox="1"/>
            <p:nvPr/>
          </p:nvSpPr>
          <p:spPr>
            <a:xfrm>
              <a:off x="274320" y="1511143"/>
              <a:ext cx="369824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① ML 단계</a:t>
              </a:r>
            </a:p>
          </p:txBody>
        </p:sp>
        <p:sp>
          <p:nvSpPr>
            <p:cNvPr id="42" name="rect">
              <a:extLst>
                <a:ext uri="{FF2B5EF4-FFF2-40B4-BE49-F238E27FC236}">
                  <a16:creationId xmlns:a16="http://schemas.microsoft.com/office/drawing/2014/main" id="{90A555DC-80A9-209E-2DC2-3A9866CC6E63}"/>
                </a:ext>
              </a:extLst>
            </p:cNvPr>
            <p:cNvSpPr/>
            <p:nvPr/>
          </p:nvSpPr>
          <p:spPr>
            <a:xfrm>
              <a:off x="274320" y="1968343"/>
              <a:ext cx="3698240" cy="411480"/>
            </a:xfrm>
            <a:prstGeom prst="rect">
              <a:avLst/>
            </a:prstGeom>
            <a:solidFill>
              <a:srgbClr val="1A4A7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E4DEE19-428F-FFE1-29ED-6023683D7046}"/>
                </a:ext>
              </a:extLst>
            </p:cNvPr>
            <p:cNvSpPr txBox="1"/>
            <p:nvPr/>
          </p:nvSpPr>
          <p:spPr>
            <a:xfrm>
              <a:off x="274320" y="1968343"/>
              <a:ext cx="36982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</a:rPr>
                <a:t>정상 / 열화 분류</a:t>
              </a:r>
            </a:p>
          </p:txBody>
        </p:sp>
        <p:sp>
          <p:nvSpPr>
            <p:cNvPr id="44" name="rect">
              <a:extLst>
                <a:ext uri="{FF2B5EF4-FFF2-40B4-BE49-F238E27FC236}">
                  <a16:creationId xmlns:a16="http://schemas.microsoft.com/office/drawing/2014/main" id="{19B104EE-3C83-682F-940E-90E2F3B9576D}"/>
                </a:ext>
              </a:extLst>
            </p:cNvPr>
            <p:cNvSpPr/>
            <p:nvPr/>
          </p:nvSpPr>
          <p:spPr>
            <a:xfrm>
              <a:off x="274320" y="2379823"/>
              <a:ext cx="3698240" cy="1144976"/>
            </a:xfrm>
            <a:prstGeom prst="rect">
              <a:avLst/>
            </a:prstGeom>
            <a:solidFill>
              <a:srgbClr val="E8F0FE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AB60381-2906-62FC-A847-70AB89FF00EE}"/>
                </a:ext>
              </a:extLst>
            </p:cNvPr>
            <p:cNvSpPr txBox="1"/>
            <p:nvPr/>
          </p:nvSpPr>
          <p:spPr>
            <a:xfrm>
              <a:off x="347472" y="2425543"/>
              <a:ext cx="3588512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</a:rPr>
                <a:t>▸ 알고리즘: RandomForest · XGBoost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입력: 진동 RMS · 첨도 · 크레스트 인자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출력: 열화 확률(%) · 임계값 기반 판정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역할: '지금 이상이 있는가?' 1차 경보</a:t>
              </a:r>
            </a:p>
          </p:txBody>
        </p:sp>
        <p:sp>
          <p:nvSpPr>
            <p:cNvPr id="46" name="rect">
              <a:extLst>
                <a:ext uri="{FF2B5EF4-FFF2-40B4-BE49-F238E27FC236}">
                  <a16:creationId xmlns:a16="http://schemas.microsoft.com/office/drawing/2014/main" id="{842C1599-81AC-3FF5-8815-B72BA3BE877E}"/>
                </a:ext>
              </a:extLst>
            </p:cNvPr>
            <p:cNvSpPr/>
            <p:nvPr/>
          </p:nvSpPr>
          <p:spPr>
            <a:xfrm>
              <a:off x="4246880" y="1511143"/>
              <a:ext cx="3698240" cy="457200"/>
            </a:xfrm>
            <a:prstGeom prst="rect">
              <a:avLst/>
            </a:prstGeom>
            <a:solidFill>
              <a:srgbClr val="0A6A2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260EEE1-B5E6-7847-8AB8-B2B728E0C123}"/>
                </a:ext>
              </a:extLst>
            </p:cNvPr>
            <p:cNvSpPr txBox="1"/>
            <p:nvPr/>
          </p:nvSpPr>
          <p:spPr>
            <a:xfrm>
              <a:off x="4246880" y="1511143"/>
              <a:ext cx="369824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② DL 단계</a:t>
              </a:r>
            </a:p>
          </p:txBody>
        </p:sp>
        <p:sp>
          <p:nvSpPr>
            <p:cNvPr id="48" name="rect">
              <a:extLst>
                <a:ext uri="{FF2B5EF4-FFF2-40B4-BE49-F238E27FC236}">
                  <a16:creationId xmlns:a16="http://schemas.microsoft.com/office/drawing/2014/main" id="{8C9D28B9-B872-1785-2974-4D5A9844A2DD}"/>
                </a:ext>
              </a:extLst>
            </p:cNvPr>
            <p:cNvSpPr/>
            <p:nvPr/>
          </p:nvSpPr>
          <p:spPr>
            <a:xfrm>
              <a:off x="4246880" y="1968343"/>
              <a:ext cx="3698240" cy="411480"/>
            </a:xfrm>
            <a:prstGeom prst="rect">
              <a:avLst/>
            </a:prstGeom>
            <a:solidFill>
              <a:srgbClr val="0A6A2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3483E00-3B67-CE85-1B41-E43E036836FC}"/>
                </a:ext>
              </a:extLst>
            </p:cNvPr>
            <p:cNvSpPr txBox="1"/>
            <p:nvPr/>
          </p:nvSpPr>
          <p:spPr>
            <a:xfrm>
              <a:off x="4246880" y="1968343"/>
              <a:ext cx="36982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</a:rPr>
                <a:t>잔여수명(RUL) 정밀 예측</a:t>
              </a:r>
            </a:p>
          </p:txBody>
        </p:sp>
        <p:sp>
          <p:nvSpPr>
            <p:cNvPr id="50" name="rect">
              <a:extLst>
                <a:ext uri="{FF2B5EF4-FFF2-40B4-BE49-F238E27FC236}">
                  <a16:creationId xmlns:a16="http://schemas.microsoft.com/office/drawing/2014/main" id="{40029F22-09C0-ECB8-8C7B-32A5392BB8B5}"/>
                </a:ext>
              </a:extLst>
            </p:cNvPr>
            <p:cNvSpPr/>
            <p:nvPr/>
          </p:nvSpPr>
          <p:spPr>
            <a:xfrm>
              <a:off x="4246880" y="2379823"/>
              <a:ext cx="3698240" cy="1127271"/>
            </a:xfrm>
            <a:prstGeom prst="rect">
              <a:avLst/>
            </a:prstGeom>
            <a:solidFill>
              <a:srgbClr val="E6F7E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98643F0-BD28-085A-1BC1-36F831C9EDC2}"/>
                </a:ext>
              </a:extLst>
            </p:cNvPr>
            <p:cNvSpPr txBox="1"/>
            <p:nvPr/>
          </p:nvSpPr>
          <p:spPr>
            <a:xfrm>
              <a:off x="4320031" y="2425543"/>
              <a:ext cx="3687097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</a:rPr>
                <a:t>▸ 알고리즘: GRU v2 (Batch Norm + Layer Norm)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입력: 진동 시계열 시퀀스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출력: 잔여 가동 시간(분) 예측값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역할: '언제 교체해야 하는가?' 정밀 예측</a:t>
              </a:r>
            </a:p>
          </p:txBody>
        </p:sp>
        <p:sp>
          <p:nvSpPr>
            <p:cNvPr id="52" name="rect">
              <a:extLst>
                <a:ext uri="{FF2B5EF4-FFF2-40B4-BE49-F238E27FC236}">
                  <a16:creationId xmlns:a16="http://schemas.microsoft.com/office/drawing/2014/main" id="{0EA0A4B2-2E66-2269-2E38-10869B6D1EAB}"/>
                </a:ext>
              </a:extLst>
            </p:cNvPr>
            <p:cNvSpPr/>
            <p:nvPr/>
          </p:nvSpPr>
          <p:spPr>
            <a:xfrm>
              <a:off x="8219440" y="1511143"/>
              <a:ext cx="3698240" cy="457200"/>
            </a:xfrm>
            <a:prstGeom prst="rect">
              <a:avLst/>
            </a:prstGeom>
            <a:solidFill>
              <a:srgbClr val="8B0000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FF30FAC-C269-9063-D1EB-A54F12AF56D0}"/>
                </a:ext>
              </a:extLst>
            </p:cNvPr>
            <p:cNvSpPr txBox="1"/>
            <p:nvPr/>
          </p:nvSpPr>
          <p:spPr>
            <a:xfrm>
              <a:off x="8219440" y="1511143"/>
              <a:ext cx="369824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③ CNN + Grad-CAM</a:t>
              </a:r>
            </a:p>
          </p:txBody>
        </p:sp>
        <p:sp>
          <p:nvSpPr>
            <p:cNvPr id="54" name="rect">
              <a:extLst>
                <a:ext uri="{FF2B5EF4-FFF2-40B4-BE49-F238E27FC236}">
                  <a16:creationId xmlns:a16="http://schemas.microsoft.com/office/drawing/2014/main" id="{43661050-86D4-E55F-9D44-71A054788089}"/>
                </a:ext>
              </a:extLst>
            </p:cNvPr>
            <p:cNvSpPr/>
            <p:nvPr/>
          </p:nvSpPr>
          <p:spPr>
            <a:xfrm>
              <a:off x="8219440" y="1968343"/>
              <a:ext cx="3698240" cy="411480"/>
            </a:xfrm>
            <a:prstGeom prst="rect">
              <a:avLst/>
            </a:prstGeom>
            <a:solidFill>
              <a:srgbClr val="8B0000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77D3E57-AA1D-8882-F50A-1F2526609527}"/>
                </a:ext>
              </a:extLst>
            </p:cNvPr>
            <p:cNvSpPr txBox="1"/>
            <p:nvPr/>
          </p:nvSpPr>
          <p:spPr>
            <a:xfrm>
              <a:off x="8219440" y="1968343"/>
              <a:ext cx="36982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</a:rPr>
                <a:t>고장 부위·시점 시각화</a:t>
              </a:r>
            </a:p>
          </p:txBody>
        </p:sp>
        <p:sp>
          <p:nvSpPr>
            <p:cNvPr id="56" name="rect">
              <a:extLst>
                <a:ext uri="{FF2B5EF4-FFF2-40B4-BE49-F238E27FC236}">
                  <a16:creationId xmlns:a16="http://schemas.microsoft.com/office/drawing/2014/main" id="{72802C0F-3593-B838-C06F-A5F40436293A}"/>
                </a:ext>
              </a:extLst>
            </p:cNvPr>
            <p:cNvSpPr/>
            <p:nvPr/>
          </p:nvSpPr>
          <p:spPr>
            <a:xfrm>
              <a:off x="8219440" y="2379823"/>
              <a:ext cx="3698240" cy="1158240"/>
            </a:xfrm>
            <a:prstGeom prst="rect">
              <a:avLst/>
            </a:prstGeom>
            <a:solidFill>
              <a:srgbClr val="FDEDED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59D88A6-177E-8506-1664-2E3E950D7F98}"/>
                </a:ext>
              </a:extLst>
            </p:cNvPr>
            <p:cNvSpPr txBox="1"/>
            <p:nvPr/>
          </p:nvSpPr>
          <p:spPr>
            <a:xfrm>
              <a:off x="8292592" y="2425543"/>
              <a:ext cx="3625088" cy="9387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</a:rPr>
                <a:t>▸ 알고리즘: CNN (Conv2D × 3 레이어)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입력: 진동 신호 → matplotlib 이미지 변환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Grad-CAM: 마지막 Conv 기울기 역전파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  → 히트맵으로 '어느 시점이 위험했나' 표시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역할: XAI — CNN 판정 근거 시각화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B071E40-B5E4-EBAE-B683-9F80DCAB31C9}"/>
                </a:ext>
              </a:extLst>
            </p:cNvPr>
            <p:cNvSpPr txBox="1"/>
            <p:nvPr/>
          </p:nvSpPr>
          <p:spPr>
            <a:xfrm>
              <a:off x="621647" y="1136022"/>
              <a:ext cx="1111010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① ML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이상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탐지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  →   ② DL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잔여수명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예측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  →   ③ CNN + Grad-CAM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시각화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  →  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정비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의사결정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지원</a:t>
              </a:r>
              <a:endParaRPr sz="14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1B32F-3D66-4802-6DD4-7A7F4B280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D057F863-2313-0169-F778-1647BEDCE8BF}"/>
              </a:ext>
            </a:extLst>
          </p:cNvPr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분석 프로세스 </a:t>
            </a:r>
            <a:r>
              <a:rPr lang="en-US" altLang="ko-KR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– </a:t>
            </a:r>
            <a:r>
              <a:rPr lang="ko-KR" alt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입력 피처 명세</a:t>
            </a:r>
            <a:endParaRPr lang="en-US" sz="2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E19FDA9-EAF1-80DB-FF49-A2E2F45FCDB5}"/>
              </a:ext>
            </a:extLst>
          </p:cNvPr>
          <p:cNvSpPr/>
          <p:nvPr/>
        </p:nvSpPr>
        <p:spPr>
          <a:xfrm>
            <a:off x="175589" y="1207008"/>
            <a:ext cx="11739647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25235C04-36F0-2428-6B48-1E5C9BBF47B0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D095ED91-A19B-9F95-F2E3-AFD8B75C6AE8}"/>
              </a:ext>
            </a:extLst>
          </p:cNvPr>
          <p:cNvGraphicFramePr>
            <a:graphicFrameLocks noGrp="1"/>
          </p:cNvGraphicFramePr>
          <p:nvPr/>
        </p:nvGraphicFramePr>
        <p:xfrm>
          <a:off x="296090" y="1295408"/>
          <a:ext cx="11120850" cy="16132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53475">
                  <a:extLst>
                    <a:ext uri="{9D8B030D-6E8A-4147-A177-3AD203B41FA5}">
                      <a16:colId xmlns:a16="http://schemas.microsoft.com/office/drawing/2014/main" val="2603455264"/>
                    </a:ext>
                  </a:extLst>
                </a:gridCol>
                <a:gridCol w="1853475">
                  <a:extLst>
                    <a:ext uri="{9D8B030D-6E8A-4147-A177-3AD203B41FA5}">
                      <a16:colId xmlns:a16="http://schemas.microsoft.com/office/drawing/2014/main" val="3208655350"/>
                    </a:ext>
                  </a:extLst>
                </a:gridCol>
                <a:gridCol w="1853475">
                  <a:extLst>
                    <a:ext uri="{9D8B030D-6E8A-4147-A177-3AD203B41FA5}">
                      <a16:colId xmlns:a16="http://schemas.microsoft.com/office/drawing/2014/main" val="618776979"/>
                    </a:ext>
                  </a:extLst>
                </a:gridCol>
                <a:gridCol w="1853475">
                  <a:extLst>
                    <a:ext uri="{9D8B030D-6E8A-4147-A177-3AD203B41FA5}">
                      <a16:colId xmlns:a16="http://schemas.microsoft.com/office/drawing/2014/main" val="2841343765"/>
                    </a:ext>
                  </a:extLst>
                </a:gridCol>
                <a:gridCol w="1853475">
                  <a:extLst>
                    <a:ext uri="{9D8B030D-6E8A-4147-A177-3AD203B41FA5}">
                      <a16:colId xmlns:a16="http://schemas.microsoft.com/office/drawing/2014/main" val="3929491547"/>
                    </a:ext>
                  </a:extLst>
                </a:gridCol>
                <a:gridCol w="1853475">
                  <a:extLst>
                    <a:ext uri="{9D8B030D-6E8A-4147-A177-3AD203B41FA5}">
                      <a16:colId xmlns:a16="http://schemas.microsoft.com/office/drawing/2014/main" val="2894411172"/>
                    </a:ext>
                  </a:extLst>
                </a:gridCol>
              </a:tblGrid>
              <a:tr h="664675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+mn-ea"/>
                          <a:ea typeface="+mn-ea"/>
                        </a:rPr>
                        <a:t>① </a:t>
                      </a:r>
                      <a:r>
                        <a:rPr lang="ko-KR" sz="1400" dirty="0">
                          <a:effectLst/>
                          <a:latin typeface="+mn-ea"/>
                          <a:ea typeface="+mn-ea"/>
                        </a:rPr>
                        <a:t>데이터 수집</a:t>
                      </a:r>
                      <a:endParaRPr lang="ko-KR" sz="1600" dirty="0">
                        <a:effectLst/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+mn-ea"/>
                          <a:ea typeface="+mn-ea"/>
                        </a:rPr>
                        <a:t>② EDA </a:t>
                      </a:r>
                      <a:r>
                        <a:rPr lang="ko-KR" sz="1400" dirty="0">
                          <a:effectLst/>
                          <a:latin typeface="+mn-ea"/>
                          <a:ea typeface="+mn-ea"/>
                        </a:rPr>
                        <a:t>분석</a:t>
                      </a:r>
                      <a:endParaRPr lang="ko-KR" sz="1600" dirty="0">
                        <a:effectLst/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+mn-ea"/>
                          <a:ea typeface="+mn-ea"/>
                        </a:rPr>
                        <a:t>③ </a:t>
                      </a:r>
                      <a:r>
                        <a:rPr lang="ko-KR" sz="1400" dirty="0" err="1">
                          <a:effectLst/>
                          <a:latin typeface="+mn-ea"/>
                          <a:ea typeface="+mn-ea"/>
                        </a:rPr>
                        <a:t>전처리</a:t>
                      </a:r>
                      <a:r>
                        <a:rPr lang="en-US" sz="1400" dirty="0"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sz="1400" dirty="0">
                          <a:effectLst/>
                          <a:latin typeface="+mn-ea"/>
                          <a:ea typeface="+mn-ea"/>
                        </a:rPr>
                        <a:t>피처공학</a:t>
                      </a:r>
                      <a:endParaRPr lang="ko-KR" sz="1600" dirty="0">
                        <a:effectLst/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+mn-ea"/>
                          <a:ea typeface="+mn-ea"/>
                        </a:rPr>
                        <a:t>④ </a:t>
                      </a:r>
                      <a:r>
                        <a:rPr lang="ko-KR" sz="1400" dirty="0">
                          <a:effectLst/>
                          <a:latin typeface="+mn-ea"/>
                          <a:ea typeface="+mn-ea"/>
                        </a:rPr>
                        <a:t>모델 학습</a:t>
                      </a:r>
                      <a:endParaRPr lang="ko-KR" sz="1600" dirty="0">
                        <a:effectLst/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+mn-ea"/>
                          <a:ea typeface="+mn-ea"/>
                        </a:rPr>
                        <a:t>⑤ </a:t>
                      </a:r>
                      <a:r>
                        <a:rPr lang="ko-KR" sz="1400" dirty="0">
                          <a:effectLst/>
                          <a:latin typeface="+mn-ea"/>
                          <a:ea typeface="+mn-ea"/>
                        </a:rPr>
                        <a:t>성능 평가</a:t>
                      </a:r>
                      <a:endParaRPr lang="ko-KR" sz="1600" dirty="0">
                        <a:effectLst/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400">
                          <a:effectLst/>
                          <a:latin typeface="+mn-ea"/>
                          <a:ea typeface="+mn-ea"/>
                        </a:rPr>
                        <a:t>⑥ </a:t>
                      </a:r>
                      <a:r>
                        <a:rPr lang="ko-KR" sz="1400">
                          <a:effectLst/>
                          <a:latin typeface="+mn-ea"/>
                          <a:ea typeface="+mn-ea"/>
                        </a:rPr>
                        <a:t>배포</a:t>
                      </a:r>
                      <a:r>
                        <a:rPr lang="en-US" sz="1400"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sz="1400">
                          <a:effectLst/>
                          <a:latin typeface="+mn-ea"/>
                          <a:ea typeface="+mn-ea"/>
                        </a:rPr>
                        <a:t>서비스</a:t>
                      </a:r>
                      <a:endParaRPr lang="ko-KR" sz="1600">
                        <a:effectLst/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812942391"/>
                  </a:ext>
                </a:extLst>
              </a:tr>
              <a:tr h="948579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FEMTO-ST IEEE PHM 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공개</a:t>
                      </a:r>
                      <a:endParaRPr lang="ko-KR" sz="1400" dirty="0">
                        <a:effectLst/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진동 트렌드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피처 상관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·</a:t>
                      </a:r>
                    </a:p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RUL 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분포</a:t>
                      </a:r>
                      <a:endParaRPr lang="ko-KR" sz="1400" dirty="0">
                        <a:effectLst/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슬라이딩 윈도우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·</a:t>
                      </a:r>
                    </a:p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MinMaxScaler·VIF</a:t>
                      </a:r>
                      <a:endParaRPr lang="ko-KR" sz="1400" dirty="0">
                        <a:effectLst/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GRU + 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비교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 4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종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BN+LN, </a:t>
                      </a:r>
                      <a:r>
                        <a:rPr lang="ko-KR" sz="1200" dirty="0" err="1">
                          <a:effectLst/>
                          <a:latin typeface="+mn-ea"/>
                          <a:ea typeface="+mn-ea"/>
                        </a:rPr>
                        <a:t>그리드서치</a:t>
                      </a:r>
                      <a:endParaRPr lang="ko-KR" sz="1400" dirty="0">
                        <a:effectLst/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RMSE·MAE·OOS 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검증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RF 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대비 </a:t>
                      </a:r>
                      <a:r>
                        <a:rPr lang="ko-KR" sz="1200" dirty="0" err="1">
                          <a:effectLst/>
                          <a:latin typeface="+mn-ea"/>
                          <a:ea typeface="+mn-ea"/>
                        </a:rPr>
                        <a:t>개선율</a:t>
                      </a:r>
                      <a:endParaRPr lang="ko-KR" sz="1400" dirty="0">
                        <a:effectLst/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Streamlit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 5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탭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, Cloud 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배포</a:t>
                      </a:r>
                      <a:endParaRPr lang="ko-KR" sz="1400" dirty="0">
                        <a:effectLst/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833348562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2B05D154-75C1-8482-FD61-61BE435CC397}"/>
              </a:ext>
            </a:extLst>
          </p:cNvPr>
          <p:cNvSpPr txBox="1"/>
          <p:nvPr/>
        </p:nvSpPr>
        <p:spPr>
          <a:xfrm>
            <a:off x="296090" y="5497578"/>
            <a:ext cx="4589419" cy="1127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spcAft>
                <a:spcPts val="500"/>
              </a:spcAft>
            </a:pPr>
            <a:r>
              <a:rPr lang="ko-KR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입력 피처 명세</a:t>
            </a: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(12</a:t>
            </a:r>
            <a:r>
              <a:rPr lang="ko-KR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개</a:t>
            </a: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)</a:t>
            </a:r>
            <a:endParaRPr lang="ko-KR" altLang="ko-KR" sz="1300" b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  <a:p>
            <a:pPr latinLnBrk="1">
              <a:lnSpc>
                <a:spcPct val="115000"/>
              </a:lnSpc>
              <a:spcAft>
                <a:spcPts val="600"/>
              </a:spcAft>
              <a:buNone/>
            </a:pPr>
            <a:r>
              <a:rPr lang="ko-KR" altLang="en-US" sz="1150" dirty="0">
                <a:solidFill>
                  <a:srgbClr val="22303C"/>
                </a:solidFill>
                <a:latin typeface="+mn-ea"/>
                <a:cs typeface="Malgun Gothic" pitchFamily="34" charset="-120"/>
              </a:rPr>
              <a:t>→ </a:t>
            </a:r>
            <a:r>
              <a:rPr lang="ko-KR" altLang="ko-KR" sz="1150" dirty="0">
                <a:effectLst/>
                <a:latin typeface="+mn-ea"/>
                <a:cs typeface="맑은 고딕" panose="020B0503020000020004" pitchFamily="50" charset="-127"/>
              </a:rPr>
              <a:t>진동 신호에서 통계 피처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 9</a:t>
            </a:r>
            <a:r>
              <a:rPr lang="ko-KR" altLang="ko-KR" sz="1150" dirty="0">
                <a:effectLst/>
                <a:latin typeface="+mn-ea"/>
                <a:cs typeface="맑은 고딕" panose="020B0503020000020004" pitchFamily="50" charset="-127"/>
              </a:rPr>
              <a:t>개 추출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 </a:t>
            </a:r>
          </a:p>
          <a:p>
            <a:pPr latinLnBrk="1">
              <a:lnSpc>
                <a:spcPct val="115000"/>
              </a:lnSpc>
              <a:spcAft>
                <a:spcPts val="600"/>
              </a:spcAft>
              <a:buNone/>
            </a:pPr>
            <a:r>
              <a:rPr lang="ko-KR" altLang="en-US" sz="1150" dirty="0">
                <a:solidFill>
                  <a:srgbClr val="22303C"/>
                </a:solidFill>
                <a:latin typeface="+mn-ea"/>
                <a:cs typeface="Malgun Gothic" pitchFamily="34" charset="-120"/>
              </a:rPr>
              <a:t>→ </a:t>
            </a:r>
            <a:r>
              <a:rPr lang="ko-KR" altLang="ko-KR" sz="1150" dirty="0">
                <a:effectLst/>
                <a:latin typeface="+mn-ea"/>
                <a:cs typeface="맑은 고딕" panose="020B0503020000020004" pitchFamily="50" charset="-127"/>
              </a:rPr>
              <a:t>물리 도메인 기반 파생 피처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 3</a:t>
            </a:r>
            <a:r>
              <a:rPr lang="ko-KR" altLang="ko-KR" sz="1150" dirty="0">
                <a:effectLst/>
                <a:latin typeface="+mn-ea"/>
                <a:cs typeface="맑은 고딕" panose="020B0503020000020004" pitchFamily="50" charset="-127"/>
              </a:rPr>
              <a:t>개 추가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  <a:p>
            <a:pPr latinLnBrk="1">
              <a:lnSpc>
                <a:spcPct val="115000"/>
              </a:lnSpc>
              <a:spcAft>
                <a:spcPts val="600"/>
              </a:spcAft>
              <a:buNone/>
            </a:pPr>
            <a:r>
              <a:rPr lang="ko-KR" altLang="en-US" sz="1150" dirty="0">
                <a:solidFill>
                  <a:srgbClr val="22303C"/>
                </a:solidFill>
                <a:latin typeface="+mn-ea"/>
                <a:cs typeface="Malgun Gothic" pitchFamily="34" charset="-120"/>
              </a:rPr>
              <a:t>→ </a:t>
            </a:r>
            <a:r>
              <a:rPr lang="ko-KR" altLang="ko-KR" sz="1150" dirty="0">
                <a:effectLst/>
                <a:latin typeface="+mn-ea"/>
                <a:cs typeface="맑은 고딕" panose="020B0503020000020004" pitchFamily="50" charset="-127"/>
              </a:rPr>
              <a:t>총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 12</a:t>
            </a:r>
            <a:r>
              <a:rPr lang="ko-KR" altLang="ko-KR" sz="1150" dirty="0">
                <a:effectLst/>
                <a:latin typeface="+mn-ea"/>
                <a:cs typeface="맑은 고딕" panose="020B0503020000020004" pitchFamily="50" charset="-127"/>
              </a:rPr>
              <a:t>개 구성</a:t>
            </a:r>
          </a:p>
        </p:txBody>
      </p:sp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0B90ED96-FABE-772D-DA3E-0BACA83E27CF}"/>
              </a:ext>
            </a:extLst>
          </p:cNvPr>
          <p:cNvGraphicFramePr>
            <a:graphicFrameLocks noGrp="1"/>
          </p:cNvGraphicFramePr>
          <p:nvPr/>
        </p:nvGraphicFramePr>
        <p:xfrm>
          <a:off x="4545875" y="3291576"/>
          <a:ext cx="6871066" cy="30717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1132">
                  <a:extLst>
                    <a:ext uri="{9D8B030D-6E8A-4147-A177-3AD203B41FA5}">
                      <a16:colId xmlns:a16="http://schemas.microsoft.com/office/drawing/2014/main" val="2118025423"/>
                    </a:ext>
                  </a:extLst>
                </a:gridCol>
                <a:gridCol w="1394768">
                  <a:extLst>
                    <a:ext uri="{9D8B030D-6E8A-4147-A177-3AD203B41FA5}">
                      <a16:colId xmlns:a16="http://schemas.microsoft.com/office/drawing/2014/main" val="2802695600"/>
                    </a:ext>
                  </a:extLst>
                </a:gridCol>
                <a:gridCol w="807497">
                  <a:extLst>
                    <a:ext uri="{9D8B030D-6E8A-4147-A177-3AD203B41FA5}">
                      <a16:colId xmlns:a16="http://schemas.microsoft.com/office/drawing/2014/main" val="2326098918"/>
                    </a:ext>
                  </a:extLst>
                </a:gridCol>
                <a:gridCol w="3567669">
                  <a:extLst>
                    <a:ext uri="{9D8B030D-6E8A-4147-A177-3AD203B41FA5}">
                      <a16:colId xmlns:a16="http://schemas.microsoft.com/office/drawing/2014/main" val="1739870543"/>
                    </a:ext>
                  </a:extLst>
                </a:gridCol>
              </a:tblGrid>
              <a:tr h="236291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 dirty="0">
                          <a:effectLst/>
                        </a:rPr>
                        <a:t>피처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>
                          <a:effectLst/>
                        </a:rPr>
                        <a:t>정의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>
                          <a:effectLst/>
                        </a:rPr>
                        <a:t>구분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>
                          <a:effectLst/>
                        </a:rPr>
                        <a:t>도메인 의미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974590854"/>
                  </a:ext>
                </a:extLst>
              </a:tr>
              <a:tr h="236291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 dirty="0" err="1">
                          <a:effectLst/>
                        </a:rPr>
                        <a:t>h_rms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√mean(x²)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>
                          <a:effectLst/>
                        </a:rPr>
                        <a:t>원본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>
                          <a:effectLst/>
                        </a:rPr>
                        <a:t>수평 진동 에너지</a:t>
                      </a:r>
                      <a:r>
                        <a:rPr lang="en-US" sz="1050">
                          <a:effectLst/>
                        </a:rPr>
                        <a:t> (</a:t>
                      </a:r>
                      <a:r>
                        <a:rPr lang="ko-KR" sz="1050">
                          <a:effectLst/>
                        </a:rPr>
                        <a:t>핵심 지시자</a:t>
                      </a:r>
                      <a:r>
                        <a:rPr lang="en-US" sz="1050">
                          <a:effectLst/>
                        </a:rPr>
                        <a:t>)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754746378"/>
                  </a:ext>
                </a:extLst>
              </a:tr>
              <a:tr h="236291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h_kurt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 dirty="0">
                          <a:effectLst/>
                        </a:rPr>
                        <a:t>E[x⁴]/σ⁴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>
                          <a:effectLst/>
                        </a:rPr>
                        <a:t>원본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>
                          <a:effectLst/>
                        </a:rPr>
                        <a:t>수평 충격성</a:t>
                      </a:r>
                      <a:r>
                        <a:rPr lang="en-US" sz="1050">
                          <a:effectLst/>
                        </a:rPr>
                        <a:t> (≥3 = </a:t>
                      </a:r>
                      <a:r>
                        <a:rPr lang="ko-KR" sz="1050">
                          <a:effectLst/>
                        </a:rPr>
                        <a:t>결함 신호</a:t>
                      </a:r>
                      <a:r>
                        <a:rPr lang="en-US" sz="1050">
                          <a:effectLst/>
                        </a:rPr>
                        <a:t>)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4197506079"/>
                  </a:ext>
                </a:extLst>
              </a:tr>
              <a:tr h="236291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h_skew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E[x³]/σ³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>
                          <a:effectLst/>
                        </a:rPr>
                        <a:t>원본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>
                          <a:effectLst/>
                        </a:rPr>
                        <a:t>수평 분포 비대칭</a:t>
                      </a:r>
                      <a:r>
                        <a:rPr lang="en-US" sz="1050">
                          <a:effectLst/>
                        </a:rPr>
                        <a:t> — </a:t>
                      </a:r>
                      <a:r>
                        <a:rPr lang="ko-KR" sz="1050">
                          <a:effectLst/>
                        </a:rPr>
                        <a:t>초기 결함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909786620"/>
                  </a:ext>
                </a:extLst>
              </a:tr>
              <a:tr h="236291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h_crest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max|x|/RMS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 dirty="0">
                          <a:effectLst/>
                        </a:rPr>
                        <a:t>원본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>
                          <a:effectLst/>
                        </a:rPr>
                        <a:t>최대</a:t>
                      </a:r>
                      <a:r>
                        <a:rPr lang="en-US" sz="1050">
                          <a:effectLst/>
                        </a:rPr>
                        <a:t>/RMS </a:t>
                      </a:r>
                      <a:r>
                        <a:rPr lang="ko-KR" sz="1050">
                          <a:effectLst/>
                        </a:rPr>
                        <a:t>비율</a:t>
                      </a:r>
                      <a:r>
                        <a:rPr lang="en-US" sz="1050">
                          <a:effectLst/>
                        </a:rPr>
                        <a:t> — </a:t>
                      </a:r>
                      <a:r>
                        <a:rPr lang="ko-KR" sz="1050">
                          <a:effectLst/>
                        </a:rPr>
                        <a:t>피크 충격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584141776"/>
                  </a:ext>
                </a:extLst>
              </a:tr>
              <a:tr h="236291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v_rms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√mean(y²)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>
                          <a:effectLst/>
                        </a:rPr>
                        <a:t>원본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>
                          <a:effectLst/>
                        </a:rPr>
                        <a:t>수직 진동 에너지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752469118"/>
                  </a:ext>
                </a:extLst>
              </a:tr>
              <a:tr h="236291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v_kurt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 dirty="0">
                          <a:effectLst/>
                        </a:rPr>
                        <a:t>E[y⁴]/σ⁴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>
                          <a:effectLst/>
                        </a:rPr>
                        <a:t>원본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 dirty="0">
                          <a:effectLst/>
                        </a:rPr>
                        <a:t>수직 충격성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622875201"/>
                  </a:ext>
                </a:extLst>
              </a:tr>
              <a:tr h="236291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v_skew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E[y³]/σ³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>
                          <a:effectLst/>
                        </a:rPr>
                        <a:t>원본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 dirty="0">
                          <a:effectLst/>
                        </a:rPr>
                        <a:t>수직 분포 비대칭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636398134"/>
                  </a:ext>
                </a:extLst>
              </a:tr>
              <a:tr h="236291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v_crest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 dirty="0" err="1">
                          <a:effectLst/>
                        </a:rPr>
                        <a:t>max|y</a:t>
                      </a:r>
                      <a:r>
                        <a:rPr lang="en-US" sz="1050" dirty="0">
                          <a:effectLst/>
                        </a:rPr>
                        <a:t>|/RMS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>
                          <a:effectLst/>
                        </a:rPr>
                        <a:t>원본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 dirty="0">
                          <a:effectLst/>
                        </a:rPr>
                        <a:t>수직 피크 충격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3895271035"/>
                  </a:ext>
                </a:extLst>
              </a:tr>
              <a:tr h="236291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temp_mean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mean(T)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>
                          <a:effectLst/>
                        </a:rPr>
                        <a:t>원본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 dirty="0">
                          <a:effectLst/>
                        </a:rPr>
                        <a:t>마찰열</a:t>
                      </a:r>
                      <a:r>
                        <a:rPr lang="en-US" sz="1050" dirty="0">
                          <a:effectLst/>
                        </a:rPr>
                        <a:t> — </a:t>
                      </a:r>
                      <a:r>
                        <a:rPr lang="ko-KR" sz="1050" dirty="0">
                          <a:effectLst/>
                        </a:rPr>
                        <a:t>열화 진행 지시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311089189"/>
                  </a:ext>
                </a:extLst>
              </a:tr>
              <a:tr h="236291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energy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h_rms² + v_rms²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 b="1" dirty="0">
                          <a:solidFill>
                            <a:schemeClr val="accent1"/>
                          </a:solidFill>
                          <a:effectLst/>
                        </a:rPr>
                        <a:t>파생</a:t>
                      </a:r>
                      <a:endParaRPr lang="ko-KR" sz="1100" b="1" dirty="0">
                        <a:solidFill>
                          <a:schemeClr val="accent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 dirty="0">
                          <a:effectLst/>
                        </a:rPr>
                        <a:t>총 진동 에너지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214161984"/>
                  </a:ext>
                </a:extLst>
              </a:tr>
              <a:tr h="236291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health_idx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h_rms × h_kurt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 b="1" dirty="0">
                          <a:solidFill>
                            <a:schemeClr val="accent1"/>
                          </a:solidFill>
                          <a:effectLst/>
                        </a:rPr>
                        <a:t>파생</a:t>
                      </a:r>
                      <a:endParaRPr lang="ko-KR" sz="1100" b="1" dirty="0">
                        <a:solidFill>
                          <a:schemeClr val="accent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 dirty="0">
                          <a:effectLst/>
                        </a:rPr>
                        <a:t>건강 지수</a:t>
                      </a:r>
                      <a:r>
                        <a:rPr lang="en-US" sz="1050" dirty="0">
                          <a:effectLst/>
                        </a:rPr>
                        <a:t>(</a:t>
                      </a:r>
                      <a:r>
                        <a:rPr lang="ko-KR" sz="1050" dirty="0">
                          <a:effectLst/>
                        </a:rPr>
                        <a:t>크기</a:t>
                      </a:r>
                      <a:r>
                        <a:rPr lang="en-US" sz="1050" dirty="0">
                          <a:effectLst/>
                        </a:rPr>
                        <a:t>×</a:t>
                      </a:r>
                      <a:r>
                        <a:rPr lang="ko-KR" sz="1050" dirty="0">
                          <a:effectLst/>
                        </a:rPr>
                        <a:t>충격성</a:t>
                      </a:r>
                      <a:r>
                        <a:rPr lang="en-US" sz="1050" dirty="0">
                          <a:effectLst/>
                        </a:rPr>
                        <a:t>)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3052458399"/>
                  </a:ext>
                </a:extLst>
              </a:tr>
              <a:tr h="236291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rms_ratio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h_rms / v_rms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 b="1" dirty="0">
                          <a:solidFill>
                            <a:schemeClr val="accent1"/>
                          </a:solidFill>
                          <a:effectLst/>
                        </a:rPr>
                        <a:t>파생</a:t>
                      </a:r>
                      <a:endParaRPr lang="ko-KR" sz="1100" b="1" dirty="0">
                        <a:solidFill>
                          <a:schemeClr val="accent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 dirty="0">
                          <a:effectLst/>
                        </a:rPr>
                        <a:t>방향 불균형</a:t>
                      </a:r>
                      <a:r>
                        <a:rPr lang="en-US" sz="1050" dirty="0">
                          <a:effectLst/>
                        </a:rPr>
                        <a:t> — </a:t>
                      </a:r>
                      <a:r>
                        <a:rPr lang="ko-KR" sz="1050" dirty="0" err="1">
                          <a:effectLst/>
                        </a:rPr>
                        <a:t>편마모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348025099"/>
                  </a:ext>
                </a:extLst>
              </a:tr>
            </a:tbl>
          </a:graphicData>
        </a:graphic>
      </p:graphicFrame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D15C36BD-8F42-08AE-C9FA-F17647F04F34}"/>
              </a:ext>
            </a:extLst>
          </p:cNvPr>
          <p:cNvGraphicFramePr>
            <a:graphicFrameLocks noGrp="1"/>
          </p:cNvGraphicFramePr>
          <p:nvPr/>
        </p:nvGraphicFramePr>
        <p:xfrm>
          <a:off x="296095" y="3291575"/>
          <a:ext cx="3884020" cy="2117766"/>
        </p:xfrm>
        <a:graphic>
          <a:graphicData uri="http://schemas.openxmlformats.org/drawingml/2006/table">
            <a:tbl>
              <a:tblPr/>
              <a:tblGrid>
                <a:gridCol w="1161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2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25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5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IEEE PHM 2012 / FEMTO-ST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5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운전 조건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Cond.1~3 (1800/1650/1500rpm)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5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베어링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3 / demo 3 / 테스트(OOS</a:t>
                      </a:r>
                      <a:r>
                        <a:rPr lang="en-US" altLang="ko-KR" sz="900" dirty="0">
                          <a:solidFill>
                            <a:srgbClr val="6B7785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(*3)</a:t>
                      </a: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 11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5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1분 스냅샷, 수평·수직 가속도+온도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5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12개 (9 기본 + 3 파생)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5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run-to-failure RUL (분 단위)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0">
            <a:extLst>
              <a:ext uri="{FF2B5EF4-FFF2-40B4-BE49-F238E27FC236}">
                <a16:creationId xmlns:a16="http://schemas.microsoft.com/office/drawing/2014/main" id="{52644C5B-20DF-75BA-B1D8-86C5935D0B77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80B03501-31A8-E250-F8A9-F7123737CF96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68903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43F4F-3B32-98B1-580B-6758D8567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DACD4A0D-02B3-6847-FB1D-C4A029F34721}"/>
              </a:ext>
            </a:extLst>
          </p:cNvPr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분석 프로세스 </a:t>
            </a:r>
            <a:r>
              <a:rPr lang="en-US" altLang="ko-KR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- </a:t>
            </a:r>
            <a:r>
              <a:rPr lang="ko-KR" alt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탐색적 데이터 분석 </a:t>
            </a:r>
            <a:r>
              <a:rPr lang="en-US" altLang="ko-KR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(EDA)</a:t>
            </a:r>
            <a:endParaRPr lang="en-US" sz="23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61C0EF0D-94CA-34AB-93C3-2FF31EE98C3F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15C474-1F18-6CFC-AE71-2B007ED76347}"/>
              </a:ext>
            </a:extLst>
          </p:cNvPr>
          <p:cNvSpPr txBox="1"/>
          <p:nvPr/>
        </p:nvSpPr>
        <p:spPr>
          <a:xfrm>
            <a:off x="374467" y="1229127"/>
            <a:ext cx="5155476" cy="821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spcAft>
                <a:spcPts val="500"/>
              </a:spcAft>
            </a:pP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1. </a:t>
            </a: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피처 트렌드 분석</a:t>
            </a:r>
            <a:endParaRPr lang="ko-KR" altLang="ko-KR" sz="1300" b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  <a:p>
            <a:pPr latinLnBrk="1">
              <a:lnSpc>
                <a:spcPct val="115000"/>
              </a:lnSpc>
              <a:spcAft>
                <a:spcPts val="600"/>
              </a:spcAft>
              <a:buNone/>
            </a:pP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▸ 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h_rms×h_kurt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복합지수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(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health_idx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)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가 단일 피처보다 강한 신호를 제공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, </a:t>
            </a:r>
          </a:p>
          <a:p>
            <a:pPr latinLnBrk="1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altLang="ko-KR" sz="1150" dirty="0">
                <a:latin typeface="+mn-ea"/>
                <a:cs typeface="맑은 고딕" panose="020B0503020000020004" pitchFamily="50" charset="-127"/>
              </a:rPr>
              <a:t>   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말기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20~30%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구간에서 비선형 급상승 패턴이 관찰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2DD7D5D-BC08-D496-860B-051734DFCE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598054"/>
              </p:ext>
            </p:extLst>
          </p:nvPr>
        </p:nvGraphicFramePr>
        <p:xfrm>
          <a:off x="5529942" y="1395793"/>
          <a:ext cx="6064649" cy="17131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29121">
                  <a:extLst>
                    <a:ext uri="{9D8B030D-6E8A-4147-A177-3AD203B41FA5}">
                      <a16:colId xmlns:a16="http://schemas.microsoft.com/office/drawing/2014/main" val="3639521874"/>
                    </a:ext>
                  </a:extLst>
                </a:gridCol>
                <a:gridCol w="1231072">
                  <a:extLst>
                    <a:ext uri="{9D8B030D-6E8A-4147-A177-3AD203B41FA5}">
                      <a16:colId xmlns:a16="http://schemas.microsoft.com/office/drawing/2014/main" val="2834292871"/>
                    </a:ext>
                  </a:extLst>
                </a:gridCol>
                <a:gridCol w="1360658">
                  <a:extLst>
                    <a:ext uri="{9D8B030D-6E8A-4147-A177-3AD203B41FA5}">
                      <a16:colId xmlns:a16="http://schemas.microsoft.com/office/drawing/2014/main" val="3818874549"/>
                    </a:ext>
                  </a:extLst>
                </a:gridCol>
                <a:gridCol w="971899">
                  <a:extLst>
                    <a:ext uri="{9D8B030D-6E8A-4147-A177-3AD203B41FA5}">
                      <a16:colId xmlns:a16="http://schemas.microsoft.com/office/drawing/2014/main" val="825755490"/>
                    </a:ext>
                  </a:extLst>
                </a:gridCol>
                <a:gridCol w="971899">
                  <a:extLst>
                    <a:ext uri="{9D8B030D-6E8A-4147-A177-3AD203B41FA5}">
                      <a16:colId xmlns:a16="http://schemas.microsoft.com/office/drawing/2014/main" val="2081787565"/>
                    </a:ext>
                  </a:extLst>
                </a:gridCol>
              </a:tblGrid>
              <a:tr h="244738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피처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초기</a:t>
                      </a:r>
                      <a:r>
                        <a:rPr lang="en-US" sz="900">
                          <a:effectLst/>
                        </a:rPr>
                        <a:t>(</a:t>
                      </a:r>
                      <a:r>
                        <a:rPr lang="ko-KR" sz="900">
                          <a:effectLst/>
                        </a:rPr>
                        <a:t>정상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 dirty="0">
                          <a:effectLst/>
                        </a:rPr>
                        <a:t>말기</a:t>
                      </a:r>
                      <a:r>
                        <a:rPr lang="en-US" sz="900" dirty="0">
                          <a:effectLst/>
                        </a:rPr>
                        <a:t>(</a:t>
                      </a:r>
                      <a:r>
                        <a:rPr lang="ko-KR" sz="900" dirty="0">
                          <a:effectLst/>
                        </a:rPr>
                        <a:t>열화</a:t>
                      </a:r>
                      <a:r>
                        <a:rPr lang="en-US" sz="900" dirty="0">
                          <a:effectLst/>
                        </a:rPr>
                        <a:t>)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트렌드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예측 기여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3668641287"/>
                  </a:ext>
                </a:extLst>
              </a:tr>
              <a:tr h="244738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 dirty="0" err="1">
                          <a:effectLst/>
                        </a:rPr>
                        <a:t>h_rms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0.02~0.05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급격히 증가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↑ </a:t>
                      </a:r>
                      <a:r>
                        <a:rPr lang="ko-KR" sz="900">
                          <a:effectLst/>
                        </a:rPr>
                        <a:t>상승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★★★★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791766896"/>
                  </a:ext>
                </a:extLst>
              </a:tr>
              <a:tr h="244738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h_kurt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3.0~4.0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5.0 </a:t>
                      </a:r>
                      <a:r>
                        <a:rPr lang="ko-KR" sz="900">
                          <a:effectLst/>
                        </a:rPr>
                        <a:t>이상 급등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↑ </a:t>
                      </a:r>
                      <a:r>
                        <a:rPr lang="ko-KR" sz="900">
                          <a:effectLst/>
                        </a:rPr>
                        <a:t>상승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★★★★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556032625"/>
                  </a:ext>
                </a:extLst>
              </a:tr>
              <a:tr h="244738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health_idx(</a:t>
                      </a:r>
                      <a:r>
                        <a:rPr lang="ko-KR" sz="900">
                          <a:effectLst/>
                        </a:rPr>
                        <a:t>파생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낮음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급격히 증가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↑ </a:t>
                      </a:r>
                      <a:r>
                        <a:rPr lang="ko-KR" sz="900">
                          <a:effectLst/>
                        </a:rPr>
                        <a:t>상승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★★★★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364207339"/>
                  </a:ext>
                </a:extLst>
              </a:tr>
              <a:tr h="244738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energy(</a:t>
                      </a:r>
                      <a:r>
                        <a:rPr lang="ko-KR" sz="900">
                          <a:effectLst/>
                        </a:rPr>
                        <a:t>파생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 dirty="0">
                          <a:effectLst/>
                        </a:rPr>
                        <a:t>낮음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급격히 증가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↑ </a:t>
                      </a:r>
                      <a:r>
                        <a:rPr lang="ko-KR" sz="900">
                          <a:effectLst/>
                        </a:rPr>
                        <a:t>상승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★★★☆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179802505"/>
                  </a:ext>
                </a:extLst>
              </a:tr>
              <a:tr h="244738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temp_mean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~25°C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서서히 상승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↑ </a:t>
                      </a:r>
                      <a:r>
                        <a:rPr lang="ko-KR" sz="900">
                          <a:effectLst/>
                        </a:rPr>
                        <a:t>완만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★★☆☆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4090002730"/>
                  </a:ext>
                </a:extLst>
              </a:tr>
              <a:tr h="244738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rms_ratio(</a:t>
                      </a:r>
                      <a:r>
                        <a:rPr lang="ko-KR" sz="900">
                          <a:effectLst/>
                        </a:rPr>
                        <a:t>파생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~1.0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변동 증가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↕ </a:t>
                      </a:r>
                      <a:r>
                        <a:rPr lang="ko-KR" sz="900">
                          <a:effectLst/>
                        </a:rPr>
                        <a:t>불규칙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 dirty="0">
                          <a:effectLst/>
                        </a:rPr>
                        <a:t>★☆☆☆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2058339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DC144E1-765B-D0F0-BD70-CB1BC2CF2CE4}"/>
              </a:ext>
            </a:extLst>
          </p:cNvPr>
          <p:cNvSpPr txBox="1"/>
          <p:nvPr/>
        </p:nvSpPr>
        <p:spPr>
          <a:xfrm>
            <a:off x="374467" y="3630556"/>
            <a:ext cx="5155476" cy="1424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spcAft>
                <a:spcPts val="500"/>
              </a:spcAft>
            </a:pP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2. RUL </a:t>
            </a: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분포 분석</a:t>
            </a:r>
            <a:endParaRPr lang="ko-KR" altLang="ko-KR" sz="1300" b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  <a:p>
            <a:pPr latinLnBrk="1">
              <a:lnSpc>
                <a:spcPct val="115000"/>
              </a:lnSpc>
              <a:spcAft>
                <a:spcPts val="600"/>
              </a:spcAft>
              <a:buNone/>
            </a:pP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▸ 분포 형태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: RUL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은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0~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약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2,800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분 범위에 걸침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,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초기 정상 구간 비율이 높아 오른쪽으로 치우친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(right-skew)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분포로 열화 구간 데이터가 상대적으로 적음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  <a:p>
            <a:pPr latinLnBrk="1">
              <a:lnSpc>
                <a:spcPct val="115000"/>
              </a:lnSpc>
              <a:spcAft>
                <a:spcPts val="600"/>
              </a:spcAft>
              <a:buNone/>
            </a:pPr>
            <a:r>
              <a:rPr lang="ko-KR" altLang="en-US" sz="1150" dirty="0">
                <a:latin typeface="+mn-ea"/>
                <a:cs typeface="맑은 고딕" panose="020B0503020000020004" pitchFamily="50" charset="-127"/>
              </a:rPr>
              <a:t>▸ </a:t>
            </a:r>
            <a:r>
              <a:rPr lang="ko-KR" altLang="en-US" sz="1150" dirty="0" err="1">
                <a:latin typeface="+mn-ea"/>
                <a:cs typeface="맑은 고딕" panose="020B0503020000020004" pitchFamily="50" charset="-127"/>
              </a:rPr>
              <a:t>전처리</a:t>
            </a:r>
            <a:r>
              <a:rPr lang="ko-KR" altLang="en-US" sz="1150" dirty="0">
                <a:latin typeface="+mn-ea"/>
                <a:cs typeface="맑은 고딕" panose="020B0503020000020004" pitchFamily="50" charset="-127"/>
              </a:rPr>
              <a:t>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함의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: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베어링별 수명 편차가 커서 </a:t>
            </a:r>
            <a:r>
              <a:rPr lang="en-US" altLang="ko-KR" sz="115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MinMaxScaler</a:t>
            </a:r>
            <a:r>
              <a:rPr lang="en-US" altLang="ko-KR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독립 적용 필요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,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순차 시계열이므로 </a:t>
            </a:r>
            <a:r>
              <a:rPr lang="ko-KR" altLang="en-US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슬라이딩 윈도우 변환</a:t>
            </a:r>
            <a:r>
              <a:rPr lang="ko-KR" altLang="en-US" sz="1150" dirty="0">
                <a:latin typeface="+mn-ea"/>
              </a:rPr>
              <a:t>과</a:t>
            </a:r>
            <a:r>
              <a:rPr lang="ko-KR" altLang="en-US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15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GroupKFold</a:t>
            </a:r>
            <a:r>
              <a:rPr lang="en-US" altLang="ko-KR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베어링 분리</a:t>
            </a:r>
            <a:r>
              <a:rPr lang="en-US" altLang="ko-KR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중복 학습</a:t>
            </a:r>
            <a:r>
              <a:rPr lang="en-US" altLang="ko-KR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·</a:t>
            </a:r>
            <a:r>
              <a:rPr lang="ko-KR" altLang="en-US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누수 방지</a:t>
            </a:r>
            <a:r>
              <a:rPr lang="en-US" altLang="ko-KR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)</a:t>
            </a:r>
            <a:r>
              <a:rPr lang="ko-KR" altLang="en-US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가 필수</a:t>
            </a:r>
            <a:endParaRPr lang="en-US" altLang="ko-KR" sz="1150" b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F04E04D-A242-CE0E-BEAF-5517DB0138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495737"/>
              </p:ext>
            </p:extLst>
          </p:nvPr>
        </p:nvGraphicFramePr>
        <p:xfrm>
          <a:off x="5529942" y="3686329"/>
          <a:ext cx="6064649" cy="13820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25452">
                  <a:extLst>
                    <a:ext uri="{9D8B030D-6E8A-4147-A177-3AD203B41FA5}">
                      <a16:colId xmlns:a16="http://schemas.microsoft.com/office/drawing/2014/main" val="2891460750"/>
                    </a:ext>
                  </a:extLst>
                </a:gridCol>
                <a:gridCol w="4639197">
                  <a:extLst>
                    <a:ext uri="{9D8B030D-6E8A-4147-A177-3AD203B41FA5}">
                      <a16:colId xmlns:a16="http://schemas.microsoft.com/office/drawing/2014/main" val="1305413457"/>
                    </a:ext>
                  </a:extLst>
                </a:gridCol>
              </a:tblGrid>
              <a:tr h="226616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항목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내용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103080505"/>
                  </a:ext>
                </a:extLst>
              </a:tr>
              <a:tr h="231089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RUL </a:t>
                      </a:r>
                      <a:r>
                        <a:rPr lang="ko-KR" sz="900">
                          <a:effectLst/>
                        </a:rPr>
                        <a:t>범위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 ~ </a:t>
                      </a:r>
                      <a:r>
                        <a:rPr lang="ko-KR" sz="900">
                          <a:effectLst/>
                        </a:rPr>
                        <a:t>약</a:t>
                      </a:r>
                      <a:r>
                        <a:rPr lang="en-US" sz="900">
                          <a:effectLst/>
                        </a:rPr>
                        <a:t> 2,800</a:t>
                      </a:r>
                      <a:r>
                        <a:rPr lang="ko-KR" sz="900">
                          <a:effectLst/>
                        </a:rPr>
                        <a:t>분</a:t>
                      </a:r>
                      <a:r>
                        <a:rPr lang="en-US" sz="900">
                          <a:effectLst/>
                        </a:rPr>
                        <a:t> (</a:t>
                      </a:r>
                      <a:r>
                        <a:rPr lang="ko-KR" sz="900">
                          <a:effectLst/>
                        </a:rPr>
                        <a:t>베어링별 수명 상이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3280701064"/>
                  </a:ext>
                </a:extLst>
              </a:tr>
              <a:tr h="231089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분포 특성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오른쪽 편향</a:t>
                      </a:r>
                      <a:r>
                        <a:rPr lang="en-US" sz="900">
                          <a:effectLst/>
                        </a:rPr>
                        <a:t> (</a:t>
                      </a:r>
                      <a:r>
                        <a:rPr lang="ko-KR" sz="900">
                          <a:effectLst/>
                        </a:rPr>
                        <a:t>초기 정상 구간 비율 높음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75335128"/>
                  </a:ext>
                </a:extLst>
              </a:tr>
              <a:tr h="231089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스케일 불균형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 dirty="0">
                          <a:effectLst/>
                        </a:rPr>
                        <a:t>베어링간 수명 편차 크므로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MinMaxScaler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ko-KR" sz="900" dirty="0">
                          <a:effectLst/>
                        </a:rPr>
                        <a:t>독립 적용 필수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54830723"/>
                  </a:ext>
                </a:extLst>
              </a:tr>
              <a:tr h="231089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시계열 의존성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순차 시계열</a:t>
                      </a:r>
                      <a:r>
                        <a:rPr lang="en-US" sz="900">
                          <a:effectLst/>
                        </a:rPr>
                        <a:t> → </a:t>
                      </a:r>
                      <a:r>
                        <a:rPr lang="ko-KR" sz="900">
                          <a:effectLst/>
                        </a:rPr>
                        <a:t>슬라이딩 윈도우 시퀀스 변환 필요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703708394"/>
                  </a:ext>
                </a:extLst>
              </a:tr>
              <a:tr h="231089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그룹 분리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 dirty="0">
                          <a:effectLst/>
                        </a:rPr>
                        <a:t>동일 베어링 중복 학습 방지</a:t>
                      </a:r>
                      <a:r>
                        <a:rPr lang="en-US" sz="900" dirty="0">
                          <a:effectLst/>
                        </a:rPr>
                        <a:t> → </a:t>
                      </a:r>
                      <a:r>
                        <a:rPr lang="en-US" sz="900" dirty="0" err="1">
                          <a:effectLst/>
                        </a:rPr>
                        <a:t>GroupKFold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ko-KR" sz="900" dirty="0">
                          <a:effectLst/>
                        </a:rPr>
                        <a:t>적용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043880590"/>
                  </a:ext>
                </a:extLst>
              </a:tr>
            </a:tbl>
          </a:graphicData>
        </a:graphic>
      </p:graphicFrame>
      <p:sp>
        <p:nvSpPr>
          <p:cNvPr id="6" name="Shape 0">
            <a:extLst>
              <a:ext uri="{FF2B5EF4-FFF2-40B4-BE49-F238E27FC236}">
                <a16:creationId xmlns:a16="http://schemas.microsoft.com/office/drawing/2014/main" id="{251A13AC-385F-2C4C-28A9-CCF45B928C41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761036FD-266D-AF35-A1D0-79A6B8EE3B5B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88029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분석 프로세스 </a:t>
            </a:r>
            <a:r>
              <a:rPr lang="en-US" altLang="ko-KR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- </a:t>
            </a:r>
            <a:r>
              <a:rPr lang="en-US" sz="23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피처·VIF</a:t>
            </a: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3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VIF 12개 전체 선택 · CV vs OOS 일반화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VIF 분석 — 12개 전체 선택 (모두 &lt; 10)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5440680" cy="192024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VIF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VIF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h_rms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energy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h_kurt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health_idx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v_rms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rms_ratio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h_crest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temp_mean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016819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h_rms는 제거 대상이 </a:t>
            </a:r>
            <a:r>
              <a:rPr lang="en-US" sz="1100" i="1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아니라</a:t>
            </a: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b="1" i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RF·XGB 피처 중요도 1위(0.52·0.94</a:t>
            </a:r>
            <a:r>
              <a:rPr lang="en-US" sz="1100" i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)</a:t>
            </a:r>
            <a:endParaRPr lang="en-US" sz="1250" i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355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분류 — CV(학습 3) vs OOS(테스트 11)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691640"/>
          <a:ext cx="5394960" cy="153619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CV F1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Recall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F1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AUC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LogReg 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0.295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0.890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0.817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RandomForest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0.487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0.505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0.920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XGBoost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0.943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0.513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0.758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6305040" y="3288358"/>
            <a:ext cx="5394960" cy="5882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</a:t>
            </a:r>
            <a:r>
              <a:rPr lang="en-US" sz="1100" b="1" i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CV 우위 RF·XGB가 OOS Recall 0.5대로 </a:t>
            </a:r>
            <a:r>
              <a:rPr lang="en-US" sz="1100" b="1" i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급락</a:t>
            </a:r>
            <a:r>
              <a:rPr lang="en-US" sz="1100" b="1" i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en-US" sz="1100" b="1" i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과적합</a:t>
            </a:r>
            <a:r>
              <a:rPr lang="en-US" sz="1100" b="1" i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)</a:t>
            </a:r>
          </a:p>
          <a:p>
            <a:pPr marL="0" indent="0">
              <a:buNone/>
            </a:pPr>
            <a:r>
              <a:rPr lang="en-US" sz="1100" b="1" i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   &amp; </a:t>
            </a:r>
            <a:r>
              <a:rPr lang="en-US" sz="1100" b="1" i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단순</a:t>
            </a:r>
            <a:r>
              <a:rPr lang="en-US" sz="1100" b="1" i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LR(</a:t>
            </a:r>
            <a:r>
              <a:rPr lang="en-US" sz="1100" b="1" i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LogReg</a:t>
            </a:r>
            <a:r>
              <a:rPr lang="en-US" sz="1100" b="1" i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)이 새 베어링에 잘 전이 → OOS </a:t>
            </a:r>
            <a:r>
              <a:rPr lang="en-US" sz="1100" b="1" i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최적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4269369"/>
            <a:ext cx="11064240" cy="1828800"/>
          </a:xfrm>
          <a:prstGeom prst="roundRect">
            <a:avLst>
              <a:gd name="adj" fmla="val 3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868680" y="4419595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RandomForest 피처 중요도 (상위)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68680" y="4795369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h_rms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240280" y="4813657"/>
            <a:ext cx="4349252" cy="1828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6635252" y="4786225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0.517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68680" y="5042257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h_kurt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240280" y="5060545"/>
            <a:ext cx="1901220" cy="1828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4187220" y="5033113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0.226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868680" y="5289145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v_rms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2240280" y="5307433"/>
            <a:ext cx="1320759" cy="182880"/>
          </a:xfrm>
          <a:prstGeom prst="rect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3606759" y="5280001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0.157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868680" y="5536033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h_crest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2240280" y="5554321"/>
            <a:ext cx="437449" cy="182880"/>
          </a:xfrm>
          <a:prstGeom prst="rect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2"/>
          <p:cNvSpPr/>
          <p:nvPr/>
        </p:nvSpPr>
        <p:spPr>
          <a:xfrm>
            <a:off x="2723449" y="5526889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0.052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868680" y="5782921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h_skew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2240280" y="5801209"/>
            <a:ext cx="260787" cy="182880"/>
          </a:xfrm>
          <a:prstGeom prst="rect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5"/>
          <p:cNvSpPr/>
          <p:nvPr/>
        </p:nvSpPr>
        <p:spPr>
          <a:xfrm>
            <a:off x="2546787" y="5773777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0.031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9445752" y="639426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AAF4E-89A9-A220-27D4-364CF5A2B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E96CF49-0AA8-42A0-53BD-CCDEAEEF81E9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B55252C-47D4-56E8-4B15-DF3298914F32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BDD138F-39DF-8EE1-E59E-719EA7D4E9A6}"/>
              </a:ext>
            </a:extLst>
          </p:cNvPr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분석 프로세스 </a:t>
            </a:r>
            <a:r>
              <a:rPr lang="en-US" altLang="ko-KR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- </a:t>
            </a:r>
            <a:r>
              <a:rPr lang="ko-KR" altLang="en-US" sz="23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</a:t>
            </a:r>
            <a:r>
              <a:rPr lang="ko-KR" alt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및 피처 엔지니어링</a:t>
            </a:r>
            <a:endParaRPr lang="en-US" sz="23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A298CCBB-0ACF-371A-43DA-8215B7D587BD}"/>
              </a:ext>
            </a:extLst>
          </p:cNvPr>
          <p:cNvSpPr/>
          <p:nvPr/>
        </p:nvSpPr>
        <p:spPr>
          <a:xfrm>
            <a:off x="9445752" y="6490065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AF42E04-E43D-238B-1784-630B58C80267}"/>
              </a:ext>
            </a:extLst>
          </p:cNvPr>
          <p:cNvSpPr txBox="1"/>
          <p:nvPr/>
        </p:nvSpPr>
        <p:spPr>
          <a:xfrm>
            <a:off x="374467" y="1110884"/>
            <a:ext cx="5155476" cy="1671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spcAft>
                <a:spcPts val="500"/>
              </a:spcAft>
            </a:pP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1. </a:t>
            </a:r>
            <a:r>
              <a:rPr lang="ko-KR" altLang="en-US" sz="13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전처리</a:t>
            </a: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파이프라인</a:t>
            </a:r>
            <a:endParaRPr lang="ko-KR" altLang="ko-KR" sz="1300" b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  <a:p>
            <a:pPr marL="171450" indent="-171450" latinLnBrk="1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가속도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CSV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에서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RMS·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첨도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·</a:t>
            </a:r>
            <a:r>
              <a:rPr lang="ko-KR" altLang="en-US" sz="1150" dirty="0" err="1">
                <a:effectLst/>
                <a:latin typeface="+mn-ea"/>
                <a:cs typeface="맑은 고딕" panose="020B0503020000020004" pitchFamily="50" charset="-127"/>
              </a:rPr>
              <a:t>왜도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·</a:t>
            </a:r>
            <a:r>
              <a:rPr lang="ko-KR" altLang="en-US" sz="1150" dirty="0" err="1">
                <a:effectLst/>
                <a:latin typeface="+mn-ea"/>
                <a:cs typeface="맑은 고딕" panose="020B0503020000020004" pitchFamily="50" charset="-127"/>
              </a:rPr>
              <a:t>크레스트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 등 스냅샷당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9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개 기본 피처 추출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  <a:p>
            <a:pPr marL="171450" indent="-171450" latinLnBrk="1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energy·health_idx·rms_ratio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파생을 더해 총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12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개 피처를 </a:t>
            </a:r>
            <a:r>
              <a:rPr lang="ko-KR" altLang="en-US" sz="1150" dirty="0" err="1">
                <a:effectLst/>
                <a:latin typeface="+mn-ea"/>
                <a:cs typeface="맑은 고딕" panose="020B0503020000020004" pitchFamily="50" charset="-127"/>
              </a:rPr>
              <a:t>만듬</a:t>
            </a:r>
            <a:endParaRPr lang="en-US" altLang="ko-KR" sz="1150" dirty="0">
              <a:latin typeface="+mn-ea"/>
              <a:cs typeface="맑은 고딕" panose="020B0503020000020004" pitchFamily="50" charset="-127"/>
            </a:endParaRPr>
          </a:p>
          <a:p>
            <a:pPr marL="171450" indent="-171450" latinLnBrk="1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온도 </a:t>
            </a:r>
            <a:r>
              <a:rPr lang="ko-KR" altLang="en-US" sz="1150" dirty="0" err="1">
                <a:effectLst/>
                <a:latin typeface="+mn-ea"/>
                <a:cs typeface="맑은 고딕" panose="020B0503020000020004" pitchFamily="50" charset="-127"/>
              </a:rPr>
              <a:t>결측은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3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단계 처리로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0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건까지 메움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  <a:p>
            <a:pPr marL="171450" indent="-171450" latinLnBrk="1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VIF&lt;10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기준으로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12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개 피처를 모두 채택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  <a:p>
            <a:pPr marL="171450" indent="-171450" latinLnBrk="1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train(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학습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3) / test(OOS 11)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 </a:t>
            </a:r>
            <a:r>
              <a:rPr lang="ko-KR" altLang="en-US" sz="1150" dirty="0">
                <a:latin typeface="+mn-ea"/>
              </a:rPr>
              <a:t>베어링 단위 완전 분리해 데이터 누수 차단</a:t>
            </a:r>
            <a:endParaRPr lang="en-US" altLang="ko-KR" sz="115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968624-1C2D-CB99-3EFC-551A55B6E7F2}"/>
              </a:ext>
            </a:extLst>
          </p:cNvPr>
          <p:cNvSpPr txBox="1"/>
          <p:nvPr/>
        </p:nvSpPr>
        <p:spPr>
          <a:xfrm>
            <a:off x="374467" y="3934414"/>
            <a:ext cx="5155476" cy="1382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spcAft>
                <a:spcPts val="500"/>
              </a:spcAft>
            </a:pP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3. </a:t>
            </a: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슬라이딩 윈도우 시퀀스</a:t>
            </a:r>
            <a:endParaRPr lang="ko-KR" altLang="ko-KR" sz="1300" b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  <a:p>
            <a:pPr marL="171450" indent="-171450" latinLnBrk="1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최종 모델은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window 20·stride 1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로 시퀀스를 구성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  <a:p>
            <a:pPr marL="171450" indent="-171450" latinLnBrk="1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(N, 20, 12)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입력과 윈도우 끝 다음 시점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RUL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을 라벨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(N,)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로 사용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  <a:p>
            <a:pPr latinLnBrk="1">
              <a:lnSpc>
                <a:spcPct val="115000"/>
              </a:lnSpc>
              <a:spcAft>
                <a:spcPts val="600"/>
              </a:spcAft>
            </a:pPr>
            <a:r>
              <a:rPr lang="en-US" altLang="ko-KR" sz="1150" dirty="0">
                <a:latin typeface="+mn-ea"/>
                <a:cs typeface="맑은 고딕" panose="020B0503020000020004" pitchFamily="50" charset="-127"/>
              </a:rPr>
              <a:t> </a:t>
            </a:r>
            <a:r>
              <a:rPr lang="ko-KR" altLang="en-US" sz="1150" dirty="0">
                <a:latin typeface="+mn-ea"/>
                <a:cs typeface="맑은 고딕" panose="020B0503020000020004" pitchFamily="50" charset="-127"/>
              </a:rPr>
              <a:t>  </a:t>
            </a:r>
            <a:r>
              <a:rPr lang="en-US" altLang="ko-KR" sz="1150" dirty="0">
                <a:latin typeface="+mn-ea"/>
                <a:cs typeface="맑은 고딕" panose="020B0503020000020004" pitchFamily="50" charset="-127"/>
              </a:rPr>
              <a:t>(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5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종 비교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·RF-LSTM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은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window 30)</a:t>
            </a:r>
          </a:p>
          <a:p>
            <a:pPr marL="171450" indent="-171450" latinLnBrk="1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그룹 키는 베어링 이름으로 두어 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GroupKFold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가 베어링 단위로 분리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4BB96B2-607D-7E5A-1885-EBC606133E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076168"/>
              </p:ext>
            </p:extLst>
          </p:nvPr>
        </p:nvGraphicFramePr>
        <p:xfrm>
          <a:off x="5590466" y="1131884"/>
          <a:ext cx="5943600" cy="12793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1870135473"/>
                    </a:ext>
                  </a:extLst>
                </a:gridCol>
                <a:gridCol w="3594100">
                  <a:extLst>
                    <a:ext uri="{9D8B030D-6E8A-4147-A177-3AD203B41FA5}">
                      <a16:colId xmlns:a16="http://schemas.microsoft.com/office/drawing/2014/main" val="3219037835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513656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단계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처리 내용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결과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483498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피처 추출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acc CSV → RMS/Kurtosis/Skewness/Crest, temp CSV → </a:t>
                      </a:r>
                      <a:r>
                        <a:rPr lang="ko-KR" sz="900">
                          <a:effectLst/>
                        </a:rPr>
                        <a:t>평균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스냅샷당</a:t>
                      </a:r>
                      <a:r>
                        <a:rPr lang="en-US" sz="900">
                          <a:effectLst/>
                        </a:rPr>
                        <a:t> 9</a:t>
                      </a:r>
                      <a:r>
                        <a:rPr lang="ko-KR" sz="900">
                          <a:effectLst/>
                        </a:rPr>
                        <a:t>개 기본 피처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16388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물리 파생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energy / health_idx / rms_ratio </a:t>
                      </a:r>
                      <a:r>
                        <a:rPr lang="ko-KR" sz="900">
                          <a:effectLst/>
                        </a:rPr>
                        <a:t>추가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12</a:t>
                      </a:r>
                      <a:r>
                        <a:rPr lang="ko-KR" sz="900">
                          <a:effectLst/>
                        </a:rPr>
                        <a:t>개 최종 피처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62975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온도 결측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① </a:t>
                      </a:r>
                      <a:r>
                        <a:rPr lang="ko-KR" sz="900">
                          <a:effectLst/>
                        </a:rPr>
                        <a:t>선형보간</a:t>
                      </a:r>
                      <a:r>
                        <a:rPr lang="en-US" sz="900">
                          <a:effectLst/>
                        </a:rPr>
                        <a:t> → ② bfill/ffill → ③ median (3</a:t>
                      </a:r>
                      <a:r>
                        <a:rPr lang="ko-KR" sz="900">
                          <a:effectLst/>
                        </a:rPr>
                        <a:t>단계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결측</a:t>
                      </a:r>
                      <a:r>
                        <a:rPr lang="en-US" sz="900">
                          <a:effectLst/>
                        </a:rPr>
                        <a:t> 0</a:t>
                      </a:r>
                      <a:r>
                        <a:rPr lang="ko-KR" sz="900">
                          <a:effectLst/>
                        </a:rPr>
                        <a:t>건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4728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VIF </a:t>
                      </a:r>
                      <a:r>
                        <a:rPr lang="ko-KR" sz="900">
                          <a:effectLst/>
                        </a:rPr>
                        <a:t>분석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statsmodels VIF &lt; 10 </a:t>
                      </a:r>
                      <a:r>
                        <a:rPr lang="ko-KR" sz="900">
                          <a:effectLst/>
                        </a:rPr>
                        <a:t>기준 선택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12</a:t>
                      </a:r>
                      <a:r>
                        <a:rPr lang="ko-KR" sz="900">
                          <a:effectLst/>
                        </a:rPr>
                        <a:t>개 전체 선택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89094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데이터 분리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train(</a:t>
                      </a:r>
                      <a:r>
                        <a:rPr lang="ko-KR" sz="900">
                          <a:effectLst/>
                        </a:rPr>
                        <a:t>학습</a:t>
                      </a:r>
                      <a:r>
                        <a:rPr lang="en-US" sz="900">
                          <a:effectLst/>
                        </a:rPr>
                        <a:t> 3) / test(OOS 11) </a:t>
                      </a:r>
                      <a:r>
                        <a:rPr lang="ko-KR" sz="900">
                          <a:effectLst/>
                        </a:rPr>
                        <a:t>베어링 완전 분리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 dirty="0">
                          <a:effectLst/>
                        </a:rPr>
                        <a:t>데이터 누수 차단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319068011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434EB4B-DB3F-A67C-A996-7F9C938DA5C7}"/>
              </a:ext>
            </a:extLst>
          </p:cNvPr>
          <p:cNvSpPr txBox="1"/>
          <p:nvPr/>
        </p:nvSpPr>
        <p:spPr>
          <a:xfrm>
            <a:off x="374466" y="2885198"/>
            <a:ext cx="11295019" cy="822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spcAft>
                <a:spcPts val="500"/>
              </a:spcAft>
            </a:pP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2. </a:t>
            </a: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온도 결측 처리 </a:t>
            </a: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— 3</a:t>
            </a: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단계</a:t>
            </a:r>
            <a:endParaRPr lang="ko-KR" altLang="ko-KR" sz="1300" b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  <a:p>
            <a:pPr latinLnBrk="1">
              <a:lnSpc>
                <a:spcPct val="115000"/>
              </a:lnSpc>
              <a:spcAft>
                <a:spcPts val="600"/>
              </a:spcAft>
              <a:buNone/>
            </a:pP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①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베어링별 선형 보간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interpolate(method='linear') —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시계열 연속성 보존  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 ②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양방향 채움 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bfill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().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ffill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() —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시작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·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끝 결측 처리</a:t>
            </a:r>
          </a:p>
          <a:p>
            <a:pPr latinLnBrk="1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 ③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전체 중앙값 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fillna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(median()) —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해당 베어링 온도 파일 전무 시 최후 수단 ▸ 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SimpleImputer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(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전역 평균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)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는 온도 상승 경향성을 무시하므로 사용 안함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BAFF24B-D9EB-60A5-88EC-0DBA94CB86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634063"/>
              </p:ext>
            </p:extLst>
          </p:nvPr>
        </p:nvGraphicFramePr>
        <p:xfrm>
          <a:off x="5529943" y="3989698"/>
          <a:ext cx="5943600" cy="12752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9500">
                  <a:extLst>
                    <a:ext uri="{9D8B030D-6E8A-4147-A177-3AD203B41FA5}">
                      <a16:colId xmlns:a16="http://schemas.microsoft.com/office/drawing/2014/main" val="4126955163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839321539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26545648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항목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 dirty="0" err="1">
                          <a:effectLst/>
                        </a:rPr>
                        <a:t>설정값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근거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4027460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Window size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20 (</a:t>
                      </a:r>
                      <a:r>
                        <a:rPr lang="ko-KR" sz="900">
                          <a:effectLst/>
                        </a:rPr>
                        <a:t>최종</a:t>
                      </a:r>
                      <a:r>
                        <a:rPr lang="en-US" sz="900">
                          <a:effectLst/>
                        </a:rPr>
                        <a:t>) / 30 (5</a:t>
                      </a:r>
                      <a:r>
                        <a:rPr lang="ko-KR" sz="900">
                          <a:effectLst/>
                        </a:rPr>
                        <a:t>종 비교</a:t>
                      </a:r>
                      <a:r>
                        <a:rPr lang="en-US" sz="900">
                          <a:effectLst/>
                        </a:rPr>
                        <a:t>·RF-LSTM)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그리드서치 결과 최종 모델은</a:t>
                      </a:r>
                      <a:r>
                        <a:rPr lang="en-US" sz="900">
                          <a:effectLst/>
                        </a:rPr>
                        <a:t> 20 </a:t>
                      </a:r>
                      <a:r>
                        <a:rPr lang="ko-KR" sz="900">
                          <a:effectLst/>
                        </a:rPr>
                        <a:t>채택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4036610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Stride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1 (</a:t>
                      </a:r>
                      <a:r>
                        <a:rPr lang="ko-KR" sz="900">
                          <a:effectLst/>
                        </a:rPr>
                        <a:t>분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1</a:t>
                      </a:r>
                      <a:r>
                        <a:rPr lang="ko-KR" sz="900">
                          <a:effectLst/>
                        </a:rPr>
                        <a:t>분 간격</a:t>
                      </a:r>
                      <a:r>
                        <a:rPr lang="en-US" sz="900">
                          <a:effectLst/>
                        </a:rPr>
                        <a:t> → stride=1</a:t>
                      </a:r>
                      <a:r>
                        <a:rPr lang="ko-KR" sz="900">
                          <a:effectLst/>
                        </a:rPr>
                        <a:t>로 최대 학습 샘플 확보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677236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X shape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(N, W, 12)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N=</a:t>
                      </a:r>
                      <a:r>
                        <a:rPr lang="ko-KR" sz="900">
                          <a:effectLst/>
                        </a:rPr>
                        <a:t>시퀀스 수</a:t>
                      </a:r>
                      <a:r>
                        <a:rPr lang="en-US" sz="900">
                          <a:effectLst/>
                        </a:rPr>
                        <a:t>, W=</a:t>
                      </a:r>
                      <a:r>
                        <a:rPr lang="ko-KR" sz="900">
                          <a:effectLst/>
                        </a:rPr>
                        <a:t>윈도우</a:t>
                      </a:r>
                      <a:r>
                        <a:rPr lang="en-US" sz="900">
                          <a:effectLst/>
                        </a:rPr>
                        <a:t>, 12=</a:t>
                      </a:r>
                      <a:r>
                        <a:rPr lang="ko-KR" sz="900">
                          <a:effectLst/>
                        </a:rPr>
                        <a:t>피처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498943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y shape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(N,)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윈도우 끝 다음 시점</a:t>
                      </a:r>
                      <a:r>
                        <a:rPr lang="en-US" sz="900">
                          <a:effectLst/>
                        </a:rPr>
                        <a:t> RUL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816045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Group key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 dirty="0">
                          <a:effectLst/>
                        </a:rPr>
                        <a:t>bearing </a:t>
                      </a:r>
                      <a:r>
                        <a:rPr lang="ko-KR" sz="900" dirty="0">
                          <a:effectLst/>
                        </a:rPr>
                        <a:t>이름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 dirty="0" err="1">
                          <a:effectLst/>
                        </a:rPr>
                        <a:t>GroupKFold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ko-KR" sz="900" dirty="0">
                          <a:effectLst/>
                        </a:rPr>
                        <a:t>베어링 단위 분리 기준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3169152857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FC861E9E-9C63-47A9-1EB5-F2DA9E733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943" y="5413461"/>
            <a:ext cx="6004123" cy="10955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09834FD-0121-ABF2-F914-6D254D69E008}"/>
              </a:ext>
            </a:extLst>
          </p:cNvPr>
          <p:cNvSpPr txBox="1"/>
          <p:nvPr/>
        </p:nvSpPr>
        <p:spPr>
          <a:xfrm>
            <a:off x="403641" y="5469565"/>
            <a:ext cx="5155476" cy="829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spcAft>
                <a:spcPts val="500"/>
              </a:spcAft>
            </a:pP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4. </a:t>
            </a: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스케일링 전략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 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  <a:p>
            <a:pPr marL="171450" indent="-171450" latinLnBrk="1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RUL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값의 베어링간 편차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(0~2,800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분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)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가 큼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  <a:p>
            <a:pPr latinLnBrk="1">
              <a:lnSpc>
                <a:spcPct val="115000"/>
              </a:lnSpc>
              <a:spcAft>
                <a:spcPts val="600"/>
              </a:spcAft>
            </a:pPr>
            <a:r>
              <a:rPr lang="en-US" altLang="ko-KR" sz="1150" dirty="0">
                <a:latin typeface="+mn-ea"/>
                <a:cs typeface="맑은 고딕" panose="020B0503020000020004" pitchFamily="50" charset="-127"/>
              </a:rPr>
              <a:t>    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latin typeface="+mn-ea"/>
              </a:rPr>
              <a:t>X·y</a:t>
            </a:r>
            <a:r>
              <a:rPr lang="ko-KR" altLang="en-US" sz="1150" dirty="0">
                <a:latin typeface="+mn-ea"/>
              </a:rPr>
              <a:t>를 독립 스케일링 </a:t>
            </a:r>
            <a:r>
              <a:rPr lang="en-US" altLang="ko-KR" sz="1150" dirty="0">
                <a:latin typeface="+mn-ea"/>
              </a:rPr>
              <a:t>→ </a:t>
            </a:r>
            <a:r>
              <a:rPr lang="ko-KR" altLang="en-US" sz="1150" dirty="0">
                <a:latin typeface="+mn-ea"/>
              </a:rPr>
              <a:t>예측 후 </a:t>
            </a:r>
            <a:r>
              <a:rPr lang="ko-KR" altLang="en-US" sz="1150" dirty="0" err="1">
                <a:latin typeface="+mn-ea"/>
              </a:rPr>
              <a:t>역변환하여</a:t>
            </a:r>
            <a:r>
              <a:rPr lang="ko-KR" altLang="en-US" sz="1150" dirty="0">
                <a:latin typeface="+mn-ea"/>
              </a:rPr>
              <a:t> 분 단위로 복원</a:t>
            </a:r>
            <a:endParaRPr lang="en-US" altLang="ko-KR" sz="115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13996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2151D-37B7-EBFE-3AD7-857235DC9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AC994AF-83E9-EA0A-B273-0F8706D97C54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EFF36E9-C657-6775-5D4F-432263A9B84F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F79B666-CA3C-DFF7-904F-9F98102D7630}"/>
              </a:ext>
            </a:extLst>
          </p:cNvPr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학습</a:t>
            </a:r>
            <a:r>
              <a:rPr lang="en-US" altLang="ko-KR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ML </a:t>
            </a:r>
            <a:r>
              <a:rPr lang="ko-KR" alt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베이스라인 </a:t>
            </a:r>
            <a:r>
              <a:rPr lang="en-US" altLang="ko-KR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열화 분류</a:t>
            </a:r>
            <a:endParaRPr lang="en-US" altLang="ko-KR" sz="23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ED9130E5-B35B-4E90-3238-70025AEEA0CB}"/>
              </a:ext>
            </a:extLst>
          </p:cNvPr>
          <p:cNvSpPr/>
          <p:nvPr/>
        </p:nvSpPr>
        <p:spPr>
          <a:xfrm>
            <a:off x="9445752" y="6472647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BD7CE4D-4A29-0EE4-EB10-ACB6A0C358A2}"/>
              </a:ext>
            </a:extLst>
          </p:cNvPr>
          <p:cNvSpPr txBox="1"/>
          <p:nvPr/>
        </p:nvSpPr>
        <p:spPr>
          <a:xfrm>
            <a:off x="277802" y="1059743"/>
            <a:ext cx="10746379" cy="54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spcAft>
                <a:spcPts val="500"/>
              </a:spcAft>
            </a:pP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1. </a:t>
            </a: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학습 설정</a:t>
            </a:r>
            <a:endParaRPr lang="ko-KR" altLang="ko-KR" sz="1300" b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  <a:p>
            <a:pPr marL="171450" indent="-171450" latinLnBrk="1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LogisticRegression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 / 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RandomForest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 / 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XGBoost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 3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종을 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GroupKFold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 + 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GridSearchCV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로 최적화하고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, CV(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학습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3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개 베어링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)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와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OOS(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테스트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11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개 베어링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)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에서 평가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B19791-F3F2-4C44-13AB-F4D60EFDCD5E}"/>
              </a:ext>
            </a:extLst>
          </p:cNvPr>
          <p:cNvSpPr txBox="1"/>
          <p:nvPr/>
        </p:nvSpPr>
        <p:spPr>
          <a:xfrm>
            <a:off x="374467" y="4073758"/>
            <a:ext cx="5155476" cy="1102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spcAft>
                <a:spcPts val="500"/>
              </a:spcAft>
            </a:pP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3. </a:t>
            </a: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피처 중요도 </a:t>
            </a: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en-US" altLang="ko-KR" sz="13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RandomForest</a:t>
            </a: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)</a:t>
            </a:r>
            <a:endParaRPr lang="ko-KR" altLang="ko-KR" sz="1300" b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  <a:p>
            <a:pPr marL="171450" indent="-171450" latinLnBrk="1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h_rms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(0.52) + 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h_kurt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(0.23) + 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v_rms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(0.16)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가 전체 중요도의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90%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이상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  <a:p>
            <a:pPr marL="171450" indent="-171450" latinLnBrk="1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XGBoost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는 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h_rms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단일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0.941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로 더 집중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  <a:p>
            <a:pPr marL="171450" indent="-171450" latinLnBrk="1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h_rms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는 모델 입력에서 제거 대상이 아니라 최상위 예측 인자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A698C6-66F5-5EB8-4F13-A54A6C42C3DB}"/>
              </a:ext>
            </a:extLst>
          </p:cNvPr>
          <p:cNvSpPr txBox="1"/>
          <p:nvPr/>
        </p:nvSpPr>
        <p:spPr>
          <a:xfrm>
            <a:off x="277802" y="1714715"/>
            <a:ext cx="5512527" cy="1102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spcAft>
                <a:spcPts val="500"/>
              </a:spcAft>
            </a:pP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2. CV vs OOS </a:t>
            </a: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성능 </a:t>
            </a: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소스 </a:t>
            </a:r>
            <a:r>
              <a:rPr lang="en-US" altLang="ko-KR" sz="13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femto_ml_results.json</a:t>
            </a: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)</a:t>
            </a:r>
            <a:endParaRPr lang="ko-KR" altLang="ko-KR" sz="1300" b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  <a:p>
            <a:pPr latinLnBrk="1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  - CV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에서 강했던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RF·XGB(F1 0.49·0.94)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는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OOS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에서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Recall 0.505·0.513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으로 급락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   </a:t>
            </a:r>
          </a:p>
          <a:p>
            <a:pPr latinLnBrk="1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altLang="ko-KR" sz="1150" dirty="0">
                <a:latin typeface="+mn-ea"/>
                <a:cs typeface="맑은 고딕" panose="020B0503020000020004" pitchFamily="50" charset="-127"/>
              </a:rPr>
              <a:t>  -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학습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3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개 베어링 </a:t>
            </a:r>
            <a:r>
              <a:rPr lang="ko-KR" altLang="en-US" sz="1150" dirty="0" err="1">
                <a:effectLst/>
                <a:latin typeface="+mn-ea"/>
                <a:cs typeface="맑은 고딕" panose="020B0503020000020004" pitchFamily="50" charset="-127"/>
              </a:rPr>
              <a:t>과적합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.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단순 선형 경계의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LR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이 새 베어링에 더 잘 전이되어 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  <a:p>
            <a:pPr latinLnBrk="1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altLang="ko-KR" sz="1150" dirty="0">
                <a:latin typeface="+mn-ea"/>
                <a:cs typeface="맑은 고딕" panose="020B0503020000020004" pitchFamily="50" charset="-127"/>
              </a:rPr>
              <a:t>  -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OOS Recall 0.890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으로 최적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(_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best_model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 = 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LogisticRegression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).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83FEB6-4803-4A82-2A93-2E82BF57C0A9}"/>
              </a:ext>
            </a:extLst>
          </p:cNvPr>
          <p:cNvSpPr txBox="1"/>
          <p:nvPr/>
        </p:nvSpPr>
        <p:spPr>
          <a:xfrm>
            <a:off x="403641" y="5608909"/>
            <a:ext cx="5155476" cy="821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spcAft>
                <a:spcPts val="500"/>
              </a:spcAft>
            </a:pP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4. Recall </a:t>
            </a: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중심 평가 </a:t>
            </a: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— </a:t>
            </a: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현장 </a:t>
            </a:r>
            <a:r>
              <a:rPr lang="en-US" altLang="ko-KR" sz="13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PdM</a:t>
            </a: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관점</a:t>
            </a:r>
            <a:endParaRPr lang="en-US" altLang="ko-KR" sz="1300" b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  <a:p>
            <a:pPr marL="171450" indent="-171450" latinLnBrk="1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현업 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PdM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에서는 고장 </a:t>
            </a:r>
            <a:r>
              <a:rPr lang="ko-KR" altLang="en-US" sz="1150" dirty="0" err="1">
                <a:effectLst/>
                <a:latin typeface="+mn-ea"/>
                <a:cs typeface="맑은 고딕" panose="020B0503020000020004" pitchFamily="50" charset="-127"/>
              </a:rPr>
              <a:t>미탐지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(FN)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비용이 </a:t>
            </a:r>
            <a:r>
              <a:rPr lang="ko-KR" altLang="en-US" sz="1150" dirty="0" err="1">
                <a:effectLst/>
                <a:latin typeface="+mn-ea"/>
                <a:cs typeface="맑은 고딕" panose="020B0503020000020004" pitchFamily="50" charset="-127"/>
              </a:rPr>
              <a:t>오경보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(FP)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비용보다 훨씬 큼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  <a:p>
            <a:pPr marL="171450" indent="-171450" latinLnBrk="1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Recall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을 핵심 지표로 사용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4679103-2DD5-59A3-0C5A-C853EC112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789273"/>
              </p:ext>
            </p:extLst>
          </p:nvPr>
        </p:nvGraphicFramePr>
        <p:xfrm>
          <a:off x="5788152" y="1781407"/>
          <a:ext cx="5943600" cy="8529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183089313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53852198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58646563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341074283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386675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37674359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모델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Acc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Prec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Recall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F1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AUC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324195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LogReg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0.965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0.939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0.175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0.295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0.880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751641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RandomForest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0.972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1.000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0.322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0.487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0.999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508390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XGBoost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0.996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1.000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0.893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0.943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 dirty="0">
                          <a:effectLst/>
                        </a:rPr>
                        <a:t>0.995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3824281890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AB367CE-1544-DF1F-ABB0-0F061E976BA6}"/>
              </a:ext>
            </a:extLst>
          </p:cNvPr>
          <p:cNvSpPr txBox="1"/>
          <p:nvPr/>
        </p:nvSpPr>
        <p:spPr>
          <a:xfrm>
            <a:off x="7334794" y="2598715"/>
            <a:ext cx="26212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Bef>
                <a:spcPts val="800"/>
              </a:spcBef>
              <a:spcAft>
                <a:spcPts val="400"/>
              </a:spcAft>
              <a:buNone/>
            </a:pPr>
            <a:r>
              <a:rPr lang="ko-KR" altLang="ko-KR" sz="1200" b="1" dirty="0">
                <a:solidFill>
                  <a:srgbClr val="1F4E79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교차검증</a:t>
            </a:r>
            <a:r>
              <a:rPr lang="en-US" altLang="ko-KR" sz="1200" b="1" dirty="0">
                <a:solidFill>
                  <a:srgbClr val="1F4E79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(CV) — </a:t>
            </a:r>
            <a:r>
              <a:rPr lang="ko-KR" altLang="ko-KR" sz="1200" b="1" dirty="0">
                <a:solidFill>
                  <a:srgbClr val="1F4E79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학습</a:t>
            </a:r>
            <a:r>
              <a:rPr lang="en-US" altLang="ko-KR" sz="1200" b="1" dirty="0">
                <a:solidFill>
                  <a:srgbClr val="1F4E79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 3</a:t>
            </a:r>
            <a:r>
              <a:rPr lang="ko-KR" altLang="ko-KR" sz="1200" b="1" dirty="0">
                <a:solidFill>
                  <a:srgbClr val="1F4E79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개 베어링</a:t>
            </a:r>
            <a:endParaRPr lang="ko-KR" altLang="ko-KR" sz="105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42BC2AF6-1FAE-5102-201B-0934DD7858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130768"/>
              </p:ext>
            </p:extLst>
          </p:nvPr>
        </p:nvGraphicFramePr>
        <p:xfrm>
          <a:off x="5790329" y="2930750"/>
          <a:ext cx="5943599" cy="8529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3855">
                  <a:extLst>
                    <a:ext uri="{9D8B030D-6E8A-4147-A177-3AD203B41FA5}">
                      <a16:colId xmlns:a16="http://schemas.microsoft.com/office/drawing/2014/main" val="28476894"/>
                    </a:ext>
                  </a:extLst>
                </a:gridCol>
                <a:gridCol w="706043">
                  <a:extLst>
                    <a:ext uri="{9D8B030D-6E8A-4147-A177-3AD203B41FA5}">
                      <a16:colId xmlns:a16="http://schemas.microsoft.com/office/drawing/2014/main" val="1159237237"/>
                    </a:ext>
                  </a:extLst>
                </a:gridCol>
                <a:gridCol w="706043">
                  <a:extLst>
                    <a:ext uri="{9D8B030D-6E8A-4147-A177-3AD203B41FA5}">
                      <a16:colId xmlns:a16="http://schemas.microsoft.com/office/drawing/2014/main" val="1268685755"/>
                    </a:ext>
                  </a:extLst>
                </a:gridCol>
                <a:gridCol w="706043">
                  <a:extLst>
                    <a:ext uri="{9D8B030D-6E8A-4147-A177-3AD203B41FA5}">
                      <a16:colId xmlns:a16="http://schemas.microsoft.com/office/drawing/2014/main" val="630132974"/>
                    </a:ext>
                  </a:extLst>
                </a:gridCol>
                <a:gridCol w="706043">
                  <a:extLst>
                    <a:ext uri="{9D8B030D-6E8A-4147-A177-3AD203B41FA5}">
                      <a16:colId xmlns:a16="http://schemas.microsoft.com/office/drawing/2014/main" val="1195317898"/>
                    </a:ext>
                  </a:extLst>
                </a:gridCol>
                <a:gridCol w="706043">
                  <a:extLst>
                    <a:ext uri="{9D8B030D-6E8A-4147-A177-3AD203B41FA5}">
                      <a16:colId xmlns:a16="http://schemas.microsoft.com/office/drawing/2014/main" val="3134022421"/>
                    </a:ext>
                  </a:extLst>
                </a:gridCol>
                <a:gridCol w="1219529">
                  <a:extLst>
                    <a:ext uri="{9D8B030D-6E8A-4147-A177-3AD203B41FA5}">
                      <a16:colId xmlns:a16="http://schemas.microsoft.com/office/drawing/2014/main" val="20100064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모델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Acc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Prec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Recall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F1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AUC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평가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351892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LogReg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0.987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0.755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0.890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0.817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0.997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★ OOS </a:t>
                      </a:r>
                      <a:r>
                        <a:rPr lang="ko-KR" sz="900">
                          <a:effectLst/>
                        </a:rPr>
                        <a:t>최적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806766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RandomForest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0.984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0.996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0.505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0.670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0.920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OOS </a:t>
                      </a:r>
                      <a:r>
                        <a:rPr lang="ko-KR" sz="900">
                          <a:effectLst/>
                        </a:rPr>
                        <a:t>일반화</a:t>
                      </a:r>
                      <a:r>
                        <a:rPr lang="en-US" sz="900">
                          <a:effectLst/>
                        </a:rPr>
                        <a:t>↓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96009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XGBoost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0.984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0.996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0.513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0.677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0.758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 dirty="0">
                          <a:effectLst/>
                        </a:rPr>
                        <a:t>OOS </a:t>
                      </a:r>
                      <a:r>
                        <a:rPr lang="ko-KR" sz="900" dirty="0">
                          <a:effectLst/>
                        </a:rPr>
                        <a:t>일반화</a:t>
                      </a:r>
                      <a:r>
                        <a:rPr lang="en-US" sz="900" dirty="0">
                          <a:effectLst/>
                        </a:rPr>
                        <a:t>↓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824123676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5E5D0A86-E2EF-3589-D3E4-04D7834630D5}"/>
              </a:ext>
            </a:extLst>
          </p:cNvPr>
          <p:cNvSpPr txBox="1"/>
          <p:nvPr/>
        </p:nvSpPr>
        <p:spPr>
          <a:xfrm>
            <a:off x="7209825" y="3927818"/>
            <a:ext cx="4146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altLang="ko-KR" sz="1200" b="1" dirty="0">
                <a:solidFill>
                  <a:srgbClr val="1F4E79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OOS — </a:t>
            </a:r>
            <a:r>
              <a:rPr lang="ko-KR" altLang="ko-KR" sz="1200" b="1" dirty="0">
                <a:solidFill>
                  <a:srgbClr val="1F4E79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테스트</a:t>
            </a:r>
            <a:r>
              <a:rPr lang="en-US" altLang="ko-KR" sz="1200" b="1" dirty="0">
                <a:solidFill>
                  <a:srgbClr val="1F4E79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 11</a:t>
            </a:r>
            <a:r>
              <a:rPr lang="ko-KR" altLang="ko-KR" sz="1200" b="1" dirty="0">
                <a:solidFill>
                  <a:srgbClr val="1F4E79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개 베어링</a:t>
            </a:r>
            <a:r>
              <a:rPr lang="en-US" altLang="ko-KR" sz="1200" b="1" dirty="0">
                <a:solidFill>
                  <a:srgbClr val="1F4E79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 (</a:t>
            </a:r>
            <a:r>
              <a:rPr lang="ko-KR" altLang="ko-KR" sz="1200" b="1" dirty="0">
                <a:solidFill>
                  <a:srgbClr val="1F4E79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실제 일반화 성능</a:t>
            </a:r>
            <a:r>
              <a:rPr lang="en-US" altLang="ko-KR" sz="1200" b="1" dirty="0">
                <a:solidFill>
                  <a:srgbClr val="1F4E79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)</a:t>
            </a:r>
            <a:endParaRPr lang="ko-KR" altLang="ko-KR" sz="105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6CCEF5D9-EE0E-9A51-C8B1-C0A646617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825854"/>
              </p:ext>
            </p:extLst>
          </p:nvPr>
        </p:nvGraphicFramePr>
        <p:xfrm>
          <a:off x="5806875" y="4280634"/>
          <a:ext cx="5943600" cy="8488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3186057971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398598274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65607692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1901970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피처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중요도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피처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중요도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376036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h_rms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0.517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h_crest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0.052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322995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h_kurt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0.226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h_skew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0.031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15636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v_rms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0.157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v_crest / v_kurt / v_skew / temp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 dirty="0">
                          <a:effectLst/>
                        </a:rPr>
                        <a:t>≈0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876650721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1F36A46B-81DD-4215-3484-75ED27A3F1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323338"/>
              </p:ext>
            </p:extLst>
          </p:nvPr>
        </p:nvGraphicFramePr>
        <p:xfrm>
          <a:off x="5806875" y="5677896"/>
          <a:ext cx="5943600" cy="6396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684414035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3306585245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3129882784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6438984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데이터 구간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F1 </a:t>
                      </a:r>
                      <a:r>
                        <a:rPr lang="ko-KR" sz="900">
                          <a:effectLst/>
                        </a:rPr>
                        <a:t>기준 최적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Recall </a:t>
                      </a:r>
                      <a:r>
                        <a:rPr lang="ko-KR" sz="900">
                          <a:effectLst/>
                        </a:rPr>
                        <a:t>기준 최적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현장 권장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4114627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CV(</a:t>
                      </a:r>
                      <a:r>
                        <a:rPr lang="ko-KR" sz="900">
                          <a:effectLst/>
                        </a:rPr>
                        <a:t>학습 베어링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XGB (F1=0.943)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XGB (Recall=0.893)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XGB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4276467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 dirty="0">
                          <a:effectLst/>
                        </a:rPr>
                        <a:t>OOS(</a:t>
                      </a:r>
                      <a:r>
                        <a:rPr lang="ko-KR" sz="900" dirty="0">
                          <a:effectLst/>
                        </a:rPr>
                        <a:t>테스트</a:t>
                      </a:r>
                      <a:r>
                        <a:rPr lang="en-US" sz="900" dirty="0">
                          <a:effectLst/>
                        </a:rPr>
                        <a:t> 11</a:t>
                      </a:r>
                      <a:r>
                        <a:rPr lang="ko-KR" sz="900" dirty="0">
                          <a:effectLst/>
                        </a:rPr>
                        <a:t>개</a:t>
                      </a:r>
                      <a:r>
                        <a:rPr lang="en-US" sz="900" dirty="0">
                          <a:effectLst/>
                        </a:rPr>
                        <a:t>)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LR (F1=0.817)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LR (Recall=0.890)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 dirty="0">
                          <a:effectLst/>
                        </a:rPr>
                        <a:t>LR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57237681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5BC39884-3F7A-6A9C-49AF-B5FA2AE9B81C}"/>
              </a:ext>
            </a:extLst>
          </p:cNvPr>
          <p:cNvSpPr txBox="1"/>
          <p:nvPr/>
        </p:nvSpPr>
        <p:spPr>
          <a:xfrm>
            <a:off x="7209825" y="5309951"/>
            <a:ext cx="38143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1F4E7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Recall </a:t>
            </a:r>
            <a:r>
              <a:rPr lang="ko-KR" altLang="ko-KR" sz="1200" b="1" dirty="0">
                <a:solidFill>
                  <a:srgbClr val="1F4E7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중심 평가 기준</a:t>
            </a:r>
            <a:endParaRPr lang="ko-KR" altLang="en-US" sz="1200" b="1" dirty="0">
              <a:solidFill>
                <a:srgbClr val="1F4E7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6832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학습</a:t>
            </a:r>
            <a:r>
              <a:rPr lang="en-US" altLang="ko-KR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 RUL 개발·튜닝 순서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OOS RMSE 개선 흐름 (단위: 분)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1737360" cy="2194560"/>
          </a:xfrm>
          <a:prstGeom prst="roundRect">
            <a:avLst>
              <a:gd name="adj" fmla="val 3684"/>
            </a:avLst>
          </a:prstGeom>
          <a:solidFill>
            <a:srgbClr val="F2F7FB"/>
          </a:solidFill>
          <a:ln w="1524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66928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[0] RF 베이스라인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2514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954.52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12648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타임스텝 피처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67712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59736" y="1828800"/>
            <a:ext cx="1737360" cy="2194560"/>
          </a:xfrm>
          <a:prstGeom prst="roundRect">
            <a:avLst>
              <a:gd name="adj" fmla="val 3684"/>
            </a:avLst>
          </a:prstGeom>
          <a:solidFill>
            <a:srgbClr val="F2F7FB"/>
          </a:solidFill>
          <a:ln w="1524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459736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[1] LSTM 초기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459736" y="2514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934.01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505456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시퀀스 도입 +2.15%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60520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52544" y="1828800"/>
            <a:ext cx="1737360" cy="2194560"/>
          </a:xfrm>
          <a:prstGeom prst="roundRect">
            <a:avLst>
              <a:gd name="adj" fmla="val 3684"/>
            </a:avLst>
          </a:prstGeom>
          <a:solidFill>
            <a:srgbClr val="F2F7FB"/>
          </a:solidFill>
          <a:ln w="1524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352544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[2] 5종 → GRU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52544" y="2514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909.96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398264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비교 최적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53328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45352" y="1828800"/>
            <a:ext cx="1737360" cy="2194560"/>
          </a:xfrm>
          <a:prstGeom prst="roundRect">
            <a:avLst>
              <a:gd name="adj" fmla="val 3684"/>
            </a:avLst>
          </a:prstGeom>
          <a:solidFill>
            <a:srgbClr val="F2F7FB"/>
          </a:solidFill>
          <a:ln w="1524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245352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[3] GridSearch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45352" y="2514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956.05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291072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window20·units32·dr0.1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946136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138160" y="1828800"/>
            <a:ext cx="1737360" cy="2194560"/>
          </a:xfrm>
          <a:prstGeom prst="roundRect">
            <a:avLst>
              <a:gd name="adj" fmla="val 3684"/>
            </a:avLst>
          </a:prstGeom>
          <a:solidFill>
            <a:srgbClr val="F2F7FB"/>
          </a:solidFill>
          <a:ln w="1524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138160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[4] 배치=16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138160" y="2514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836.60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183880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gradient noise 정규화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838944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030968" y="1828800"/>
            <a:ext cx="1737360" cy="2194560"/>
          </a:xfrm>
          <a:prstGeom prst="roundRect">
            <a:avLst>
              <a:gd name="adj" fmla="val 3684"/>
            </a:avLst>
          </a:prstGeom>
          <a:solidFill>
            <a:srgbClr val="1F3A5F"/>
          </a:solidFill>
          <a:ln w="15240">
            <a:solidFill>
              <a:srgbClr val="1F3A5F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10030968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[5] BatchNorm + LayerNorm v2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30968" y="2514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810.38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0076688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★ RF대비 +15.08%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6928" y="452628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EAF3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68680" y="466344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+mj-ea"/>
                <a:ea typeface="+mj-ea"/>
                <a:cs typeface="Malgun Gothic" pitchFamily="34" charset="-120"/>
              </a:rPr>
              <a:t>누적 개선:  </a:t>
            </a:r>
            <a:r>
              <a:rPr lang="en-US" sz="1400" dirty="0">
                <a:solidFill>
                  <a:srgbClr val="22303C"/>
                </a:solidFill>
                <a:latin typeface="+mj-ea"/>
                <a:ea typeface="+mj-ea"/>
                <a:cs typeface="Malgun Gothic" pitchFamily="34" charset="-120"/>
              </a:rPr>
              <a:t>RF 954.52분 → GRU v2 810.38분  (OOS RMSE 15.08% ↓, MAE 757.71→665.63)</a:t>
            </a:r>
          </a:p>
          <a:p>
            <a:r>
              <a:rPr lang="ko-KR" altLang="ko-KR" sz="1400" dirty="0">
                <a:latin typeface="+mj-ea"/>
                <a:ea typeface="+mj-ea"/>
              </a:rPr>
              <a:t>GRU 기반 표준 골격(</a:t>
            </a:r>
            <a:r>
              <a:rPr lang="ko-KR" altLang="ko-KR" sz="1400" dirty="0" err="1">
                <a:latin typeface="+mj-ea"/>
                <a:ea typeface="+mj-ea"/>
              </a:rPr>
              <a:t>GRU→Dense</a:t>
            </a:r>
            <a:r>
              <a:rPr lang="ko-KR" altLang="ko-KR" sz="1400" dirty="0">
                <a:latin typeface="+mj-ea"/>
                <a:ea typeface="+mj-ea"/>
              </a:rPr>
              <a:t>)</a:t>
            </a:r>
            <a:r>
              <a:rPr lang="ko-KR" altLang="ko-KR" sz="1400" dirty="0" err="1">
                <a:latin typeface="+mj-ea"/>
                <a:ea typeface="+mj-ea"/>
              </a:rPr>
              <a:t>에</a:t>
            </a:r>
            <a:r>
              <a:rPr lang="ko-KR" altLang="ko-KR" sz="1400" dirty="0">
                <a:latin typeface="+mj-ea"/>
                <a:ea typeface="+mj-ea"/>
              </a:rPr>
              <a:t>, </a:t>
            </a:r>
            <a:r>
              <a:rPr lang="ko-KR" altLang="ko-KR" sz="1400" b="1" dirty="0">
                <a:solidFill>
                  <a:srgbClr val="1F3A5F"/>
                </a:solidFill>
                <a:latin typeface="+mj-ea"/>
                <a:ea typeface="+mj-ea"/>
              </a:rPr>
              <a:t>커스텀으로 ⟨</a:t>
            </a:r>
            <a:r>
              <a:rPr lang="ko-KR" altLang="ko-KR" sz="1400" b="1" dirty="0" err="1">
                <a:solidFill>
                  <a:srgbClr val="1F3A5F"/>
                </a:solidFill>
                <a:latin typeface="+mj-ea"/>
                <a:ea typeface="+mj-ea"/>
              </a:rPr>
              <a:t>LayerNorm</a:t>
            </a:r>
            <a:r>
              <a:rPr lang="ko-KR" altLang="ko-KR" sz="1400" b="1" dirty="0">
                <a:solidFill>
                  <a:srgbClr val="1F3A5F"/>
                </a:solidFill>
                <a:latin typeface="+mj-ea"/>
                <a:ea typeface="+mj-ea"/>
              </a:rPr>
              <a:t> 2개 + </a:t>
            </a:r>
            <a:r>
              <a:rPr lang="ko-KR" altLang="ko-KR" sz="1400" b="1" dirty="0" err="1">
                <a:solidFill>
                  <a:srgbClr val="1F3A5F"/>
                </a:solidFill>
                <a:latin typeface="+mj-ea"/>
                <a:ea typeface="+mj-ea"/>
              </a:rPr>
              <a:t>BatchNorm</a:t>
            </a:r>
            <a:r>
              <a:rPr lang="ko-KR" altLang="ko-KR" sz="1400" b="1" dirty="0">
                <a:solidFill>
                  <a:srgbClr val="1F3A5F"/>
                </a:solidFill>
                <a:latin typeface="+mj-ea"/>
                <a:ea typeface="+mj-ea"/>
              </a:rPr>
              <a:t> 1개⟩를 위치까지 설계해 삽입한 구조 = GRU v2</a:t>
            </a:r>
            <a:endParaRPr lang="en-US" altLang="ko-KR" sz="1400" b="1" dirty="0">
              <a:solidFill>
                <a:srgbClr val="1F3A5F"/>
              </a:solidFill>
              <a:latin typeface="+mj-ea"/>
              <a:ea typeface="+mj-ea"/>
            </a:endParaRPr>
          </a:p>
          <a:p>
            <a:r>
              <a:rPr lang="ko-KR" altLang="ko-KR" sz="1400" dirty="0" err="1">
                <a:latin typeface="+mj-ea"/>
                <a:ea typeface="+mj-ea"/>
              </a:rPr>
              <a:t>Input</a:t>
            </a:r>
            <a:r>
              <a:rPr lang="ko-KR" altLang="ko-KR" sz="1400" dirty="0">
                <a:latin typeface="+mj-ea"/>
                <a:ea typeface="+mj-ea"/>
              </a:rPr>
              <a:t>(20,12) → GRU → </a:t>
            </a:r>
            <a:r>
              <a:rPr lang="ko-KR" altLang="ko-KR" sz="1400" b="1" dirty="0">
                <a:latin typeface="+mj-ea"/>
                <a:ea typeface="+mj-ea"/>
              </a:rPr>
              <a:t>⟨</a:t>
            </a:r>
            <a:r>
              <a:rPr lang="ko-KR" altLang="ko-KR" sz="1400" b="1" dirty="0" err="1">
                <a:latin typeface="+mj-ea"/>
                <a:ea typeface="+mj-ea"/>
              </a:rPr>
              <a:t>LayerNorm</a:t>
            </a:r>
            <a:r>
              <a:rPr lang="ko-KR" altLang="ko-KR" sz="1400" b="1" dirty="0">
                <a:latin typeface="+mj-ea"/>
                <a:ea typeface="+mj-ea"/>
              </a:rPr>
              <a:t>⟩</a:t>
            </a:r>
            <a:r>
              <a:rPr lang="ko-KR" altLang="ko-KR" sz="1400" dirty="0">
                <a:latin typeface="+mj-ea"/>
                <a:ea typeface="+mj-ea"/>
              </a:rPr>
              <a:t> → </a:t>
            </a:r>
            <a:r>
              <a:rPr lang="ko-KR" altLang="ko-KR" sz="1400" dirty="0" err="1">
                <a:latin typeface="+mj-ea"/>
                <a:ea typeface="+mj-ea"/>
              </a:rPr>
              <a:t>Dropout</a:t>
            </a:r>
            <a:r>
              <a:rPr lang="ko-KR" altLang="ko-KR" sz="1400" dirty="0">
                <a:latin typeface="+mj-ea"/>
                <a:ea typeface="+mj-ea"/>
              </a:rPr>
              <a:t> → GRU → </a:t>
            </a:r>
            <a:r>
              <a:rPr lang="ko-KR" altLang="ko-KR" sz="1400" b="1" dirty="0">
                <a:latin typeface="+mj-ea"/>
                <a:ea typeface="+mj-ea"/>
              </a:rPr>
              <a:t>⟨</a:t>
            </a:r>
            <a:r>
              <a:rPr lang="ko-KR" altLang="ko-KR" sz="1400" b="1" dirty="0" err="1">
                <a:latin typeface="+mj-ea"/>
                <a:ea typeface="+mj-ea"/>
              </a:rPr>
              <a:t>LayerNorm</a:t>
            </a:r>
            <a:r>
              <a:rPr lang="ko-KR" altLang="ko-KR" sz="1400" b="1" dirty="0">
                <a:latin typeface="+mj-ea"/>
                <a:ea typeface="+mj-ea"/>
              </a:rPr>
              <a:t>⟩ → ⟨</a:t>
            </a:r>
            <a:r>
              <a:rPr lang="ko-KR" altLang="ko-KR" sz="1400" b="1" dirty="0" err="1">
                <a:latin typeface="+mj-ea"/>
                <a:ea typeface="+mj-ea"/>
              </a:rPr>
              <a:t>BatchNorm</a:t>
            </a:r>
            <a:r>
              <a:rPr lang="ko-KR" altLang="ko-KR" sz="1400" b="1" dirty="0">
                <a:latin typeface="+mj-ea"/>
                <a:ea typeface="+mj-ea"/>
              </a:rPr>
              <a:t>⟩</a:t>
            </a:r>
            <a:r>
              <a:rPr lang="ko-KR" altLang="ko-KR" sz="1400" dirty="0">
                <a:latin typeface="+mj-ea"/>
                <a:ea typeface="+mj-ea"/>
              </a:rPr>
              <a:t> → </a:t>
            </a:r>
            <a:r>
              <a:rPr lang="ko-KR" altLang="ko-KR" sz="1400" dirty="0" err="1">
                <a:latin typeface="+mj-ea"/>
                <a:ea typeface="+mj-ea"/>
              </a:rPr>
              <a:t>Dense</a:t>
            </a:r>
            <a:r>
              <a:rPr lang="ko-KR" altLang="ko-KR" sz="1400" dirty="0">
                <a:latin typeface="+mj-ea"/>
                <a:ea typeface="+mj-ea"/>
              </a:rPr>
              <a:t>(32) → </a:t>
            </a:r>
            <a:r>
              <a:rPr lang="ko-KR" altLang="ko-KR" sz="1400" dirty="0" err="1">
                <a:latin typeface="+mj-ea"/>
                <a:ea typeface="+mj-ea"/>
              </a:rPr>
              <a:t>Dropout</a:t>
            </a:r>
            <a:r>
              <a:rPr lang="ko-KR" altLang="ko-KR" sz="1400" dirty="0">
                <a:latin typeface="+mj-ea"/>
                <a:ea typeface="+mj-ea"/>
              </a:rPr>
              <a:t> → </a:t>
            </a:r>
            <a:r>
              <a:rPr lang="ko-KR" altLang="ko-KR" sz="1400" dirty="0" err="1">
                <a:latin typeface="+mj-ea"/>
                <a:ea typeface="+mj-ea"/>
              </a:rPr>
              <a:t>Dense</a:t>
            </a:r>
            <a:r>
              <a:rPr lang="ko-KR" altLang="ko-KR" sz="1400" dirty="0">
                <a:latin typeface="+mj-ea"/>
                <a:ea typeface="+mj-ea"/>
              </a:rPr>
              <a:t>(1)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74095" y="535767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수치는 소스 결과 JSON(femto_dl_compare / rul / bn_compare / batch_tune) 기준. window: 5종비교·RF-LSTM=30, 최종 GRU v2=20.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학습</a:t>
            </a:r>
            <a:r>
              <a:rPr lang="en-US" altLang="ko-KR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23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튜닝</a:t>
            </a: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상세 — 아키텍처 5종 + 하이퍼파라미터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GroupKFold CV / OOS (분)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5종 비교 (window=30)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5440680" cy="219456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CV RMSE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RMSE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MAE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GRU 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1164.82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909.96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741.50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1D-CNN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1093.23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938.03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754.87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CNN-LSTM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1168.68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996.61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789.89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BiLSTM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1301.63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1021.19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805.53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LSTM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1091.23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1036.91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846.21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355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배치·옵티마이저·정규화 튜닝</a:t>
            </a:r>
            <a:endParaRPr lang="en-US" sz="13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691640"/>
          <a:ext cx="5394960" cy="18288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최적값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RMSE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GridSearch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w20/u32/d0.1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956.05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27조합 최적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배치 크기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836.60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baseline 956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옵티마이저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Nadam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977.70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Adam 996.88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GRU v2(BN+LN)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810.38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v1 973.47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40080" y="4114800"/>
            <a:ext cx="11064240" cy="1874520"/>
          </a:xfrm>
          <a:prstGeom prst="roundRect">
            <a:avLst>
              <a:gd name="adj" fmla="val 2927"/>
            </a:avLst>
          </a:prstGeom>
          <a:solidFill>
            <a:srgbClr val="0F2A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868680" y="4206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모델 — GRU v2 (Batch Normalization + Layer Normalization)</a:t>
            </a:r>
            <a:endParaRPr lang="en-US" sz="1300" dirty="0"/>
          </a:p>
        </p:txBody>
      </p:sp>
      <p:sp>
        <p:nvSpPr>
          <p:cNvPr id="10" name="Text 9"/>
          <p:cNvSpPr/>
          <p:nvPr/>
        </p:nvSpPr>
        <p:spPr>
          <a:xfrm>
            <a:off x="868680" y="45720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Input(20,12) → GRU(32, return_seq) → LayerNorm → Dropout(0.1) → GRU(16) → LayerNorm → BatchNorm → Dense(32, relu) → Dropout(0.1) → Dense(1)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68680" y="51663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DB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optimizer=Adam(1e-3), loss=mse  ·  EarlyStopping(patience=10, restore_best)  ·  ModelCheckpoint(val_loss, min)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868680" y="55321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DC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Normalization + Batch Normalization → 학습 epoch 54→33 단축, OOS RMSE 16.75% 개선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ML vs DL 종합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226912"/>
              </p:ext>
            </p:extLst>
          </p:nvPr>
        </p:nvGraphicFramePr>
        <p:xfrm>
          <a:off x="635760" y="1325882"/>
          <a:ext cx="11064240" cy="25146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ML 베이스라인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DL 최종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RUL 예측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RMSE(분)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RF 954.52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GRU v2 810.38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▼ 15.08%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RUL 예측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MAE(분)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757.71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665.63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▼ 12.2%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열화 분류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Recall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RF 0.505 / XGB 0.513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LR 0.890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5B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LR 최적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 err="1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비지도</a:t>
                      </a: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탐지</a:t>
                      </a:r>
                      <a:r>
                        <a:rPr lang="en-US" altLang="ko-KR" sz="1000" dirty="0">
                          <a:solidFill>
                            <a:srgbClr val="6B7785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(*1</a:t>
                      </a:r>
                      <a:r>
                        <a:rPr lang="ko-KR" altLang="en-US" sz="1000" dirty="0">
                          <a:solidFill>
                            <a:srgbClr val="6B7785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AE 0.968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384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 불필요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640080" y="4023364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40080" y="40233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4005076"/>
            <a:ext cx="1051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 시계열 구조 강점  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RF 베이스라인 대비 GRU v2가 </a:t>
            </a: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OOS RMSE 15.08% 개선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Batch Normalization + Layer Normalization 정규화가 핵심 기여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4443981"/>
            <a:ext cx="384048" cy="384048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40080" y="444398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88720" y="4425693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유형별 적합성  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테이블형(</a:t>
            </a:r>
            <a:r>
              <a:rPr lang="en-US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독립행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)→ML / </a:t>
            </a: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진짜 시계열(분당 </a:t>
            </a:r>
            <a:r>
              <a:rPr lang="en-US" sz="12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측정</a:t>
            </a: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)→DL </a:t>
            </a:r>
            <a:r>
              <a:rPr lang="en-US" sz="12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우세</a:t>
            </a:r>
            <a:endParaRPr lang="en-US" sz="1200" b="1" dirty="0">
              <a:solidFill>
                <a:srgbClr val="1F3A5F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40080" y="4873319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40080" y="487331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88720" y="4855031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OOS 일반화 = LR  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CV 우위 RF·XGB는 3개 베어링 </a:t>
            </a:r>
            <a:r>
              <a:rPr lang="en-US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과적합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→</a:t>
            </a: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 새 베어링엔 단순 LR이 </a:t>
            </a:r>
            <a:r>
              <a:rPr lang="en-US" sz="12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전이</a:t>
            </a: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우수</a:t>
            </a:r>
            <a:endParaRPr lang="en-US" sz="1200" b="1" dirty="0">
              <a:solidFill>
                <a:srgbClr val="1F3A5F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40080" y="5302648"/>
            <a:ext cx="384048" cy="384048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40080" y="5302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88720" y="52843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조기 경보 가능  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GRU가 열화 말기 RUL 급하강을 포착 → </a:t>
            </a: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교체 경보 </a:t>
            </a:r>
            <a:r>
              <a:rPr lang="en-US" sz="12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선제</a:t>
            </a: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발령</a:t>
            </a:r>
            <a:endParaRPr lang="en-US" sz="1200" b="1" dirty="0">
              <a:solidFill>
                <a:srgbClr val="1F3A5F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11</a:t>
            </a:r>
            <a:endParaRPr lang="en-US" sz="900" dirty="0"/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66B4181E-151B-B8A9-BF0D-F83A33621BAC}"/>
              </a:ext>
            </a:extLst>
          </p:cNvPr>
          <p:cNvSpPr/>
          <p:nvPr/>
        </p:nvSpPr>
        <p:spPr>
          <a:xfrm>
            <a:off x="635760" y="5812531"/>
            <a:ext cx="11064240" cy="6339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latin typeface="+mn-ea"/>
                <a:cs typeface="Malgun Gothic" pitchFamily="34" charset="-120"/>
              </a:rPr>
              <a:t>(*1) </a:t>
            </a:r>
            <a:r>
              <a:rPr lang="ko-KR" altLang="ko-KR" sz="1200" dirty="0">
                <a:latin typeface="+mn-ea"/>
              </a:rPr>
              <a:t>라벨 없는 신규 설비</a:t>
            </a:r>
            <a:r>
              <a:rPr lang="ko-KR" altLang="en-US" sz="1200" dirty="0">
                <a:latin typeface="+mn-ea"/>
              </a:rPr>
              <a:t>용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ko-KR" sz="1200" b="1" dirty="0">
                <a:solidFill>
                  <a:srgbClr val="138496"/>
                </a:solidFill>
                <a:latin typeface="+mn-ea"/>
              </a:rPr>
              <a:t>비지도의 강점(라벨 </a:t>
            </a:r>
            <a:r>
              <a:rPr lang="ko-KR" altLang="ko-KR" sz="1200" b="1" dirty="0" err="1">
                <a:solidFill>
                  <a:srgbClr val="138496"/>
                </a:solidFill>
                <a:latin typeface="+mn-ea"/>
              </a:rPr>
              <a:t>불필요·조기</a:t>
            </a:r>
            <a:r>
              <a:rPr lang="ko-KR" altLang="ko-KR" sz="1200" b="1" dirty="0">
                <a:solidFill>
                  <a:srgbClr val="138496"/>
                </a:solidFill>
                <a:latin typeface="+mn-ea"/>
              </a:rPr>
              <a:t> 감지)과 지도의 강점(</a:t>
            </a:r>
            <a:r>
              <a:rPr lang="ko-KR" altLang="ko-KR" sz="1200" b="1" dirty="0" err="1">
                <a:solidFill>
                  <a:srgbClr val="138496"/>
                </a:solidFill>
                <a:latin typeface="+mn-ea"/>
              </a:rPr>
              <a:t>정밀·해석</a:t>
            </a:r>
            <a:r>
              <a:rPr lang="ko-KR" altLang="ko-KR" sz="1200" b="1" dirty="0">
                <a:solidFill>
                  <a:srgbClr val="138496"/>
                </a:solidFill>
                <a:latin typeface="+mn-ea"/>
              </a:rPr>
              <a:t>)</a:t>
            </a:r>
            <a:r>
              <a:rPr lang="en-US" altLang="ko-KR" sz="1200" b="1" dirty="0">
                <a:solidFill>
                  <a:srgbClr val="138496"/>
                </a:solidFill>
                <a:latin typeface="+mn-ea"/>
              </a:rPr>
              <a:t>  </a:t>
            </a:r>
          </a:p>
          <a:p>
            <a:r>
              <a:rPr lang="en-US" altLang="ko-KR" sz="1200" b="1" dirty="0">
                <a:latin typeface="+mn-ea"/>
              </a:rPr>
              <a:t>  </a:t>
            </a:r>
            <a:r>
              <a:rPr lang="ko-KR" altLang="en-US" sz="1200" b="1" dirty="0">
                <a:latin typeface="+mn-ea"/>
              </a:rPr>
              <a:t>→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1</a:t>
            </a:r>
            <a:r>
              <a:rPr lang="ko-KR" altLang="en-US" sz="1200" dirty="0">
                <a:latin typeface="+mn-ea"/>
              </a:rPr>
              <a:t>차 </a:t>
            </a:r>
            <a:r>
              <a:rPr lang="en-US" altLang="ko-KR" sz="1200" dirty="0">
                <a:latin typeface="+mn-ea"/>
              </a:rPr>
              <a:t>(Autoencoder , </a:t>
            </a:r>
            <a:r>
              <a:rPr lang="ko-KR" altLang="en-US" sz="1200" b="1" dirty="0">
                <a:solidFill>
                  <a:srgbClr val="138496"/>
                </a:solidFill>
                <a:latin typeface="+mn-ea"/>
              </a:rPr>
              <a:t>비지도</a:t>
            </a:r>
            <a:r>
              <a:rPr lang="en-US" altLang="ko-KR" sz="1200" dirty="0">
                <a:latin typeface="+mn-ea"/>
              </a:rPr>
              <a:t>): </a:t>
            </a:r>
            <a:r>
              <a:rPr lang="ko-KR" altLang="en-US" sz="1200" dirty="0">
                <a:latin typeface="+mn-ea"/>
              </a:rPr>
              <a:t>라벨 없는 신규 설비에서 </a:t>
            </a:r>
            <a:r>
              <a:rPr lang="en-US" altLang="ko-KR" sz="1200" dirty="0">
                <a:latin typeface="+mn-ea"/>
              </a:rPr>
              <a:t>"</a:t>
            </a:r>
            <a:r>
              <a:rPr lang="ko-KR" altLang="en-US" sz="1200" dirty="0">
                <a:latin typeface="+mn-ea"/>
              </a:rPr>
              <a:t>뭔가 평소와 다르다</a:t>
            </a:r>
            <a:r>
              <a:rPr lang="en-US" altLang="ko-KR" sz="1200" dirty="0">
                <a:latin typeface="+mn-ea"/>
              </a:rPr>
              <a:t>"</a:t>
            </a:r>
            <a:r>
              <a:rPr lang="ko-KR" altLang="en-US" sz="1200" dirty="0">
                <a:latin typeface="+mn-ea"/>
              </a:rPr>
              <a:t>를 조기 감지 → 넓게 후보를 거름</a:t>
            </a:r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  </a:t>
            </a:r>
            <a:r>
              <a:rPr lang="ko-KR" altLang="en-US" sz="1200" b="1" dirty="0">
                <a:latin typeface="+mn-ea"/>
              </a:rPr>
              <a:t>→ </a:t>
            </a:r>
            <a:r>
              <a:rPr lang="en-US" altLang="ko-KR" sz="1200" dirty="0">
                <a:latin typeface="+mn-ea"/>
              </a:rPr>
              <a:t>2</a:t>
            </a:r>
            <a:r>
              <a:rPr lang="ko-KR" altLang="en-US" sz="1200" dirty="0">
                <a:latin typeface="+mn-ea"/>
              </a:rPr>
              <a:t>차 </a:t>
            </a:r>
            <a:r>
              <a:rPr lang="en-US" altLang="ko-KR" sz="1200" dirty="0">
                <a:latin typeface="+mn-ea"/>
              </a:rPr>
              <a:t>(RF/LR, </a:t>
            </a:r>
            <a:r>
              <a:rPr lang="ko-KR" altLang="en-US" sz="1200" b="1" dirty="0">
                <a:solidFill>
                  <a:srgbClr val="138496"/>
                </a:solidFill>
                <a:latin typeface="+mn-ea"/>
              </a:rPr>
              <a:t>지도</a:t>
            </a:r>
            <a:r>
              <a:rPr lang="en-US" altLang="ko-KR" sz="1200" dirty="0">
                <a:latin typeface="+mn-ea"/>
              </a:rPr>
              <a:t>): </a:t>
            </a:r>
            <a:r>
              <a:rPr lang="ko-KR" altLang="en-US" sz="1200" dirty="0">
                <a:latin typeface="+mn-ea"/>
              </a:rPr>
              <a:t>라벨이 쌓인 뒤 </a:t>
            </a:r>
            <a:r>
              <a:rPr lang="en-US" altLang="ko-KR" sz="1200" dirty="0">
                <a:latin typeface="+mn-ea"/>
              </a:rPr>
              <a:t>"</a:t>
            </a:r>
            <a:r>
              <a:rPr lang="ko-KR" altLang="en-US" sz="1200" dirty="0">
                <a:latin typeface="+mn-ea"/>
              </a:rPr>
              <a:t>어느 단계 열화인지</a:t>
            </a:r>
            <a:r>
              <a:rPr lang="en-US" altLang="ko-KR" sz="1200" dirty="0">
                <a:latin typeface="+mn-ea"/>
              </a:rPr>
              <a:t>" </a:t>
            </a:r>
            <a:r>
              <a:rPr lang="ko-KR" altLang="en-US" sz="1200" dirty="0">
                <a:latin typeface="+mn-ea"/>
              </a:rPr>
              <a:t>정밀 분류 → 정확히 판정</a:t>
            </a:r>
            <a:endParaRPr lang="en-US" altLang="ko-KR" sz="1200" dirty="0">
              <a:latin typeface="+mn-ea"/>
              <a:cs typeface="Malgun Gothic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8D3AA-DF5A-7B72-76C8-E80EC5F0C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5BDE175-D2C2-7570-BC84-66D6FB6567BF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14F3291-2F53-2017-F1E5-1A41E37B407F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F545FD6-7C24-AF29-0878-3171FC11AA6E}"/>
              </a:ext>
            </a:extLst>
          </p:cNvPr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r>
              <a:rPr lang="en-US" altLang="ko-KR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+ DL + Grad-CAM </a:t>
            </a:r>
            <a:r>
              <a:rPr lang="ko-KR" alt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진단 파이프라인</a:t>
            </a: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F441932E-CF6F-4E8E-AB62-14506E1DAEAC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92F4AE1A-BA10-70AC-A565-0245C8827DC7}"/>
              </a:ext>
            </a:extLst>
          </p:cNvPr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</a:t>
            </a:r>
            <a:r>
              <a:rPr lang="ko-KR" alt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베어링 이상탐지 </a:t>
            </a:r>
            <a:r>
              <a:rPr lang="en-US" altLang="ko-KR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RUL </a:t>
            </a:r>
            <a:r>
              <a:rPr lang="ko-KR" alt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</a:t>
            </a:r>
            <a:r>
              <a:rPr lang="en-US" altLang="ko-KR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r>
              <a:rPr lang="ko-KR" alt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 시각화 </a:t>
            </a:r>
            <a:r>
              <a:rPr lang="en-US" altLang="ko-KR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ko-KR" alt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완성</a:t>
            </a:r>
          </a:p>
          <a:p>
            <a:pPr marL="0" indent="0">
              <a:buNone/>
            </a:pPr>
            <a:endParaRPr lang="en-US" sz="1250" dirty="0"/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5641FC70-05FC-38F9-1754-8037B4DD8A06}"/>
              </a:ext>
            </a:extLst>
          </p:cNvPr>
          <p:cNvSpPr/>
          <p:nvPr/>
        </p:nvSpPr>
        <p:spPr>
          <a:xfrm>
            <a:off x="274320" y="1398819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품질 지표</a:t>
            </a:r>
            <a:endParaRPr lang="en-US" sz="1300" dirty="0"/>
          </a:p>
        </p:txBody>
      </p:sp>
      <p:graphicFrame>
        <p:nvGraphicFramePr>
          <p:cNvPr id="48" name="Table 0">
            <a:extLst>
              <a:ext uri="{FF2B5EF4-FFF2-40B4-BE49-F238E27FC236}">
                <a16:creationId xmlns:a16="http://schemas.microsoft.com/office/drawing/2014/main" id="{0603E7DF-86B4-95BE-CC8A-D283F2AD6FFB}"/>
              </a:ext>
            </a:extLst>
          </p:cNvPr>
          <p:cNvGraphicFramePr>
            <a:graphicFrameLocks noGrp="1"/>
          </p:cNvGraphicFramePr>
          <p:nvPr/>
        </p:nvGraphicFramePr>
        <p:xfrm>
          <a:off x="274320" y="1764579"/>
          <a:ext cx="5349240" cy="2057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RUL RMSE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&lt;900분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810.38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RF대비 개선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&gt;10%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15.08%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&lt;2초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~0.1초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누수방지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GroupKFold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베어링분리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7B72C188-82B0-4AFF-BA41-7C5317E55DF7}"/>
              </a:ext>
            </a:extLst>
          </p:cNvPr>
          <p:cNvSpPr/>
          <p:nvPr/>
        </p:nvSpPr>
        <p:spPr>
          <a:xfrm>
            <a:off x="5760720" y="4223863"/>
            <a:ext cx="6156960" cy="205740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l">
              <a:spcAft>
                <a:spcPts val="700"/>
              </a:spcAft>
            </a:pPr>
            <a:r>
              <a:rPr sz="1250" b="1" i="0" dirty="0">
                <a:solidFill>
                  <a:srgbClr val="138496"/>
                </a:solidFill>
                <a:latin typeface="Malgun Gothic"/>
              </a:rPr>
              <a:t>•  </a:t>
            </a:r>
            <a:r>
              <a:rPr lang="ko-KR" altLang="en-US" sz="1250" b="1" dirty="0">
                <a:solidFill>
                  <a:srgbClr val="138496"/>
                </a:solidFill>
                <a:latin typeface="Malgun Gothic"/>
              </a:rPr>
              <a:t>전통 </a:t>
            </a:r>
            <a:r>
              <a:rPr lang="en-US" altLang="ko-KR" sz="1250" b="1" dirty="0" err="1">
                <a:solidFill>
                  <a:srgbClr val="138496"/>
                </a:solidFill>
                <a:latin typeface="Malgun Gothic"/>
              </a:rPr>
              <a:t>PdM</a:t>
            </a:r>
            <a:r>
              <a:rPr lang="ko-KR" altLang="en-US" sz="1250" b="1" dirty="0">
                <a:solidFill>
                  <a:srgbClr val="138496"/>
                </a:solidFill>
                <a:latin typeface="Malgun Gothic"/>
              </a:rPr>
              <a:t>은 보통 분 단위 잔여수명을 예측하지 못하고 </a:t>
            </a:r>
            <a:r>
              <a:rPr lang="ko-KR" altLang="en-US" sz="1250" b="1" dirty="0" err="1">
                <a:solidFill>
                  <a:srgbClr val="138496"/>
                </a:solidFill>
                <a:latin typeface="Malgun Gothic"/>
              </a:rPr>
              <a:t>임계값</a:t>
            </a:r>
            <a:r>
              <a:rPr lang="ko-KR" altLang="en-US" sz="1250" b="1" dirty="0">
                <a:solidFill>
                  <a:srgbClr val="138496"/>
                </a:solidFill>
                <a:latin typeface="Malgun Gothic"/>
              </a:rPr>
              <a:t> 경보에 </a:t>
            </a:r>
            <a:r>
              <a:rPr lang="ko-KR" altLang="en-US" sz="1250" b="1" dirty="0" err="1">
                <a:solidFill>
                  <a:srgbClr val="138496"/>
                </a:solidFill>
                <a:latin typeface="Malgun Gothic"/>
              </a:rPr>
              <a:t>머뭄</a:t>
            </a:r>
            <a:r>
              <a:rPr lang="en-US" altLang="ko-KR" sz="1250" b="1" dirty="0">
                <a:solidFill>
                  <a:srgbClr val="138496"/>
                </a:solidFill>
                <a:latin typeface="Malgun Gothic"/>
              </a:rPr>
              <a:t> </a:t>
            </a:r>
          </a:p>
          <a:p>
            <a:pPr>
              <a:spcAft>
                <a:spcPts val="700"/>
              </a:spcAft>
            </a:pPr>
            <a:r>
              <a:rPr lang="ko-KR" alt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→ </a:t>
            </a:r>
            <a:r>
              <a:rPr lang="ko-KR" altLang="en-US" sz="1250" b="1" dirty="0">
                <a:solidFill>
                  <a:srgbClr val="138496"/>
                </a:solidFill>
                <a:latin typeface="Malgun Gothic"/>
              </a:rPr>
              <a:t>그래서 본 프로젝트는 </a:t>
            </a:r>
            <a:r>
              <a:rPr lang="en-US" altLang="ko-KR" sz="1250" b="1" dirty="0">
                <a:solidFill>
                  <a:srgbClr val="138496"/>
                </a:solidFill>
                <a:latin typeface="Malgun Gothic"/>
              </a:rPr>
              <a:t>RUL</a:t>
            </a:r>
            <a:r>
              <a:rPr lang="ko-KR" altLang="en-US" sz="1250" b="1" dirty="0">
                <a:solidFill>
                  <a:srgbClr val="138496"/>
                </a:solidFill>
                <a:latin typeface="Malgun Gothic"/>
              </a:rPr>
              <a:t>을 분 단위로 추정하되</a:t>
            </a:r>
            <a:r>
              <a:rPr lang="en-US" altLang="ko-KR" sz="1250" b="1" dirty="0">
                <a:solidFill>
                  <a:srgbClr val="138496"/>
                </a:solidFill>
                <a:latin typeface="Malgun Gothic"/>
              </a:rPr>
              <a:t>, </a:t>
            </a:r>
            <a:r>
              <a:rPr lang="ko-KR" altLang="en-US" sz="1250" b="1" dirty="0">
                <a:solidFill>
                  <a:srgbClr val="138496"/>
                </a:solidFill>
                <a:latin typeface="Malgun Gothic"/>
              </a:rPr>
              <a:t>비</a:t>
            </a:r>
            <a:r>
              <a:rPr lang="en-US" altLang="ko-KR" sz="1250" b="1" dirty="0">
                <a:solidFill>
                  <a:srgbClr val="138496"/>
                </a:solidFill>
                <a:latin typeface="Malgun Gothic"/>
              </a:rPr>
              <a:t>-</a:t>
            </a:r>
            <a:r>
              <a:rPr lang="ko-KR" altLang="en-US" sz="1250" b="1" dirty="0">
                <a:solidFill>
                  <a:srgbClr val="138496"/>
                </a:solidFill>
                <a:latin typeface="Malgun Gothic"/>
              </a:rPr>
              <a:t>딥러닝 베이스라인</a:t>
            </a:r>
            <a:r>
              <a:rPr lang="en-US" altLang="ko-KR" sz="1250" b="1" dirty="0">
                <a:solidFill>
                  <a:srgbClr val="138496"/>
                </a:solidFill>
                <a:latin typeface="Malgun Gothic"/>
              </a:rPr>
              <a:t>(RF, OOS RMSE 954</a:t>
            </a:r>
            <a:r>
              <a:rPr lang="ko-KR" altLang="en-US" sz="1250" b="1" dirty="0">
                <a:solidFill>
                  <a:srgbClr val="138496"/>
                </a:solidFill>
                <a:latin typeface="Malgun Gothic"/>
              </a:rPr>
              <a:t>분</a:t>
            </a:r>
            <a:r>
              <a:rPr lang="en-US" altLang="ko-KR" sz="1250" b="1" dirty="0">
                <a:solidFill>
                  <a:srgbClr val="138496"/>
                </a:solidFill>
                <a:latin typeface="Malgun Gothic"/>
              </a:rPr>
              <a:t>) </a:t>
            </a:r>
            <a:r>
              <a:rPr lang="ko-KR" altLang="en-US" sz="1250" b="1" dirty="0">
                <a:solidFill>
                  <a:srgbClr val="138496"/>
                </a:solidFill>
                <a:latin typeface="Malgun Gothic"/>
              </a:rPr>
              <a:t>대비 </a:t>
            </a:r>
            <a:r>
              <a:rPr lang="en-US" altLang="ko-KR" sz="1250" b="1" dirty="0">
                <a:solidFill>
                  <a:srgbClr val="138496"/>
                </a:solidFill>
                <a:latin typeface="Malgun Gothic"/>
              </a:rPr>
              <a:t>DL(810</a:t>
            </a:r>
            <a:r>
              <a:rPr lang="ko-KR" altLang="en-US" sz="1250" b="1" dirty="0">
                <a:solidFill>
                  <a:srgbClr val="138496"/>
                </a:solidFill>
                <a:latin typeface="Malgun Gothic"/>
              </a:rPr>
              <a:t>분</a:t>
            </a:r>
            <a:r>
              <a:rPr lang="en-US" altLang="ko-KR" sz="1250" b="1" dirty="0">
                <a:solidFill>
                  <a:srgbClr val="138496"/>
                </a:solidFill>
                <a:latin typeface="Malgun Gothic"/>
              </a:rPr>
              <a:t>)</a:t>
            </a:r>
            <a:r>
              <a:rPr lang="ko-KR" altLang="en-US" sz="1250" b="1" dirty="0">
                <a:solidFill>
                  <a:srgbClr val="138496"/>
                </a:solidFill>
                <a:latin typeface="Malgun Gothic"/>
              </a:rPr>
              <a:t>로 </a:t>
            </a:r>
            <a:r>
              <a:rPr lang="en-US" altLang="ko-KR" sz="1250" b="1" dirty="0">
                <a:solidFill>
                  <a:srgbClr val="138496"/>
                </a:solidFill>
                <a:latin typeface="Malgun Gothic"/>
              </a:rPr>
              <a:t>15% </a:t>
            </a:r>
            <a:r>
              <a:rPr lang="ko-KR" altLang="en-US" sz="1250" b="1" dirty="0">
                <a:solidFill>
                  <a:srgbClr val="138496"/>
                </a:solidFill>
                <a:latin typeface="Malgun Gothic"/>
              </a:rPr>
              <a:t>개선</a:t>
            </a:r>
            <a:endParaRPr lang="en-US" altLang="ko-KR" sz="1250" b="1" dirty="0">
              <a:solidFill>
                <a:srgbClr val="138496"/>
              </a:solidFill>
              <a:latin typeface="Malgun Gothic"/>
            </a:endParaRPr>
          </a:p>
          <a:p>
            <a:pPr>
              <a:spcAft>
                <a:spcPts val="700"/>
              </a:spcAft>
            </a:pPr>
            <a:r>
              <a:rPr lang="ko-KR" alt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→ </a:t>
            </a:r>
            <a:r>
              <a:rPr lang="ko-KR" altLang="en-US" sz="1250" b="1" dirty="0">
                <a:solidFill>
                  <a:srgbClr val="138496"/>
                </a:solidFill>
                <a:latin typeface="Malgun Gothic"/>
              </a:rPr>
              <a:t>산업적으로도 </a:t>
            </a:r>
            <a:r>
              <a:rPr lang="en-US" altLang="ko-KR" sz="1250" b="1" dirty="0">
                <a:solidFill>
                  <a:srgbClr val="138496"/>
                </a:solidFill>
                <a:latin typeface="Malgun Gothic"/>
              </a:rPr>
              <a:t>AI </a:t>
            </a:r>
            <a:r>
              <a:rPr lang="ko-KR" altLang="en-US" sz="1250" b="1" dirty="0">
                <a:solidFill>
                  <a:srgbClr val="138496"/>
                </a:solidFill>
                <a:latin typeface="Malgun Gothic"/>
              </a:rPr>
              <a:t>도입 시 정지 감소가 전통 </a:t>
            </a:r>
            <a:r>
              <a:rPr lang="en-US" altLang="ko-KR" sz="1250" b="1" dirty="0">
                <a:solidFill>
                  <a:srgbClr val="138496"/>
                </a:solidFill>
                <a:latin typeface="Malgun Gothic"/>
              </a:rPr>
              <a:t>30~50%</a:t>
            </a:r>
            <a:r>
              <a:rPr lang="ko-KR" altLang="en-US" sz="1250" b="1" dirty="0">
                <a:solidFill>
                  <a:srgbClr val="138496"/>
                </a:solidFill>
                <a:latin typeface="Malgun Gothic"/>
              </a:rPr>
              <a:t>에서 </a:t>
            </a:r>
            <a:r>
              <a:rPr lang="en-US" altLang="ko-KR" sz="1250" b="1" dirty="0">
                <a:solidFill>
                  <a:srgbClr val="138496"/>
                </a:solidFill>
                <a:latin typeface="Malgun Gothic"/>
              </a:rPr>
              <a:t>40~60%</a:t>
            </a:r>
            <a:r>
              <a:rPr lang="ko-KR" altLang="en-US" sz="1250" b="1" dirty="0">
                <a:solidFill>
                  <a:srgbClr val="138496"/>
                </a:solidFill>
                <a:latin typeface="Malgun Gothic"/>
              </a:rPr>
              <a:t>로 커지는 것과 같은 방향</a:t>
            </a:r>
            <a:endParaRPr sz="1250" b="1" dirty="0">
              <a:solidFill>
                <a:srgbClr val="138496"/>
              </a:solidFill>
              <a:latin typeface="Malgun Gothic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4860D5-E3FB-90B2-C7F7-D2BD748C2E81}"/>
              </a:ext>
            </a:extLst>
          </p:cNvPr>
          <p:cNvSpPr txBox="1"/>
          <p:nvPr/>
        </p:nvSpPr>
        <p:spPr>
          <a:xfrm>
            <a:off x="5943600" y="3848629"/>
            <a:ext cx="493776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ko-KR" alt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기존 현장 대비 비교</a:t>
            </a:r>
            <a:endParaRPr sz="1300" b="1" dirty="0">
              <a:solidFill>
                <a:srgbClr val="1F3A5F"/>
              </a:solidFill>
              <a:latin typeface="Malgun Gothic" pitchFamily="34" charset="0"/>
              <a:ea typeface="Malgun Gothic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6402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70432" y="274320"/>
            <a:ext cx="1060704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ko-KR" alt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결론</a:t>
            </a:r>
            <a:r>
              <a:rPr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. 두 </a:t>
            </a:r>
            <a:r>
              <a:rPr sz="23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과제</a:t>
            </a:r>
            <a:r>
              <a:rPr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23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구성</a:t>
            </a:r>
            <a:r>
              <a:rPr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 — ML </a:t>
            </a:r>
            <a:r>
              <a:rPr sz="23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과제</a:t>
            </a:r>
            <a:r>
              <a:rPr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sz="23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PdM</a:t>
            </a:r>
            <a:r>
              <a:rPr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-Guard) ↔ DL </a:t>
            </a:r>
            <a:r>
              <a:rPr sz="23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과제</a:t>
            </a:r>
            <a:r>
              <a:rPr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(RUL+ML </a:t>
            </a:r>
            <a:r>
              <a:rPr sz="23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통합</a:t>
            </a:r>
            <a:r>
              <a:rPr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)</a:t>
            </a:r>
          </a:p>
          <a:p>
            <a:r>
              <a:rPr sz="1300" b="0" i="0" dirty="0" err="1">
                <a:solidFill>
                  <a:srgbClr val="6B7785"/>
                </a:solidFill>
                <a:latin typeface="Malgun Gothic"/>
              </a:rPr>
              <a:t>현장</a:t>
            </a:r>
            <a:r>
              <a:rPr sz="1300" b="0" i="0" dirty="0">
                <a:solidFill>
                  <a:srgbClr val="6B7785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785"/>
                </a:solidFill>
                <a:latin typeface="Malgun Gothic"/>
              </a:rPr>
              <a:t>데이터를</a:t>
            </a:r>
            <a:r>
              <a:rPr sz="1300" b="0" i="0" dirty="0">
                <a:solidFill>
                  <a:srgbClr val="6B7785"/>
                </a:solidFill>
                <a:latin typeface="Malgun Gothic"/>
              </a:rPr>
              <a:t> 두 </a:t>
            </a:r>
            <a:r>
              <a:rPr sz="1300" b="0" i="0" dirty="0" err="1">
                <a:solidFill>
                  <a:srgbClr val="6B7785"/>
                </a:solidFill>
                <a:latin typeface="Malgun Gothic"/>
              </a:rPr>
              <a:t>Streamlit</a:t>
            </a:r>
            <a:r>
              <a:rPr sz="1300" b="0" i="0" dirty="0">
                <a:solidFill>
                  <a:srgbClr val="6B7785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785"/>
                </a:solidFill>
                <a:latin typeface="Malgun Gothic"/>
              </a:rPr>
              <a:t>앱이</a:t>
            </a:r>
            <a:r>
              <a:rPr sz="1300" b="0" i="0" dirty="0">
                <a:solidFill>
                  <a:srgbClr val="6B7785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785"/>
                </a:solidFill>
                <a:latin typeface="Malgun Gothic"/>
              </a:rPr>
              <a:t>구독</a:t>
            </a:r>
            <a:r>
              <a:rPr sz="1300" b="0" i="0" dirty="0">
                <a:solidFill>
                  <a:srgbClr val="6B7785"/>
                </a:solidFill>
                <a:latin typeface="Malgun Gothic"/>
              </a:rPr>
              <a:t> — </a:t>
            </a:r>
            <a:r>
              <a:rPr sz="1300" b="0" i="0" dirty="0" err="1">
                <a:solidFill>
                  <a:srgbClr val="6B7785"/>
                </a:solidFill>
                <a:latin typeface="Malgun Gothic"/>
              </a:rPr>
              <a:t>역할</a:t>
            </a:r>
            <a:r>
              <a:rPr sz="1300" b="0" i="0" dirty="0">
                <a:solidFill>
                  <a:srgbClr val="6B7785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785"/>
                </a:solidFill>
                <a:latin typeface="Malgun Gothic"/>
              </a:rPr>
              <a:t>분담과</a:t>
            </a:r>
            <a:r>
              <a:rPr sz="1300" b="0" i="0" dirty="0">
                <a:solidFill>
                  <a:srgbClr val="6B7785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785"/>
                </a:solidFill>
                <a:latin typeface="Malgun Gothic"/>
              </a:rPr>
              <a:t>상호</a:t>
            </a:r>
            <a:r>
              <a:rPr sz="1300" b="0" i="0" dirty="0">
                <a:solidFill>
                  <a:srgbClr val="6B7785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785"/>
                </a:solidFill>
                <a:latin typeface="Malgun Gothic"/>
              </a:rPr>
              <a:t>연결</a:t>
            </a:r>
            <a:endParaRPr sz="1300" b="0" i="0" dirty="0">
              <a:solidFill>
                <a:srgbClr val="6B7785"/>
              </a:solidFill>
              <a:latin typeface="Malgun Gothic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line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0" y="1417320"/>
            <a:ext cx="4206240" cy="7315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r>
              <a:rPr sz="1250" b="1" i="0">
                <a:solidFill>
                  <a:srgbClr val="1F3A5F"/>
                </a:solidFill>
                <a:latin typeface="Malgun Gothic"/>
              </a:rPr>
              <a:t>현장 데이터</a:t>
            </a:r>
          </a:p>
          <a:p>
            <a:pPr algn="ctr"/>
            <a:r>
              <a:rPr sz="1000" b="0" i="0">
                <a:solidFill>
                  <a:srgbClr val="6B7785"/>
                </a:solidFill>
                <a:latin typeface="Malgun Gothic"/>
              </a:rPr>
              <a:t>센서 → 엣지(1분 12피처) → 발행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663440" y="1783080"/>
            <a:ext cx="594360" cy="0"/>
          </a:xfrm>
          <a:prstGeom prst="line">
            <a:avLst/>
          </a:prstGeom>
          <a:ln w="25400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257800" y="1417320"/>
            <a:ext cx="4160520" cy="731520"/>
          </a:xfrm>
          <a:prstGeom prst="roundRect">
            <a:avLst/>
          </a:prstGeom>
          <a:solidFill>
            <a:srgbClr val="13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algun Gothic"/>
              </a:rPr>
              <a:t>브로커 (MQTT) = IoT 플랫폼</a:t>
            </a:r>
          </a:p>
          <a:p>
            <a:pPr algn="ctr"/>
            <a:r>
              <a:rPr sz="1000" b="0" i="0">
                <a:solidFill>
                  <a:srgbClr val="CFDCEA"/>
                </a:solidFill>
                <a:latin typeface="Malgun Gothic"/>
              </a:rPr>
              <a:t>구독(Subscribe) — 1:N 분배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554480"/>
            <a:ext cx="23774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1100" b="1" i="0">
                <a:solidFill>
                  <a:srgbClr val="138496"/>
                </a:solidFill>
                <a:latin typeface="Malgun Gothic"/>
              </a:rPr>
              <a:t>↓ 두 앱이 구독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108960" y="2148840"/>
            <a:ext cx="2377440" cy="502920"/>
          </a:xfrm>
          <a:prstGeom prst="line">
            <a:avLst/>
          </a:prstGeom>
          <a:ln w="20320">
            <a:solidFill>
              <a:srgbClr val="138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0" y="2148840"/>
            <a:ext cx="1280160" cy="502920"/>
          </a:xfrm>
          <a:prstGeom prst="line">
            <a:avLst/>
          </a:prstGeom>
          <a:ln w="20320">
            <a:solidFill>
              <a:srgbClr val="138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" y="2651760"/>
            <a:ext cx="521208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5212080" cy="548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  ① ML 과제 — PdM-Guard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10128"/>
            <a:ext cx="4754880" cy="1783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  <a:latin typeface="Malgun Gothic"/>
              </a:rPr>
              <a:t>mlfactoryautomation.streamlit.app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데이터: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AI4I 2020 (설비 센서)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모델: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XGBoost 열화 분류 (ML)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기능: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P(열화) 임계값 경보 · 즉시 이상 판정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E7D32"/>
                </a:solidFill>
                <a:latin typeface="Malgun Gothic"/>
              </a:rPr>
              <a:t>• 역할: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"지금 이상인가?" 분류 진단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28232" y="2651760"/>
            <a:ext cx="5212080" cy="2514600"/>
          </a:xfrm>
          <a:prstGeom prst="roundRect">
            <a:avLst/>
          </a:prstGeom>
          <a:solidFill>
            <a:srgbClr val="F2F7FB"/>
          </a:solidFill>
          <a:ln w="2222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28232" y="2651760"/>
            <a:ext cx="5212080" cy="5486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  ② DL 과제 — 현재 발표 프로젝트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3310128"/>
            <a:ext cx="4754880" cy="1783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1" i="0">
                <a:solidFill>
                  <a:srgbClr val="2E75B6"/>
                </a:solidFill>
                <a:latin typeface="Malgun Gothic"/>
              </a:rPr>
              <a:t>dlfactoryautomation.streamlit.app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데이터: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FEMTO-ST (진동·온도 시계열)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모델: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GRU RUL(DL) + AE 이상(DL) + LR·RF 분류(ML)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기능: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잔여수명 예측 + 이상탐지 + 통합 진단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3A5F"/>
                </a:solidFill>
                <a:latin typeface="Malgun Gothic"/>
              </a:rPr>
              <a:t>• 역할: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"얼마 남았나?" RUL + ML 통합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5779008" y="3703320"/>
            <a:ext cx="630936" cy="0"/>
          </a:xfrm>
          <a:prstGeom prst="line">
            <a:avLst/>
          </a:prstGeom>
          <a:ln w="28575">
            <a:solidFill>
              <a:srgbClr val="D98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42432" y="3767328"/>
            <a:ext cx="704088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1" i="0">
                <a:solidFill>
                  <a:srgbClr val="D98A00"/>
                </a:solidFill>
                <a:latin typeface="Malgun Gothic"/>
              </a:rPr>
              <a:t>앱</a:t>
            </a:r>
          </a:p>
          <a:p>
            <a:pPr algn="ctr"/>
            <a:r>
              <a:rPr sz="900" b="1" i="0">
                <a:solidFill>
                  <a:srgbClr val="D98A00"/>
                </a:solidFill>
                <a:latin typeface="Malgun Gothic"/>
              </a:rPr>
              <a:t>연동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49240"/>
            <a:ext cx="11274552" cy="96012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88900" rtlCol="0" anchor="ctr"/>
          <a:lstStyle/>
          <a:p>
            <a:pPr algn="l"/>
            <a:r>
              <a:rPr sz="1250" b="1" i="0" dirty="0" err="1">
                <a:solidFill>
                  <a:srgbClr val="D98A00"/>
                </a:solidFill>
                <a:latin typeface="Malgun Gothic"/>
              </a:rPr>
              <a:t>개념</a:t>
            </a:r>
            <a:r>
              <a:rPr sz="1250" b="1" i="0" dirty="0">
                <a:solidFill>
                  <a:srgbClr val="D98A00"/>
                </a:solidFill>
                <a:latin typeface="Malgun Gothic"/>
              </a:rPr>
              <a:t>   </a:t>
            </a:r>
            <a:r>
              <a:rPr sz="1200" b="0" i="0" dirty="0" err="1">
                <a:solidFill>
                  <a:srgbClr val="FFFFFF"/>
                </a:solidFill>
                <a:latin typeface="Malgun Gothic"/>
              </a:rPr>
              <a:t>예지보전</a:t>
            </a:r>
            <a:r>
              <a:rPr sz="1200" b="0" i="0" dirty="0">
                <a:solidFill>
                  <a:srgbClr val="FFFFFF"/>
                </a:solidFill>
                <a:latin typeface="Malgun Gothic"/>
              </a:rPr>
              <a:t>(</a:t>
            </a:r>
            <a:r>
              <a:rPr sz="1200" b="0" i="0" dirty="0" err="1">
                <a:solidFill>
                  <a:srgbClr val="FFFFFF"/>
                </a:solidFill>
                <a:latin typeface="Malgun Gothic"/>
              </a:rPr>
              <a:t>PdM</a:t>
            </a:r>
            <a:r>
              <a:rPr sz="1200" b="0" i="0" dirty="0">
                <a:solidFill>
                  <a:srgbClr val="FFFFFF"/>
                </a:solidFill>
                <a:latin typeface="Malgun Gothic"/>
              </a:rPr>
              <a:t>)은 </a:t>
            </a:r>
            <a:r>
              <a:rPr sz="1200" b="0" i="0" dirty="0" err="1">
                <a:solidFill>
                  <a:srgbClr val="FFFFFF"/>
                </a:solidFill>
                <a:latin typeface="Malgun Gothic"/>
              </a:rPr>
              <a:t>목적이고</a:t>
            </a:r>
            <a:r>
              <a:rPr sz="1200" b="0" i="0" dirty="0">
                <a:solidFill>
                  <a:srgbClr val="FFFFFF"/>
                </a:solidFill>
                <a:latin typeface="Malgun Gothic"/>
              </a:rPr>
              <a:t>, 그 </a:t>
            </a:r>
            <a:r>
              <a:rPr sz="1200" b="0" i="0" dirty="0" err="1">
                <a:solidFill>
                  <a:srgbClr val="FFFFFF"/>
                </a:solidFill>
                <a:latin typeface="Malgun Gothic"/>
              </a:rPr>
              <a:t>아래</a:t>
            </a:r>
            <a:r>
              <a:rPr sz="120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ML 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과제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(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PdM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-Guard)=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열화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분류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전담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, DL 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과제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=RUL 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예측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중심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 + ML 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분류까지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통합</a:t>
            </a:r>
            <a:r>
              <a:rPr sz="1200" b="0" i="0" dirty="0" err="1">
                <a:solidFill>
                  <a:srgbClr val="FFFFFF"/>
                </a:solidFill>
                <a:latin typeface="Malgun Gothic"/>
              </a:rPr>
              <a:t>입니다</a:t>
            </a:r>
            <a:r>
              <a:rPr sz="1200" b="0" i="0" dirty="0">
                <a:solidFill>
                  <a:srgbClr val="FFFFFF"/>
                </a:solidFill>
                <a:latin typeface="Malgun Gothic"/>
              </a:rPr>
              <a:t>.</a:t>
            </a:r>
          </a:p>
          <a:p>
            <a:pPr algn="l">
              <a:spcBef>
                <a:spcPts val="200"/>
              </a:spcBef>
            </a:pPr>
            <a:r>
              <a:rPr sz="1150" b="0" i="0" dirty="0">
                <a:solidFill>
                  <a:srgbClr val="FFFFFF"/>
                </a:solidFill>
                <a:latin typeface="Malgun Gothic"/>
              </a:rPr>
              <a:t>→ 두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앱은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링크로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연결된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상호보완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구성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—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DL앱의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"ML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설비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진단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앱으로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→"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버튼으로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이동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.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분류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(ML)는 "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지금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이상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?", RUL(DL)은 "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얼마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남았나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?"를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담당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50" b="0" i="0">
                <a:solidFill>
                  <a:srgbClr val="6B7785"/>
                </a:solidFill>
                <a:latin typeface="Malgun Gothic"/>
              </a:rPr>
              <a:t>FEMTO-ST 베어링 RUL 예측   ·   ML+DL 통합 PdM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lang="en-US" sz="950" b="0" i="0" dirty="0">
                <a:solidFill>
                  <a:srgbClr val="6B7785"/>
                </a:solidFill>
                <a:latin typeface="Malgun Gothic"/>
              </a:rPr>
              <a:t>13</a:t>
            </a:r>
            <a:endParaRPr sz="950" b="0" i="0" dirty="0">
              <a:solidFill>
                <a:srgbClr val="6B7785"/>
              </a:solidFill>
              <a:latin typeface="Malgun Gothic"/>
            </a:endParaRPr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EA198BC5-C3E0-A9B2-765C-1BC57001511B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1339EE66-BC98-8490-B6B7-A2B011AF5F73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70432" y="426420"/>
            <a:ext cx="10515600" cy="48218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altLang="ko-KR" sz="28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r>
              <a:rPr lang="en-US" altLang="ko-KR" sz="2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r>
              <a:rPr sz="2500" b="1" i="0" dirty="0" err="1">
                <a:solidFill>
                  <a:srgbClr val="1F3A5F"/>
                </a:solidFill>
                <a:latin typeface="Malgun Gothic"/>
              </a:rPr>
              <a:t>성능</a:t>
            </a:r>
            <a:r>
              <a:rPr sz="25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2500" b="1" i="0" dirty="0" err="1">
                <a:solidFill>
                  <a:srgbClr val="1F3A5F"/>
                </a:solidFill>
                <a:latin typeface="Malgun Gothic"/>
              </a:rPr>
              <a:t>개선</a:t>
            </a:r>
            <a:r>
              <a:rPr sz="25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2500" b="1" i="0" dirty="0" err="1">
                <a:solidFill>
                  <a:srgbClr val="1F3A5F"/>
                </a:solidFill>
                <a:latin typeface="Malgun Gothic"/>
              </a:rPr>
              <a:t>로드맵</a:t>
            </a:r>
            <a:r>
              <a:rPr sz="2500" b="1" i="0" dirty="0">
                <a:solidFill>
                  <a:srgbClr val="1F3A5F"/>
                </a:solidFill>
                <a:latin typeface="Malgun Gothic"/>
              </a:rPr>
              <a:t> + </a:t>
            </a:r>
            <a:r>
              <a:rPr sz="2500" b="1" i="0" dirty="0" err="1">
                <a:solidFill>
                  <a:srgbClr val="1F3A5F"/>
                </a:solidFill>
                <a:latin typeface="Malgun Gothic"/>
              </a:rPr>
              <a:t>한계</a:t>
            </a:r>
            <a:r>
              <a:rPr sz="2500" b="1" i="0" dirty="0">
                <a:solidFill>
                  <a:srgbClr val="1F3A5F"/>
                </a:solidFill>
                <a:latin typeface="Malgun Gothic"/>
              </a:rPr>
              <a:t> · </a:t>
            </a:r>
            <a:r>
              <a:rPr sz="2500" b="1" i="0" dirty="0" err="1">
                <a:solidFill>
                  <a:srgbClr val="1F3A5F"/>
                </a:solidFill>
                <a:latin typeface="Malgun Gothic"/>
              </a:rPr>
              <a:t>실무</a:t>
            </a:r>
            <a:r>
              <a:rPr sz="25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2500" b="1" i="0" dirty="0" err="1">
                <a:solidFill>
                  <a:srgbClr val="1F3A5F"/>
                </a:solidFill>
                <a:latin typeface="Malgun Gothic"/>
              </a:rPr>
              <a:t>포지셔</a:t>
            </a:r>
            <a:r>
              <a:rPr lang="ko-KR" altLang="en-US" sz="2500" b="1" i="0" dirty="0" err="1">
                <a:solidFill>
                  <a:srgbClr val="1F3A5F"/>
                </a:solidFill>
                <a:latin typeface="Malgun Gothic"/>
              </a:rPr>
              <a:t>닝</a:t>
            </a:r>
            <a:endParaRPr sz="2500" b="1" i="0" dirty="0">
              <a:solidFill>
                <a:srgbClr val="1F3A5F"/>
              </a:solidFill>
              <a:latin typeface="Malgun Gothic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298448"/>
            <a:ext cx="612648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sz="1400" b="1" i="0" dirty="0">
                <a:solidFill>
                  <a:srgbClr val="1F3A5F"/>
                </a:solidFill>
                <a:latin typeface="Malgun Gothic"/>
              </a:rPr>
              <a:t>RUL </a:t>
            </a:r>
            <a:r>
              <a:rPr lang="ko-KR" altLang="en-US" sz="1400" b="1" i="0" dirty="0">
                <a:solidFill>
                  <a:srgbClr val="1F3A5F"/>
                </a:solidFill>
                <a:latin typeface="Malgun Gothic"/>
              </a:rPr>
              <a:t>예측 </a:t>
            </a:r>
            <a:r>
              <a:rPr sz="1400" b="1" i="0" dirty="0" err="1">
                <a:solidFill>
                  <a:srgbClr val="1F3A5F"/>
                </a:solidFill>
                <a:latin typeface="Malgun Gothic"/>
              </a:rPr>
              <a:t>성능</a:t>
            </a:r>
            <a:r>
              <a:rPr sz="14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400" b="1" i="0" dirty="0" err="1">
                <a:solidFill>
                  <a:srgbClr val="1F3A5F"/>
                </a:solidFill>
                <a:latin typeface="Malgun Gothic"/>
              </a:rPr>
              <a:t>개선</a:t>
            </a:r>
            <a:r>
              <a:rPr sz="14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400" b="1" i="0" dirty="0" err="1">
                <a:solidFill>
                  <a:srgbClr val="1F3A5F"/>
                </a:solidFill>
                <a:latin typeface="Malgun Gothic"/>
              </a:rPr>
              <a:t>로드맵</a:t>
            </a:r>
            <a:r>
              <a:rPr sz="1400" b="1" i="0" dirty="0">
                <a:solidFill>
                  <a:srgbClr val="1F3A5F"/>
                </a:solidFill>
                <a:latin typeface="Malgun Gothic"/>
              </a:rPr>
              <a:t>  (</a:t>
            </a:r>
            <a:r>
              <a:rPr lang="ko-KR" altLang="en-US" sz="1400" b="1" i="0" dirty="0">
                <a:solidFill>
                  <a:srgbClr val="1F3A5F"/>
                </a:solidFill>
                <a:latin typeface="Malgun Gothic"/>
              </a:rPr>
              <a:t>빠른 성과 우선</a:t>
            </a:r>
            <a:r>
              <a:rPr lang="en-US" altLang="ko-KR" sz="1400" b="1" i="0" dirty="0">
                <a:solidFill>
                  <a:srgbClr val="1F3A5F"/>
                </a:solidFill>
                <a:latin typeface="Malgun Gothic"/>
              </a:rPr>
              <a:t>)</a:t>
            </a:r>
            <a:endParaRPr sz="1400" b="1" i="0" dirty="0">
              <a:solidFill>
                <a:srgbClr val="1F3A5F"/>
              </a:solidFill>
              <a:latin typeface="Malgun Gothic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306705"/>
              </p:ext>
            </p:extLst>
          </p:nvPr>
        </p:nvGraphicFramePr>
        <p:xfrm>
          <a:off x="457200" y="1664208"/>
          <a:ext cx="6126480" cy="2322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단계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핵심 항목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성능개선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기간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① Attention + SHAP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303C"/>
                          </a:solidFill>
                          <a:latin typeface="Malgun Gothic"/>
                        </a:rPr>
                        <a:t>열화 말기 가중 · 근거 해설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−100~200분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~3개월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② 앙상블 GRU+1D-CNN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303C"/>
                          </a:solidFill>
                          <a:latin typeface="Malgun Gothic"/>
                        </a:rPr>
                        <a:t>스태킹(RF+GBM+AE) · 견고성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−150~300분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~6개월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00" b="1" i="0" dirty="0">
                          <a:solidFill>
                            <a:srgbClr val="1F3A5F"/>
                          </a:solidFill>
                          <a:latin typeface="Malgun Gothic"/>
                        </a:rPr>
                        <a:t>③ </a:t>
                      </a:r>
                      <a:r>
                        <a:rPr sz="1100" b="1" i="0" dirty="0" err="1">
                          <a:solidFill>
                            <a:srgbClr val="1F3A5F"/>
                          </a:solidFill>
                          <a:latin typeface="Malgun Gothic"/>
                        </a:rPr>
                        <a:t>실시간</a:t>
                      </a:r>
                      <a:r>
                        <a:rPr sz="1100" b="1" i="0" dirty="0">
                          <a:solidFill>
                            <a:srgbClr val="1F3A5F"/>
                          </a:solidFill>
                          <a:latin typeface="Malgun Gothic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1F3A5F"/>
                          </a:solidFill>
                          <a:latin typeface="Malgun Gothic"/>
                        </a:rPr>
                        <a:t>파이프라인</a:t>
                      </a:r>
                      <a:endParaRPr sz="1100" b="1" i="0" dirty="0">
                        <a:solidFill>
                          <a:srgbClr val="1F3A5F"/>
                        </a:solidFill>
                        <a:latin typeface="Malgun Gothic"/>
                      </a:endParaRP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303C"/>
                          </a:solidFill>
                          <a:latin typeface="Malgun Gothic"/>
                        </a:rPr>
                        <a:t>Kafka+IoT 연속 시계열 (tile 대체)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−200~400분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~6–9개월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④ 실공장 · 다설비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303C"/>
                          </a:solidFill>
                          <a:latin typeface="Malgun Gothic"/>
                        </a:rPr>
                        <a:t>전이학습(EfficientNetB0) · 多조건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범용성 ↑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~12개월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12280" y="1298448"/>
            <a:ext cx="493776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1400" b="1" i="0" dirty="0" err="1">
                <a:solidFill>
                  <a:srgbClr val="1F3A5F"/>
                </a:solidFill>
                <a:latin typeface="Malgun Gothic"/>
              </a:rPr>
              <a:t>한계점</a:t>
            </a:r>
            <a:r>
              <a:rPr sz="1400" b="1" i="0" dirty="0">
                <a:solidFill>
                  <a:srgbClr val="1F3A5F"/>
                </a:solidFill>
                <a:latin typeface="Malgun Gothic"/>
              </a:rPr>
              <a:t> (Limitations)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664208"/>
            <a:ext cx="4919472" cy="23317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l">
              <a:spcAft>
                <a:spcPts val="700"/>
              </a:spcAft>
            </a:pPr>
            <a:r>
              <a:rPr sz="1250" b="1" i="0" dirty="0">
                <a:solidFill>
                  <a:srgbClr val="138496"/>
                </a:solidFill>
                <a:latin typeface="Malgun Gothic"/>
              </a:rPr>
              <a:t>• 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베어링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7개뿐 →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일반화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제약</a:t>
            </a:r>
            <a:endParaRPr sz="1250" b="0" i="0" dirty="0">
              <a:solidFill>
                <a:srgbClr val="22303C"/>
              </a:solidFill>
              <a:latin typeface="Malgun Gothic"/>
            </a:endParaRPr>
          </a:p>
          <a:p>
            <a:pPr algn="l">
              <a:spcAft>
                <a:spcPts val="700"/>
              </a:spcAft>
            </a:pPr>
            <a:r>
              <a:rPr sz="1250" b="1" i="0" dirty="0">
                <a:solidFill>
                  <a:srgbClr val="138496"/>
                </a:solidFill>
                <a:latin typeface="Malgun Gothic"/>
              </a:rPr>
              <a:t>• 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단일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운전조건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(1800 rpm)</a:t>
            </a:r>
          </a:p>
          <a:p>
            <a:pPr algn="l">
              <a:spcAft>
                <a:spcPts val="700"/>
              </a:spcAft>
            </a:pPr>
            <a:r>
              <a:rPr sz="1250" b="1" i="0" dirty="0">
                <a:solidFill>
                  <a:srgbClr val="138496"/>
                </a:solidFill>
                <a:latin typeface="Malgun Gothic"/>
              </a:rPr>
              <a:t>•  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2채널만 (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온도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·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전류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센서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없음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)</a:t>
            </a:r>
          </a:p>
          <a:p>
            <a:pPr algn="l">
              <a:spcAft>
                <a:spcPts val="700"/>
              </a:spcAft>
            </a:pPr>
            <a:r>
              <a:rPr sz="1250" b="1" i="0" dirty="0">
                <a:solidFill>
                  <a:srgbClr val="138496"/>
                </a:solidFill>
                <a:latin typeface="Malgun Gothic"/>
              </a:rPr>
              <a:t>• 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배치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처리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(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실시간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아님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)</a:t>
            </a:r>
          </a:p>
          <a:p>
            <a:pPr algn="l">
              <a:spcAft>
                <a:spcPts val="700"/>
              </a:spcAft>
            </a:pPr>
            <a:r>
              <a:rPr sz="1250" b="1" i="0" dirty="0">
                <a:solidFill>
                  <a:srgbClr val="138496"/>
                </a:solidFill>
                <a:latin typeface="Malgun Gothic"/>
              </a:rPr>
              <a:t>• 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RF는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라벨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필요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→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신규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설비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공백</a:t>
            </a:r>
            <a:r>
              <a:rPr lang="en-US" altLang="ko-KR" sz="1250" b="0" i="0" dirty="0">
                <a:solidFill>
                  <a:srgbClr val="22303C"/>
                </a:solidFill>
                <a:latin typeface="Malgun Gothic"/>
              </a:rPr>
              <a:t>(</a:t>
            </a:r>
            <a:r>
              <a:rPr lang="ko-KR" altLang="en-US" sz="1250" b="0" i="0" dirty="0">
                <a:solidFill>
                  <a:srgbClr val="22303C"/>
                </a:solidFill>
                <a:latin typeface="Malgun Gothic"/>
              </a:rPr>
              <a:t>비지도로 </a:t>
            </a:r>
            <a:r>
              <a:rPr lang="en-US" altLang="ko-KR" sz="1250" b="0" i="0" dirty="0">
                <a:solidFill>
                  <a:srgbClr val="22303C"/>
                </a:solidFill>
                <a:latin typeface="Malgun Gothic"/>
              </a:rPr>
              <a:t>1</a:t>
            </a:r>
            <a:r>
              <a:rPr lang="ko-KR" altLang="en-US" sz="1250" b="0" i="0" dirty="0">
                <a:solidFill>
                  <a:srgbClr val="22303C"/>
                </a:solidFill>
                <a:latin typeface="Malgun Gothic"/>
              </a:rPr>
              <a:t>차 보완</a:t>
            </a:r>
            <a:r>
              <a:rPr lang="en-US" altLang="ko-KR" sz="1250" b="0" i="0" dirty="0">
                <a:solidFill>
                  <a:srgbClr val="22303C"/>
                </a:solidFill>
                <a:latin typeface="Malgun Gothic"/>
              </a:rPr>
              <a:t>)</a:t>
            </a:r>
            <a:endParaRPr sz="1250" b="0" i="0" dirty="0">
              <a:solidFill>
                <a:srgbClr val="22303C"/>
              </a:solidFill>
              <a:latin typeface="Malgun Gothi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4187952"/>
            <a:ext cx="11274552" cy="932688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l"/>
            <a:r>
              <a:rPr sz="1250" b="1" i="0" dirty="0" err="1">
                <a:solidFill>
                  <a:srgbClr val="1F3A5F"/>
                </a:solidFill>
                <a:latin typeface="Malgun Gothic"/>
              </a:rPr>
              <a:t>실무</a:t>
            </a:r>
            <a:r>
              <a:rPr sz="125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1F3A5F"/>
                </a:solidFill>
                <a:latin typeface="Malgun Gothic"/>
              </a:rPr>
              <a:t>포지셔닝</a:t>
            </a:r>
            <a:r>
              <a:rPr sz="1250" b="1" i="0" dirty="0">
                <a:solidFill>
                  <a:srgbClr val="1F3A5F"/>
                </a:solidFill>
                <a:latin typeface="Malgun Gothic"/>
              </a:rPr>
              <a:t>  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분류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(LR Recall 0.89) +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임계값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경보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=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조기경보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파이프라인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. RUL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회귀는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'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남은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시간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추세'의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보조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지표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,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경보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의사결정은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분류기가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담당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.</a:t>
            </a:r>
          </a:p>
          <a:p>
            <a:pPr algn="l"/>
            <a:r>
              <a:rPr sz="1250" b="0" i="0" dirty="0">
                <a:solidFill>
                  <a:srgbClr val="22303C"/>
                </a:solidFill>
                <a:latin typeface="Malgun Gothic"/>
              </a:rPr>
              <a:t>→ '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정밀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RUL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추정기'가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아닌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1" i="0" dirty="0">
                <a:solidFill>
                  <a:srgbClr val="1F3A5F"/>
                </a:solidFill>
                <a:latin typeface="Malgun Gothic"/>
              </a:rPr>
              <a:t>'</a:t>
            </a:r>
            <a:r>
              <a:rPr sz="1250" b="1" i="0" dirty="0" err="1">
                <a:solidFill>
                  <a:srgbClr val="1F3A5F"/>
                </a:solidFill>
                <a:latin typeface="Malgun Gothic"/>
              </a:rPr>
              <a:t>조기경보</a:t>
            </a:r>
            <a:r>
              <a:rPr sz="125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1F3A5F"/>
                </a:solidFill>
                <a:latin typeface="Malgun Gothic"/>
              </a:rPr>
              <a:t>파이프라인</a:t>
            </a:r>
            <a:r>
              <a:rPr sz="125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1F3A5F"/>
                </a:solidFill>
                <a:latin typeface="Malgun Gothic"/>
              </a:rPr>
              <a:t>구성요소'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로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포지셔닝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257800"/>
            <a:ext cx="11274552" cy="10241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5440680"/>
            <a:ext cx="868680" cy="384048"/>
          </a:xfrm>
          <a:prstGeom prst="roundRect">
            <a:avLst/>
          </a:prstGeom>
          <a:solidFill>
            <a:srgbClr val="E3A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142A47"/>
                </a:solidFill>
                <a:latin typeface="Malgun Gothic"/>
              </a:rPr>
              <a:t>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5349240"/>
            <a:ext cx="9875520" cy="8961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50" b="1" i="0" dirty="0" err="1">
                <a:solidFill>
                  <a:srgbClr val="E3A935"/>
                </a:solidFill>
                <a:latin typeface="Malgun Gothic"/>
              </a:rPr>
              <a:t>진단</a:t>
            </a:r>
            <a:r>
              <a:rPr sz="13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350" b="1" i="0" dirty="0" err="1">
                <a:solidFill>
                  <a:srgbClr val="E3A935"/>
                </a:solidFill>
                <a:latin typeface="Malgun Gothic"/>
              </a:rPr>
              <a:t>리포트</a:t>
            </a:r>
            <a:r>
              <a:rPr sz="13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350" b="1" i="0" dirty="0" err="1">
                <a:solidFill>
                  <a:srgbClr val="E3A935"/>
                </a:solidFill>
                <a:latin typeface="Malgun Gothic"/>
              </a:rPr>
              <a:t>자동화</a:t>
            </a:r>
            <a:r>
              <a:rPr sz="1350" b="1" i="0" dirty="0">
                <a:solidFill>
                  <a:srgbClr val="E3A935"/>
                </a:solidFill>
                <a:latin typeface="Malgun Gothic"/>
              </a:rPr>
              <a:t> (Claude API, v0.5 구현완료)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 —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ML·DL의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수치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판정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(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열화확률·RUL·임계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초과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)을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받아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사람이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읽는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진단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보고서로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생성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+ RAG Level1(FAISS 유사사례)·Level2(Chroma 문서근거) 결합.</a:t>
            </a:r>
          </a:p>
          <a:p>
            <a:pPr algn="l">
              <a:spcBef>
                <a:spcPts val="200"/>
              </a:spcBef>
            </a:pPr>
            <a:r>
              <a:rPr sz="1250" b="0" i="0" dirty="0">
                <a:solidFill>
                  <a:srgbClr val="CFDCEA"/>
                </a:solidFill>
                <a:latin typeface="Malgun Gothic"/>
              </a:rPr>
              <a:t>예: "3번 </a:t>
            </a:r>
            <a:r>
              <a:rPr sz="1250" b="0" i="0" dirty="0" err="1">
                <a:solidFill>
                  <a:srgbClr val="CFDCEA"/>
                </a:solidFill>
                <a:latin typeface="Malgun Gothic"/>
              </a:rPr>
              <a:t>베어링</a:t>
            </a:r>
            <a:r>
              <a:rPr sz="1250" b="0" i="0" dirty="0">
                <a:solidFill>
                  <a:srgbClr val="CFDCEA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CFDCEA"/>
                </a:solidFill>
                <a:latin typeface="Malgun Gothic"/>
              </a:rPr>
              <a:t>진동</a:t>
            </a:r>
            <a:r>
              <a:rPr sz="1250" b="0" i="0" dirty="0">
                <a:solidFill>
                  <a:srgbClr val="CFDCEA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CFDCEA"/>
                </a:solidFill>
                <a:latin typeface="Malgun Gothic"/>
              </a:rPr>
              <a:t>급증</a:t>
            </a:r>
            <a:r>
              <a:rPr sz="1250" b="0" i="0" dirty="0">
                <a:solidFill>
                  <a:srgbClr val="CFDCEA"/>
                </a:solidFill>
                <a:latin typeface="Malgun Gothic"/>
              </a:rPr>
              <a:t>, </a:t>
            </a:r>
            <a:r>
              <a:rPr sz="1250" b="0" i="0" dirty="0" err="1">
                <a:solidFill>
                  <a:srgbClr val="CFDCEA"/>
                </a:solidFill>
                <a:latin typeface="Malgun Gothic"/>
              </a:rPr>
              <a:t>잔여수명</a:t>
            </a:r>
            <a:r>
              <a:rPr sz="1250" b="0" i="0" dirty="0">
                <a:solidFill>
                  <a:srgbClr val="CFDCEA"/>
                </a:solidFill>
                <a:latin typeface="Malgun Gothic"/>
              </a:rPr>
              <a:t> ~100분 → </a:t>
            </a:r>
            <a:r>
              <a:rPr sz="1250" b="0" i="0" dirty="0" err="1">
                <a:solidFill>
                  <a:srgbClr val="CFDCEA"/>
                </a:solidFill>
                <a:latin typeface="Malgun Gothic"/>
              </a:rPr>
              <a:t>교체</a:t>
            </a:r>
            <a:r>
              <a:rPr sz="1250" b="0" i="0" dirty="0">
                <a:solidFill>
                  <a:srgbClr val="CFDCEA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CFDCEA"/>
                </a:solidFill>
                <a:latin typeface="Malgun Gothic"/>
              </a:rPr>
              <a:t>권고</a:t>
            </a:r>
            <a:r>
              <a:rPr sz="1250" b="0" i="0" dirty="0">
                <a:solidFill>
                  <a:srgbClr val="CFDCEA"/>
                </a:solidFill>
                <a:latin typeface="Malgun Gothic"/>
              </a:rPr>
              <a:t>."  </a:t>
            </a:r>
            <a:r>
              <a:rPr sz="1250" b="1" i="0" dirty="0" err="1">
                <a:solidFill>
                  <a:srgbClr val="FFFFFF"/>
                </a:solidFill>
                <a:latin typeface="Malgun Gothic"/>
              </a:rPr>
              <a:t>판정이</a:t>
            </a:r>
            <a:r>
              <a:rPr sz="1250" b="1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FFFFFF"/>
                </a:solidFill>
                <a:latin typeface="Malgun Gothic"/>
              </a:rPr>
              <a:t>아닌</a:t>
            </a:r>
            <a:r>
              <a:rPr sz="1250" b="1" i="0" dirty="0">
                <a:solidFill>
                  <a:srgbClr val="FFFFFF"/>
                </a:solidFill>
                <a:latin typeface="Malgun Gothic"/>
              </a:rPr>
              <a:t> '</a:t>
            </a:r>
            <a:r>
              <a:rPr sz="1250" b="1" i="0" dirty="0" err="1">
                <a:solidFill>
                  <a:srgbClr val="FFFFFF"/>
                </a:solidFill>
                <a:latin typeface="Malgun Gothic"/>
              </a:rPr>
              <a:t>해석·문서화</a:t>
            </a:r>
            <a:r>
              <a:rPr sz="1250" b="1" i="0" dirty="0">
                <a:solidFill>
                  <a:srgbClr val="FFFFFF"/>
                </a:solidFill>
                <a:latin typeface="Malgun Gothic"/>
              </a:rPr>
              <a:t>' </a:t>
            </a:r>
            <a:r>
              <a:rPr sz="1250" b="1" i="0" dirty="0" err="1">
                <a:solidFill>
                  <a:srgbClr val="FFFFFF"/>
                </a:solidFill>
                <a:latin typeface="Malgun Gothic"/>
              </a:rPr>
              <a:t>계층</a:t>
            </a:r>
            <a:r>
              <a:rPr sz="1250" b="1" i="0" dirty="0">
                <a:solidFill>
                  <a:srgbClr val="FFFFFF"/>
                </a:solidFill>
                <a:latin typeface="Malgun Gothic"/>
              </a:rPr>
              <a:t>.  (API 키 없이 Mock 모드 데모 가능)</a:t>
            </a:r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2C1C3E04-64EF-2070-F315-B76656408045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F174443C-8A0C-8849-A6B7-3DDB1181B108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</a:t>
            </a:r>
            <a:endParaRPr lang="en-US" sz="2000" dirty="0"/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7FCB0E67-7DED-9A7E-27A9-A0BD2F909786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 </a:t>
            </a:r>
            <a:r>
              <a:rPr lang="en-US" sz="23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</a:t>
            </a: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3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6탭 </a:t>
            </a:r>
            <a:r>
              <a:rPr lang="en-US" sz="125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6탭 구성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815741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22960" y="1815741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데이터 탐색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382669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2960" y="2382669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ML 성능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49597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22960" y="2949597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🔮 DL RUL 예측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516525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22960" y="3516525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🏭 통합 진단(실시간)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083453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22960" y="4083453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아키텍처 비교(5종)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🖼️ CNN 이미지 분류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40080" y="4924488"/>
            <a:ext cx="5440680" cy="1338938"/>
          </a:xfrm>
          <a:prstGeom prst="roundRect">
            <a:avLst>
              <a:gd name="adj" fmla="val 2500"/>
            </a:avLst>
          </a:prstGeom>
          <a:solidFill>
            <a:srgbClr val="EAF3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811203" y="5066219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22960" y="5395403"/>
            <a:ext cx="5120640" cy="6766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URL: dlfactoryautomation.streamlit.app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Repo: vapsnamheo-dev/AISOURCE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사이드바: ML 임계값 0.3~0.8 + RUL 경보 기준 30~120분 실시간 조정</a:t>
            </a:r>
            <a:endParaRPr lang="en-US" sz="1100" dirty="0"/>
          </a:p>
        </p:txBody>
      </p:sp>
      <p:cxnSp>
        <p:nvCxnSpPr>
          <p:cNvPr id="31" name="Connector 3">
            <a:extLst>
              <a:ext uri="{FF2B5EF4-FFF2-40B4-BE49-F238E27FC236}">
                <a16:creationId xmlns:a16="http://schemas.microsoft.com/office/drawing/2014/main" id="{57F2D248-B732-81FE-EA2F-A3A96ECD075D}"/>
              </a:ext>
            </a:extLst>
          </p:cNvPr>
          <p:cNvCxnSpPr>
            <a:cxnSpLocks/>
          </p:cNvCxnSpPr>
          <p:nvPr/>
        </p:nvCxnSpPr>
        <p:spPr>
          <a:xfrm>
            <a:off x="6486525" y="1170432"/>
            <a:ext cx="5245227" cy="12700"/>
          </a:xfrm>
          <a:prstGeom prst="bentConnector3">
            <a:avLst/>
          </a:prstGeom>
          <a:ln w="12700">
            <a:solidFill>
              <a:srgbClr val="D6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Table 4">
            <a:extLst>
              <a:ext uri="{FF2B5EF4-FFF2-40B4-BE49-F238E27FC236}">
                <a16:creationId xmlns:a16="http://schemas.microsoft.com/office/drawing/2014/main" id="{D133BB57-FDE8-C6F7-4CD8-151351CD3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992563"/>
              </p:ext>
            </p:extLst>
          </p:nvPr>
        </p:nvGraphicFramePr>
        <p:xfrm>
          <a:off x="6349365" y="1796668"/>
          <a:ext cx="5245227" cy="34953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7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4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3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292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</a:rPr>
                        <a:t>ML 판정</a:t>
                      </a:r>
                    </a:p>
                  </a:txBody>
                  <a:tcPr marL="88900" marR="88900" marT="50800" marB="508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</a:rPr>
                        <a:t>DL RUL</a:t>
                      </a:r>
                    </a:p>
                  </a:txBody>
                  <a:tcPr marL="88900" marR="88900" marT="50800" marB="508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표시</a:t>
                      </a:r>
                      <a:endParaRPr sz="1300" b="1" i="0" dirty="0">
                        <a:solidFill>
                          <a:srgbClr val="FFFFFF"/>
                        </a:solidFill>
                        <a:latin typeface="Malgun Gothic"/>
                      </a:endParaRPr>
                    </a:p>
                  </a:txBody>
                  <a:tcPr marL="88900" marR="88900" marT="50800" marB="508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12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</a:p>
                    <a:p>
                      <a:pPr algn="ctr"/>
                      <a:r>
                        <a:rPr sz="1100" b="0" i="0">
                          <a:solidFill>
                            <a:srgbClr val="6B7785"/>
                          </a:solidFill>
                          <a:latin typeface="Malgun Gothic"/>
                        </a:rPr>
                        <a:t>(P=1.00)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144분</a:t>
                      </a:r>
                    </a:p>
                    <a:p>
                      <a:pPr algn="ctr"/>
                      <a:r>
                        <a:rPr sz="1100" b="0" i="0">
                          <a:solidFill>
                            <a:srgbClr val="6B7785"/>
                          </a:solidFill>
                          <a:latin typeface="Malgun Gothic"/>
                        </a:rPr>
                        <a:t>양호 기준 초과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rgbClr val="D99A00"/>
                          </a:solidFill>
                          <a:latin typeface="Malgun Gothic"/>
                        </a:rPr>
                        <a:t>●  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⚠ ML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감지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— RUL 144분 </a:t>
                      </a:r>
                      <a:endParaRPr lang="en-US" sz="1250" b="1" i="0" dirty="0">
                        <a:solidFill>
                          <a:srgbClr val="22303C"/>
                        </a:solidFill>
                        <a:latin typeface="Malgun Gothic"/>
                      </a:endParaRPr>
                    </a:p>
                    <a:p>
                      <a:pPr algn="l"/>
                      <a:r>
                        <a:rPr lang="en-US"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(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단일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입력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추정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, ML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신뢰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)</a:t>
                      </a:r>
                    </a:p>
                    <a:p>
                      <a:pPr algn="l"/>
                      <a:r>
                        <a:rPr lang="en-US"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단일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슬라이더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입력은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시계열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복제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(tile)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추정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→ 'ML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신뢰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'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캡션으로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한계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명시</a:t>
                      </a:r>
                      <a:endParaRPr sz="1050" b="0" i="0" dirty="0">
                        <a:solidFill>
                          <a:srgbClr val="6B7785"/>
                        </a:solidFill>
                        <a:latin typeface="Malgun Gothic"/>
                      </a:endParaRP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12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100분</a:t>
                      </a:r>
                    </a:p>
                    <a:p>
                      <a:pPr algn="ctr"/>
                      <a:r>
                        <a:rPr sz="110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기준</a:t>
                      </a:r>
                      <a:r>
                        <a:rPr sz="110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2배 </a:t>
                      </a:r>
                      <a:r>
                        <a:rPr sz="110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이내</a:t>
                      </a:r>
                      <a:endParaRPr sz="1100" b="0" i="0" dirty="0">
                        <a:solidFill>
                          <a:srgbClr val="6B7785"/>
                        </a:solidFill>
                        <a:latin typeface="Malgun Gothic"/>
                      </a:endParaRP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rgbClr val="C0392B"/>
                          </a:solidFill>
                          <a:latin typeface="Malgun Gothic"/>
                        </a:rPr>
                        <a:t>●  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⚠ ML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감지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—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잔여수명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100분 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(ML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판정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우선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)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12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50분</a:t>
                      </a:r>
                    </a:p>
                    <a:p>
                      <a:pPr algn="ctr"/>
                      <a:r>
                        <a:rPr sz="1100" b="0" i="0">
                          <a:solidFill>
                            <a:srgbClr val="6B7785"/>
                          </a:solidFill>
                          <a:latin typeface="Malgun Gothic"/>
                        </a:rPr>
                        <a:t>기준 이하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C0392B"/>
                          </a:solidFill>
                          <a:latin typeface="Malgun Gothic"/>
                        </a:rPr>
                        <a:t>●  긴급 경보: 잔여수명 50분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612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정상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6B7785"/>
                          </a:solidFill>
                          <a:latin typeface="Malgun Gothic"/>
                        </a:rPr>
                        <a:t>어떤 값이든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기존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양호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/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주의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/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경보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규칙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그대로</a:t>
                      </a:r>
                      <a:endParaRPr sz="1250" b="0" i="0" dirty="0">
                        <a:solidFill>
                          <a:srgbClr val="6B7785"/>
                        </a:solidFill>
                        <a:latin typeface="Malgun Gothic"/>
                      </a:endParaRP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A9B002BB-41BB-4C9A-5FFB-235A4C8EFC49}"/>
              </a:ext>
            </a:extLst>
          </p:cNvPr>
          <p:cNvSpPr txBox="1"/>
          <p:nvPr/>
        </p:nvSpPr>
        <p:spPr>
          <a:xfrm>
            <a:off x="6382512" y="1349070"/>
            <a:ext cx="5349240" cy="34881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통합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진단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— Stage 4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열화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샘플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클릭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시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표시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로직</a:t>
            </a:r>
            <a:endParaRPr sz="1200" b="1" i="0" dirty="0">
              <a:solidFill>
                <a:srgbClr val="1F3A5F"/>
              </a:solidFill>
              <a:latin typeface="Malgun Gothic"/>
            </a:endParaRPr>
          </a:p>
          <a:p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ML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분류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현재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이상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여부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) + DL RUL(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잔여수명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)을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결합한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경보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표시</a:t>
            </a:r>
            <a:endParaRPr sz="1250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35" name="Rounded Rectangle 5">
            <a:extLst>
              <a:ext uri="{FF2B5EF4-FFF2-40B4-BE49-F238E27FC236}">
                <a16:creationId xmlns:a16="http://schemas.microsoft.com/office/drawing/2014/main" id="{E11C2216-109E-C9AB-D33D-4BCA69E360D8}"/>
              </a:ext>
            </a:extLst>
          </p:cNvPr>
          <p:cNvSpPr/>
          <p:nvPr/>
        </p:nvSpPr>
        <p:spPr>
          <a:xfrm>
            <a:off x="6382511" y="5361980"/>
            <a:ext cx="5257799" cy="896112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14300" rIns="177800" bIns="114300" rtlCol="0" anchor="ctr"/>
          <a:lstStyle/>
          <a:p>
            <a:pPr algn="l"/>
            <a:r>
              <a:rPr sz="900" b="1" i="0" dirty="0" err="1">
                <a:solidFill>
                  <a:srgbClr val="1F3A5F"/>
                </a:solidFill>
                <a:latin typeface="Malgun Gothic"/>
              </a:rPr>
              <a:t>표시</a:t>
            </a:r>
            <a:r>
              <a:rPr sz="9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900" b="1" i="0" dirty="0" err="1">
                <a:solidFill>
                  <a:srgbClr val="1F3A5F"/>
                </a:solidFill>
                <a:latin typeface="Malgun Gothic"/>
              </a:rPr>
              <a:t>원칙</a:t>
            </a:r>
            <a:r>
              <a:rPr sz="900" b="1" i="0" dirty="0">
                <a:solidFill>
                  <a:srgbClr val="1F3A5F"/>
                </a:solidFill>
                <a:latin typeface="Malgun Gothic"/>
              </a:rPr>
              <a:t>   </a:t>
            </a:r>
            <a:endParaRPr lang="en-US" sz="900" b="1" i="0" dirty="0">
              <a:solidFill>
                <a:srgbClr val="1F3A5F"/>
              </a:solidFill>
              <a:latin typeface="Malgun Gothic"/>
            </a:endParaRPr>
          </a:p>
          <a:p>
            <a:pPr algn="l"/>
            <a:r>
              <a:rPr sz="900" b="0" i="0" dirty="0">
                <a:solidFill>
                  <a:srgbClr val="22303C"/>
                </a:solidFill>
                <a:latin typeface="Malgun Gothic"/>
              </a:rPr>
              <a:t>ML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판정을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최우선으로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적용하고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, DL RUL은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보조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정보로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함께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표시</a:t>
            </a:r>
            <a:endParaRPr sz="900" b="0" i="0" dirty="0">
              <a:solidFill>
                <a:srgbClr val="22303C"/>
              </a:solidFill>
              <a:latin typeface="Malgun Gothic"/>
            </a:endParaRPr>
          </a:p>
          <a:p>
            <a:pPr algn="l"/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단일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시점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슬라이더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입력은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시계열을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윈도우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길이만큼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복제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(tile)한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추정이므로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,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정확도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한계를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캡션으로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명시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endParaRPr lang="en-US" sz="900" b="0" i="0" dirty="0">
              <a:solidFill>
                <a:srgbClr val="22303C"/>
              </a:solidFill>
              <a:latin typeface="Malgun Gothic"/>
            </a:endParaRPr>
          </a:p>
          <a:p>
            <a:pPr algn="l"/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정상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판정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시에는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기존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양호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/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주의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/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경보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규칙을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그대로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lang="ko-KR" altLang="en-US" sz="900" b="0" i="0" dirty="0">
                <a:solidFill>
                  <a:srgbClr val="22303C"/>
                </a:solidFill>
                <a:latin typeface="Malgun Gothic"/>
              </a:rPr>
              <a:t>따름</a:t>
            </a:r>
            <a:endParaRPr sz="900" b="0" i="0" dirty="0">
              <a:solidFill>
                <a:srgbClr val="22303C"/>
              </a:solidFill>
              <a:latin typeface="Malgun Gothic"/>
            </a:endParaRPr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164E00A7-2D73-4F97-BE7F-5D2752355FA7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15</a:t>
            </a:r>
            <a:endParaRPr lang="en-US" sz="900" dirty="0"/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8CF49BA3-8240-9CF8-82F1-BAD086AA18E2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653DAB9E-0291-CE72-F1B7-C998B5962C03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000" y="108000"/>
            <a:ext cx="1188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F497D"/>
                </a:solidFill>
              </a:rPr>
              <a:t>Data Samples - Bearing Vibration RMS Time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540000"/>
            <a:ext cx="11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808080"/>
                </a:solidFill>
              </a:rPr>
              <a:t>FEMTO-ST accelerometer H/V 2-ch | 500 Hz -&gt; RMS | Stage 1 (normal) vs Stage 4 (severe)</a:t>
            </a:r>
          </a:p>
        </p:txBody>
      </p:sp>
      <p:pic>
        <p:nvPicPr>
          <p:cNvPr id="4" name="Picture 3" descr="bearing_stage1_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827999"/>
            <a:ext cx="5760000" cy="2843544"/>
          </a:xfrm>
          <a:prstGeom prst="rect">
            <a:avLst/>
          </a:prstGeom>
        </p:spPr>
      </p:pic>
      <p:pic>
        <p:nvPicPr>
          <p:cNvPr id="5" name="Picture 4" descr="bearing_stage4_sev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827999"/>
            <a:ext cx="5760000" cy="2843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2000" y="3821500"/>
            <a:ext cx="576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080"/>
                </a:solidFill>
              </a:rPr>
              <a:t>Fig D0-a. Stage 1 Normal - RMS ~0.4 g stable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2000" y="3821500"/>
            <a:ext cx="576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080"/>
                </a:solidFill>
              </a:rPr>
              <a:t>Fig D0-b. Stage 4 Severe - spike ~7.5 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" y="4968000"/>
            <a:ext cx="1188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333333"/>
                </a:solidFill>
              </a:rPr>
              <a:t>Dataset: 7 bearings (B1_1~B3_3), 3 conditions (1800/1650/1500 rpm)
Interval: 10 sec | 1 snapshot = 25,600 samples -&gt; 1 RMS row
Labels: RUL (min) + stage (1-4) | 12 features: </a:t>
            </a:r>
            <a:r>
              <a:rPr sz="1200" b="0" dirty="0" err="1">
                <a:solidFill>
                  <a:srgbClr val="333333"/>
                </a:solidFill>
              </a:rPr>
              <a:t>h_rms</a:t>
            </a:r>
            <a:r>
              <a:rPr sz="1200" b="0" dirty="0">
                <a:solidFill>
                  <a:srgbClr val="333333"/>
                </a:solidFill>
              </a:rPr>
              <a:t>, </a:t>
            </a:r>
            <a:r>
              <a:rPr sz="1200" b="0" dirty="0" err="1">
                <a:solidFill>
                  <a:srgbClr val="333333"/>
                </a:solidFill>
              </a:rPr>
              <a:t>v_rms</a:t>
            </a:r>
            <a:r>
              <a:rPr sz="1200" b="0" dirty="0">
                <a:solidFill>
                  <a:srgbClr val="333333"/>
                </a:solidFill>
              </a:rPr>
              <a:t>, </a:t>
            </a:r>
            <a:r>
              <a:rPr sz="1200" b="0" dirty="0" err="1">
                <a:solidFill>
                  <a:srgbClr val="333333"/>
                </a:solidFill>
              </a:rPr>
              <a:t>h_kurt</a:t>
            </a:r>
            <a:r>
              <a:rPr sz="1200" b="0" dirty="0">
                <a:solidFill>
                  <a:srgbClr val="333333"/>
                </a:solidFill>
              </a:rPr>
              <a:t>, </a:t>
            </a:r>
            <a:r>
              <a:rPr sz="1200" b="0" dirty="0" err="1">
                <a:solidFill>
                  <a:srgbClr val="333333"/>
                </a:solidFill>
              </a:rPr>
              <a:t>v_skew</a:t>
            </a:r>
            <a:r>
              <a:rPr sz="1200" b="0" dirty="0">
                <a:solidFill>
                  <a:srgbClr val="333333"/>
                </a:solidFill>
              </a:rPr>
              <a:t> ...</a:t>
            </a:r>
          </a:p>
        </p:txBody>
      </p:sp>
      <p:sp>
        <p:nvSpPr>
          <p:cNvPr id="9" name="Text 18">
            <a:extLst>
              <a:ext uri="{FF2B5EF4-FFF2-40B4-BE49-F238E27FC236}">
                <a16:creationId xmlns:a16="http://schemas.microsoft.com/office/drawing/2014/main" id="{D3CC6982-B8AF-28D4-7F2F-1463D62D4C35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000" y="108000"/>
            <a:ext cx="1188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F497D"/>
                </a:solidFill>
              </a:rPr>
              <a:t>Supervised + Unsupervised Learning - Rationale &amp;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419540"/>
              </p:ext>
            </p:extLst>
          </p:nvPr>
        </p:nvGraphicFramePr>
        <p:xfrm>
          <a:off x="180000" y="612000"/>
          <a:ext cx="11880000" cy="22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Supervised (RF/GBM/SVM/LR)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Unsupervised (Autoencoder)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</a:rPr>
                        <a:t>Learning mode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Label-based degradation classification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Normal-only training; recon. error detection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</a:rPr>
                        <a:t>Field use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Labeled equipment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New equipment / no label available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Key metric</a:t>
                      </a:r>
                    </a:p>
                  </a:txBody>
                  <a:tcPr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</a:rPr>
                        <a:t>OOS </a:t>
                      </a:r>
                      <a:r>
                        <a:rPr lang="en-US" sz="1100" b="0" dirty="0">
                          <a:solidFill>
                            <a:srgbClr val="222222"/>
                          </a:solidFill>
                        </a:rPr>
                        <a:t>F1=0.817, Recall=0.890 (LR</a:t>
                      </a:r>
                      <a:endParaRPr sz="1100" b="0" dirty="0">
                        <a:solidFill>
                          <a:srgbClr val="222222"/>
                        </a:solidFill>
                      </a:endParaRPr>
                    </a:p>
                  </a:txBody>
                  <a:tcPr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</a:rPr>
                        <a:t>AUC=0.</a:t>
                      </a:r>
                      <a:r>
                        <a:rPr lang="en-US" sz="1100" b="0" dirty="0">
                          <a:solidFill>
                            <a:srgbClr val="222222"/>
                          </a:solidFill>
                        </a:rPr>
                        <a:t>968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</a:rPr>
                        <a:t>, auto threshold</a:t>
                      </a:r>
                    </a:p>
                  </a:txBody>
                  <a:tcPr>
                    <a:solidFill>
                      <a:srgbClr val="FFF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</a:rPr>
                        <a:t>Stage classification + minimize false alarm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</a:rPr>
                        <a:t>Early detection of unknown anomaly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Combined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Accuracy + unknown anomaly detection = complete PdM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 dirty="0"/>
                    </a:p>
                  </a:txBody>
                  <a:tcPr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0000" y="3420000"/>
            <a:ext cx="11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</a:rPr>
              <a:t>RF (supervised) classifies known stages + AE (unsupervised) detects unknown anomalies = dual safety net</a:t>
            </a:r>
          </a:p>
        </p:txBody>
      </p:sp>
      <p:sp>
        <p:nvSpPr>
          <p:cNvPr id="5" name="Text 18">
            <a:extLst>
              <a:ext uri="{FF2B5EF4-FFF2-40B4-BE49-F238E27FC236}">
                <a16:creationId xmlns:a16="http://schemas.microsoft.com/office/drawing/2014/main" id="{969A8F68-282D-6EDC-74BB-9CA9A1D5E999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Autoencoder 비지도 탐지 + 임계값 결정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없는 신규 설비 / ROC·Threshold 원리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Autoencoder (정상만 학습, 64-32-16-32-64)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5440680" cy="123444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Recall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RandomForest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Autoencoder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비지도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0.828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0.968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274320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AUC 0.968: 비지도로 RF에 근접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 0.828: 고장의 83% 탐지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권장: AE(1차 조기감지) → RF(2차 정밀분류) 2단계 파이프라인</a:t>
            </a:r>
            <a:endParaRPr lang="en-US" sz="1150" dirty="0"/>
          </a:p>
        </p:txBody>
      </p:sp>
      <p:sp>
        <p:nvSpPr>
          <p:cNvPr id="8" name="Text 7"/>
          <p:cNvSpPr/>
          <p:nvPr/>
        </p:nvSpPr>
        <p:spPr>
          <a:xfrm>
            <a:off x="6355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Threshold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55080" y="1691640"/>
            <a:ext cx="5349240" cy="914400"/>
          </a:xfrm>
          <a:prstGeom prst="roundRect">
            <a:avLst>
              <a:gd name="adj" fmla="val 5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355080" y="1828800"/>
            <a:ext cx="5349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Threshold = </a:t>
            </a:r>
            <a:r>
              <a:rPr lang="ko-KR" alt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자동 설정 </a:t>
            </a:r>
            <a:r>
              <a:rPr lang="en-US" altLang="ko-KR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</a:t>
            </a:r>
            <a:r>
              <a:rPr lang="ko-KR" alt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운영 조정현장 운영 정책 </a:t>
            </a:r>
            <a:r>
              <a:rPr lang="en-US" altLang="ko-KR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(TPR/FPR </a:t>
            </a:r>
            <a:r>
              <a:rPr lang="ko-KR" alt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균형</a:t>
            </a:r>
            <a:r>
              <a:rPr lang="en-US" altLang="ko-KR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</a:t>
            </a:r>
            <a:r>
              <a:rPr lang="en-US" altLang="ko-KR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점수를 정상</a:t>
            </a:r>
            <a:r>
              <a:rPr lang="en-US" altLang="ko-KR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결정으로 바꾸는 경계선</a:t>
            </a:r>
            <a:endParaRPr lang="en-US" altLang="ko-KR" sz="1150" b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비지도는 라벨이 없어 </a:t>
            </a:r>
            <a:r>
              <a:rPr lang="ko-KR" altLang="en-US" sz="115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임계값을</a:t>
            </a:r>
            <a:r>
              <a:rPr lang="ko-KR" altLang="en-US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스스로 정해야 해 더 중요</a:t>
            </a:r>
            <a:r>
              <a:rPr lang="en-US" altLang="ko-KR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en-US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1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743200"/>
          <a:ext cx="5349240" cy="1536192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임계값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효과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적용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낮춤 0.3~0.45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Recall↑ / FP↑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PdM 권장(미탐지↓)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0.50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균형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운영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높임 0.65~0.80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Precision↑ / FN↑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오경보 최소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4571999"/>
            <a:ext cx="11064240" cy="9143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altLang="ko-KR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i="1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</a:t>
            </a: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i="1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분류기</a:t>
            </a: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i="1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LR의</a:t>
            </a: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OOS ROC-AUC=0.997. </a:t>
            </a:r>
            <a:r>
              <a:rPr lang="en-US" sz="1100" i="1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</a:t>
            </a: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i="1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</a:t>
            </a: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i="1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슬라이더로</a:t>
            </a: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0.3~0.8 </a:t>
            </a:r>
            <a:r>
              <a:rPr lang="en-US" sz="1100" i="1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</a:t>
            </a: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i="1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조정</a:t>
            </a: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</a:t>
            </a:r>
            <a:r>
              <a:rPr lang="en-US" sz="1100" i="1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</a:t>
            </a: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i="1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</a:t>
            </a: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sz="1100" i="1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</a:t>
            </a: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i="1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</a:t>
            </a: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</a:p>
          <a:p>
            <a:r>
              <a:rPr lang="en-US" altLang="ko-KR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TPR :True Positive Rate(</a:t>
            </a:r>
            <a:r>
              <a:rPr lang="ko-KR" alt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 </a:t>
            </a:r>
            <a:r>
              <a:rPr lang="ko-KR" altLang="en-US" sz="1100" i="1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양성률</a:t>
            </a:r>
            <a:r>
              <a:rPr lang="en-US" altLang="ko-KR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), </a:t>
            </a:r>
            <a:r>
              <a:rPr lang="ko-KR" alt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고장</a:t>
            </a:r>
            <a:r>
              <a:rPr lang="en-US" altLang="ko-KR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</a:t>
            </a:r>
            <a:r>
              <a:rPr lang="en-US" altLang="ko-KR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이상이라 맞힌 비율 </a:t>
            </a:r>
            <a:r>
              <a:rPr lang="en-US" altLang="ko-KR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Recall </a:t>
            </a:r>
          </a:p>
          <a:p>
            <a:r>
              <a:rPr lang="en-US" altLang="ko-KR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FPR: False Positive Rate(</a:t>
            </a:r>
            <a:r>
              <a:rPr lang="ko-KR" alt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거짓 </a:t>
            </a:r>
            <a:r>
              <a:rPr lang="ko-KR" altLang="en-US" sz="1100" i="1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양성률</a:t>
            </a:r>
            <a:r>
              <a:rPr lang="en-US" altLang="ko-KR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), </a:t>
            </a:r>
            <a:r>
              <a:rPr lang="ko-KR" alt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정상을 이상이라 잘못 부른 비율 </a:t>
            </a:r>
            <a:r>
              <a:rPr lang="en-US" altLang="ko-KR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</a:t>
            </a:r>
            <a:r>
              <a:rPr lang="ko-KR" altLang="en-US" sz="1100" i="1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오경보율</a:t>
            </a:r>
            <a:endParaRPr lang="en-US" sz="1100" i="1" dirty="0">
              <a:solidFill>
                <a:srgbClr val="6B7785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6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" y="91440"/>
            <a:ext cx="1191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</a:rPr>
              <a:t>부록. MLflow 하이퍼파라미터 탐색 실험  ·  FEMTO_RUL_HyperparamSearch (48 runs)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841248"/>
            <a:ext cx="1191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Malgun Gothic"/>
              </a:rPr>
              <a:t>mlflow ui --backend-store-uri sqlite:///mlflow.db  -&gt;  localhost:5000  |  Columns &gt; Parameters(6) 체크  |  Sort: val_loss 오름차순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12618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dirty="0">
                <a:solidFill>
                  <a:srgbClr val="4FC3F7"/>
                </a:solidFill>
                <a:latin typeface="Malgun Gothic"/>
              </a:rPr>
              <a:t>[Training Runs]  </a:t>
            </a:r>
            <a:r>
              <a:rPr sz="1050" b="1" dirty="0" err="1">
                <a:solidFill>
                  <a:srgbClr val="4FC3F7"/>
                </a:solidFill>
                <a:latin typeface="Malgun Gothic"/>
              </a:rPr>
              <a:t>val_loss</a:t>
            </a:r>
            <a:r>
              <a:rPr lang="en-US" sz="1050" b="1" dirty="0">
                <a:solidFill>
                  <a:srgbClr val="4FC3F7"/>
                </a:solidFill>
                <a:latin typeface="Malgun Gothic"/>
              </a:rPr>
              <a:t>(</a:t>
            </a:r>
            <a:r>
              <a:rPr lang="ko-KR" altLang="en-US" sz="1050" b="1" dirty="0">
                <a:solidFill>
                  <a:srgbClr val="4FC3F7"/>
                </a:solidFill>
                <a:latin typeface="Malgun Gothic"/>
              </a:rPr>
              <a:t>검증 손실</a:t>
            </a:r>
            <a:r>
              <a:rPr lang="en-US" altLang="ko-KR" sz="1050" b="1" dirty="0">
                <a:solidFill>
                  <a:srgbClr val="4FC3F7"/>
                </a:solidFill>
                <a:latin typeface="Malgun Gothic"/>
              </a:rPr>
              <a:t>, </a:t>
            </a:r>
            <a:r>
              <a:rPr lang="ko-KR" altLang="en-US" sz="1050" b="1" dirty="0">
                <a:solidFill>
                  <a:srgbClr val="4FC3F7"/>
                </a:solidFill>
                <a:latin typeface="Malgun Gothic"/>
              </a:rPr>
              <a:t>학습에 안 쓴 검증 데이터에서의 오차</a:t>
            </a:r>
            <a:r>
              <a:rPr lang="en-US" altLang="ko-KR" sz="1050" b="1" dirty="0">
                <a:solidFill>
                  <a:srgbClr val="4FC3F7"/>
                </a:solidFill>
                <a:latin typeface="Malgun Gothic"/>
              </a:rPr>
              <a:t>)</a:t>
            </a:r>
            <a:r>
              <a:rPr sz="1050" b="1" dirty="0">
                <a:solidFill>
                  <a:srgbClr val="4FC3F7"/>
                </a:solidFill>
                <a:latin typeface="Malgun Gothic"/>
              </a:rPr>
              <a:t> </a:t>
            </a:r>
            <a:r>
              <a:rPr sz="1050" b="1" dirty="0" err="1">
                <a:solidFill>
                  <a:srgbClr val="4FC3F7"/>
                </a:solidFill>
                <a:latin typeface="Malgun Gothic"/>
              </a:rPr>
              <a:t>기준</a:t>
            </a:r>
            <a:r>
              <a:rPr sz="1050" b="1" dirty="0">
                <a:solidFill>
                  <a:srgbClr val="4FC3F7"/>
                </a:solidFill>
                <a:latin typeface="Malgun Gothic"/>
              </a:rPr>
              <a:t> </a:t>
            </a:r>
            <a:r>
              <a:rPr sz="1050" b="1" dirty="0" err="1">
                <a:solidFill>
                  <a:srgbClr val="4FC3F7"/>
                </a:solidFill>
                <a:latin typeface="Malgun Gothic"/>
              </a:rPr>
              <a:t>상위</a:t>
            </a:r>
            <a:r>
              <a:rPr sz="1050" b="1" dirty="0">
                <a:solidFill>
                  <a:srgbClr val="4FC3F7"/>
                </a:solidFill>
                <a:latin typeface="Malgun Gothic"/>
              </a:rPr>
              <a:t> 8개 run</a:t>
            </a:r>
          </a:p>
        </p:txBody>
      </p:sp>
      <p:pic>
        <p:nvPicPr>
          <p:cNvPr id="7" name="Picture 6" descr="mlflow_training_ru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19809"/>
            <a:ext cx="8229600" cy="29077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4637885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dirty="0">
                <a:solidFill>
                  <a:srgbClr val="4FC3F7"/>
                </a:solidFill>
                <a:latin typeface="Malgun Gothic"/>
              </a:rPr>
              <a:t>[Parallel Coordinates]  </a:t>
            </a:r>
            <a:r>
              <a:rPr sz="1050" b="1" dirty="0" err="1">
                <a:solidFill>
                  <a:srgbClr val="4FC3F7"/>
                </a:solidFill>
                <a:latin typeface="Malgun Gothic"/>
              </a:rPr>
              <a:t>파란색</a:t>
            </a:r>
            <a:r>
              <a:rPr sz="1050" b="1" dirty="0">
                <a:solidFill>
                  <a:srgbClr val="4FC3F7"/>
                </a:solidFill>
                <a:latin typeface="Malgun Gothic"/>
              </a:rPr>
              <a:t>=</a:t>
            </a:r>
            <a:r>
              <a:rPr sz="1050" b="1" dirty="0" err="1">
                <a:solidFill>
                  <a:srgbClr val="4FC3F7"/>
                </a:solidFill>
                <a:latin typeface="Malgun Gothic"/>
              </a:rPr>
              <a:t>우수</a:t>
            </a:r>
            <a:r>
              <a:rPr sz="1050" b="1" dirty="0">
                <a:solidFill>
                  <a:srgbClr val="4FC3F7"/>
                </a:solidFill>
                <a:latin typeface="Malgun Gothic"/>
              </a:rPr>
              <a:t>(</a:t>
            </a:r>
            <a:r>
              <a:rPr sz="1050" b="1" dirty="0" err="1">
                <a:solidFill>
                  <a:srgbClr val="4FC3F7"/>
                </a:solidFill>
                <a:latin typeface="Malgun Gothic"/>
              </a:rPr>
              <a:t>낮은</a:t>
            </a:r>
            <a:r>
              <a:rPr sz="1050" b="1" dirty="0">
                <a:solidFill>
                  <a:srgbClr val="4FC3F7"/>
                </a:solidFill>
                <a:latin typeface="Malgun Gothic"/>
              </a:rPr>
              <a:t> loss), </a:t>
            </a:r>
            <a:r>
              <a:rPr sz="1050" b="1" dirty="0" err="1">
                <a:solidFill>
                  <a:srgbClr val="4FC3F7"/>
                </a:solidFill>
                <a:latin typeface="Malgun Gothic"/>
              </a:rPr>
              <a:t>빨간색</a:t>
            </a:r>
            <a:r>
              <a:rPr sz="1050" b="1" dirty="0">
                <a:solidFill>
                  <a:srgbClr val="4FC3F7"/>
                </a:solidFill>
                <a:latin typeface="Malgun Gothic"/>
              </a:rPr>
              <a:t>=</a:t>
            </a:r>
            <a:r>
              <a:rPr sz="1050" b="1" dirty="0" err="1">
                <a:solidFill>
                  <a:srgbClr val="4FC3F7"/>
                </a:solidFill>
                <a:latin typeface="Malgun Gothic"/>
              </a:rPr>
              <a:t>열등</a:t>
            </a:r>
            <a:r>
              <a:rPr sz="1050" b="1" dirty="0">
                <a:solidFill>
                  <a:srgbClr val="4FC3F7"/>
                </a:solidFill>
                <a:latin typeface="Malgun Gothic"/>
              </a:rPr>
              <a:t>(</a:t>
            </a:r>
            <a:r>
              <a:rPr sz="1050" b="1" dirty="0" err="1">
                <a:solidFill>
                  <a:srgbClr val="4FC3F7"/>
                </a:solidFill>
                <a:latin typeface="Malgun Gothic"/>
              </a:rPr>
              <a:t>높은</a:t>
            </a:r>
            <a:r>
              <a:rPr sz="1050" b="1" dirty="0">
                <a:solidFill>
                  <a:srgbClr val="4FC3F7"/>
                </a:solidFill>
                <a:latin typeface="Malgun Gothic"/>
              </a:rPr>
              <a:t> loss)</a:t>
            </a:r>
          </a:p>
        </p:txBody>
      </p:sp>
      <p:pic>
        <p:nvPicPr>
          <p:cNvPr id="9" name="Picture 8" descr="mlflow_parallel_coo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625" y="4105656"/>
            <a:ext cx="5964000" cy="264509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71560" y="1261872"/>
            <a:ext cx="3383280" cy="2377440"/>
          </a:xfrm>
          <a:prstGeom prst="rect">
            <a:avLst/>
          </a:prstGeom>
          <a:solidFill>
            <a:srgbClr val="0A2A0A"/>
          </a:solidFill>
          <a:ln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63000" y="13258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DD88"/>
                </a:solidFill>
                <a:latin typeface="Malgun Gothic"/>
              </a:rPr>
              <a:t>최적 파라미터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0" y="1719072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FFCC"/>
                </a:solidFill>
                <a:latin typeface="Malgun Gothic"/>
              </a:rPr>
              <a:t>model:       GRU
units:       64 / 32
dropout:     0.2
batch_size:  16
val_loss:    0.004138
저장: femto_best_mlflow.keras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63091" y="6537960"/>
            <a:ext cx="4637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dirty="0">
                <a:solidFill>
                  <a:schemeClr val="bg1"/>
                </a:solidFill>
                <a:latin typeface="Malgun Gothic"/>
              </a:rPr>
              <a:t>19</a:t>
            </a:r>
            <a:endParaRPr sz="800" b="0" dirty="0">
              <a:solidFill>
                <a:schemeClr val="bg1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70432" y="292608"/>
            <a:ext cx="105156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2500" b="1" i="0">
                <a:solidFill>
                  <a:srgbClr val="1F3A5F"/>
                </a:solidFill>
                <a:latin typeface="Malgun Gothic"/>
              </a:rPr>
              <a:t>보조 분석 (SHAP · 3D · AE)</a:t>
            </a:r>
          </a:p>
          <a:p>
            <a:r>
              <a:rPr sz="1350" b="0" i="0">
                <a:solidFill>
                  <a:srgbClr val="6B7785"/>
                </a:solidFill>
                <a:latin typeface="Malgun Gothic"/>
              </a:rPr>
              <a:t>표 13. 보조 분석 결과 요약 — 본 모델 판정의 뒷받침·해석력 보강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1274552" cy="2057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algun Gothic"/>
                        </a:rPr>
                        <a:t>분석</a:t>
                      </a:r>
                    </a:p>
                  </a:txBody>
                  <a:tcPr marL="1016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algun Gothic"/>
                        </a:rPr>
                        <a:t>방법</a:t>
                      </a:r>
                    </a:p>
                  </a:txBody>
                  <a:tcPr marL="1016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 marL="101600" marR="76200" marT="38100" marB="381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F3A5F"/>
                          </a:solidFill>
                          <a:latin typeface="Malgun Gothic"/>
                        </a:rPr>
                        <a:t>Autoencoder 이상탐지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303C"/>
                          </a:solidFill>
                          <a:latin typeface="Malgun Gothic"/>
                        </a:rPr>
                        <a:t>Encoder(64-32) + Decoder(32-64), MSE 재구성 오류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2E7D32"/>
                          </a:solidFill>
                          <a:latin typeface="Malgun Gothic"/>
                        </a:rPr>
                        <a:t>임계값 초과 → 이상 경보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F3A5F"/>
                          </a:solidFill>
                          <a:latin typeface="Malgun Gothic"/>
                        </a:rPr>
                        <a:t>ROC 임계값 최적화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303C"/>
                          </a:solidFill>
                          <a:latin typeface="Malgun Gothic"/>
                        </a:rPr>
                        <a:t>FPR/TPR 커브 + Youden Index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2E7D32"/>
                          </a:solidFill>
                          <a:latin typeface="Malgun Gothic"/>
                        </a:rPr>
                        <a:t>최적 임계값 0.68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F3A5F"/>
                          </a:solidFill>
                          <a:latin typeface="Malgun Gothic"/>
                        </a:rPr>
                        <a:t>3D 산점도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303C"/>
                          </a:solidFill>
                          <a:latin typeface="Malgun Gothic"/>
                        </a:rPr>
                        <a:t>h_rms · v_rms · RUL 3축 시각화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2E7D32"/>
                          </a:solidFill>
                          <a:latin typeface="Malgun Gothic"/>
                        </a:rPr>
                        <a:t>열화 패턴 군집 확인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3703320"/>
            <a:ext cx="5532120" cy="1481328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5100" tIns="114300" rIns="139700" bIns="88900" rtlCol="0" anchor="ctr"/>
          <a:lstStyle/>
          <a:p>
            <a:pPr algn="l"/>
            <a:r>
              <a:rPr sz="1300" b="1" i="0">
                <a:solidFill>
                  <a:srgbClr val="1F3A5F"/>
                </a:solidFill>
                <a:latin typeface="Malgun Gothic"/>
              </a:rPr>
              <a:t>그림 S1. SHAP Beeswarm</a:t>
            </a:r>
          </a:p>
          <a:p>
            <a:pPr algn="l">
              <a:spcBef>
                <a:spcPts val="300"/>
              </a:spcBef>
            </a:pPr>
            <a:r>
              <a:rPr sz="1200" b="1" i="0">
                <a:solidFill>
                  <a:srgbClr val="138496"/>
                </a:solidFill>
                <a:latin typeface="Malgun Gothic"/>
              </a:rPr>
              <a:t>• </a:t>
            </a:r>
            <a:r>
              <a:rPr sz="1200" b="0" i="0">
                <a:solidFill>
                  <a:srgbClr val="22303C"/>
                </a:solidFill>
                <a:latin typeface="Malgun Gothic"/>
              </a:rPr>
              <a:t>분류 모델 피처 중요도 — 양수 = 열화 예측 강화</a:t>
            </a:r>
          </a:p>
          <a:p>
            <a:pPr algn="l">
              <a:spcBef>
                <a:spcPts val="300"/>
              </a:spcBef>
            </a:pPr>
            <a:r>
              <a:rPr sz="1200" b="1" i="0">
                <a:solidFill>
                  <a:srgbClr val="138496"/>
                </a:solidFill>
                <a:latin typeface="Malgun Gothic"/>
              </a:rPr>
              <a:t>• </a:t>
            </a:r>
            <a:r>
              <a:rPr sz="1200" b="1" i="0">
                <a:solidFill>
                  <a:srgbClr val="22303C"/>
                </a:solidFill>
                <a:latin typeface="Malgun Gothic"/>
              </a:rPr>
              <a:t>출처: </a:t>
            </a:r>
            <a:r>
              <a:rPr sz="1200" b="0" i="0">
                <a:solidFill>
                  <a:srgbClr val="22303C"/>
                </a:solidFill>
                <a:latin typeface="Malgun Gothic"/>
              </a:rPr>
              <a:t>shap.summary_plot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3703320"/>
            <a:ext cx="5532120" cy="1481328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5100" tIns="114300" rIns="139700" bIns="88900" rtlCol="0" anchor="ctr"/>
          <a:lstStyle/>
          <a:p>
            <a:pPr algn="l"/>
            <a:r>
              <a:rPr sz="1300" b="1" i="0">
                <a:solidFill>
                  <a:srgbClr val="1F3A5F"/>
                </a:solidFill>
                <a:latin typeface="Malgun Gothic"/>
              </a:rPr>
              <a:t>그림 S3. SHAP 막대 (평균 |SHAP|)</a:t>
            </a:r>
          </a:p>
          <a:p>
            <a:pPr algn="l">
              <a:spcBef>
                <a:spcPts val="300"/>
              </a:spcBef>
            </a:pPr>
            <a:r>
              <a:rPr sz="1200" b="1" i="0">
                <a:solidFill>
                  <a:srgbClr val="138496"/>
                </a:solidFill>
                <a:latin typeface="Malgun Gothic"/>
              </a:rPr>
              <a:t>• </a:t>
            </a:r>
            <a:r>
              <a:rPr sz="1200" b="1" i="0">
                <a:solidFill>
                  <a:srgbClr val="22303C"/>
                </a:solidFill>
                <a:latin typeface="Malgun Gothic"/>
              </a:rPr>
              <a:t>h_rms · v_rms </a:t>
            </a:r>
            <a:r>
              <a:rPr sz="1200" b="0" i="0">
                <a:solidFill>
                  <a:srgbClr val="22303C"/>
                </a:solidFill>
                <a:latin typeface="Malgun Gothic"/>
              </a:rPr>
              <a:t>순위 최상위 — 진동 RMS가 핵심 신호</a:t>
            </a:r>
          </a:p>
          <a:p>
            <a:pPr algn="l">
              <a:spcBef>
                <a:spcPts val="300"/>
              </a:spcBef>
            </a:pPr>
            <a:r>
              <a:rPr sz="1200" b="1" i="0">
                <a:solidFill>
                  <a:srgbClr val="138496"/>
                </a:solidFill>
                <a:latin typeface="Malgun Gothic"/>
              </a:rPr>
              <a:t>• </a:t>
            </a:r>
            <a:r>
              <a:rPr sz="1200" b="1" i="0">
                <a:solidFill>
                  <a:srgbClr val="22303C"/>
                </a:solidFill>
                <a:latin typeface="Malgun Gothic"/>
              </a:rPr>
              <a:t>출처: </a:t>
            </a:r>
            <a:r>
              <a:rPr sz="1200" b="0" i="0">
                <a:solidFill>
                  <a:srgbClr val="22303C"/>
                </a:solidFill>
                <a:latin typeface="Malgun Gothic"/>
              </a:rPr>
              <a:t>summary_plot(plot_type='bar')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358384"/>
            <a:ext cx="11274552" cy="9144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14300" rIns="177800" bIns="101600" rtlCol="0" anchor="ctr"/>
          <a:lstStyle/>
          <a:p>
            <a:pPr algn="l"/>
            <a:r>
              <a:rPr sz="1300" b="1" i="0">
                <a:solidFill>
                  <a:srgbClr val="E3A935"/>
                </a:solidFill>
                <a:latin typeface="Malgun Gothic"/>
              </a:rPr>
              <a:t>의의   </a:t>
            </a:r>
            <a:r>
              <a:rPr sz="1250" b="0" i="0">
                <a:solidFill>
                  <a:srgbClr val="FFFFFF"/>
                </a:solidFill>
                <a:latin typeface="Malgun Gothic"/>
              </a:rPr>
              <a:t>AE는 라벨 없는 이상탐지, ROC·Youden은 임계값 결정 근거, 3D·SHAP는 피처 해석력(XAI)을 제공 — </a:t>
            </a:r>
            <a:r>
              <a:rPr sz="1250" b="1" i="0">
                <a:solidFill>
                  <a:srgbClr val="FFFFFF"/>
                </a:solidFill>
                <a:latin typeface="Malgun Gothic"/>
              </a:rPr>
              <a:t>핵심 모델(GRU·LR)의 판정을 정량적으로 뒷받침하는 보조 계층입니다.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lang="en-US" sz="950" b="0" i="0" dirty="0">
                <a:solidFill>
                  <a:srgbClr val="6B7785"/>
                </a:solidFill>
                <a:latin typeface="Malgun Gothic"/>
              </a:rPr>
              <a:t>20</a:t>
            </a:r>
            <a:endParaRPr sz="950" b="0" i="0" dirty="0">
              <a:solidFill>
                <a:srgbClr val="6B7785"/>
              </a:solidFill>
              <a:latin typeface="Malgun Gothic"/>
            </a:endParaRPr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09ACDCFA-D916-FEE2-7367-E2286A948974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C7E8E5CB-5055-5499-5A59-26AC30686A31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84048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310896"/>
            <a:ext cx="1042416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500" b="1" i="0" dirty="0" err="1">
                <a:solidFill>
                  <a:srgbClr val="1F3A5F"/>
                </a:solidFill>
                <a:latin typeface="Malgun Gothic"/>
              </a:rPr>
              <a:t>평가</a:t>
            </a:r>
            <a:r>
              <a:rPr sz="25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2500" b="1" i="0" dirty="0" err="1">
                <a:solidFill>
                  <a:srgbClr val="1F3A5F"/>
                </a:solidFill>
                <a:latin typeface="Malgun Gothic"/>
              </a:rPr>
              <a:t>신뢰성</a:t>
            </a:r>
            <a:r>
              <a:rPr sz="2500" b="1" i="0" dirty="0">
                <a:solidFill>
                  <a:srgbClr val="1F3A5F"/>
                </a:solidFill>
                <a:latin typeface="Malgun Gothic"/>
              </a:rPr>
              <a:t> — </a:t>
            </a:r>
            <a:r>
              <a:rPr sz="2500" b="1" i="0" dirty="0" err="1">
                <a:solidFill>
                  <a:srgbClr val="1F3A5F"/>
                </a:solidFill>
                <a:latin typeface="Malgun Gothic"/>
              </a:rPr>
              <a:t>GroupKFold</a:t>
            </a:r>
            <a:r>
              <a:rPr sz="25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2500" b="1" i="0" dirty="0" err="1">
                <a:solidFill>
                  <a:srgbClr val="1F3A5F"/>
                </a:solidFill>
                <a:latin typeface="Malgun Gothic"/>
              </a:rPr>
              <a:t>베어링</a:t>
            </a:r>
            <a:r>
              <a:rPr sz="25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2500" b="1" i="0" dirty="0" err="1">
                <a:solidFill>
                  <a:srgbClr val="1F3A5F"/>
                </a:solidFill>
                <a:latin typeface="Malgun Gothic"/>
              </a:rPr>
              <a:t>분리</a:t>
            </a:r>
            <a:r>
              <a:rPr sz="2500" b="1" i="0" dirty="0">
                <a:solidFill>
                  <a:srgbClr val="1F3A5F"/>
                </a:solidFill>
                <a:latin typeface="Malgun Gothic"/>
              </a:rPr>
              <a:t> + OOS </a:t>
            </a:r>
            <a:r>
              <a:rPr sz="2500" b="1" i="0" dirty="0" err="1">
                <a:solidFill>
                  <a:srgbClr val="1F3A5F"/>
                </a:solidFill>
                <a:latin typeface="Malgun Gothic"/>
              </a:rPr>
              <a:t>평가</a:t>
            </a:r>
            <a:endParaRPr sz="2500" b="1" i="0" dirty="0">
              <a:solidFill>
                <a:srgbClr val="1F3A5F"/>
              </a:solidFill>
              <a:latin typeface="Malgun Gothic"/>
            </a:endParaRPr>
          </a:p>
          <a:p>
            <a:r>
              <a:rPr sz="1350" b="0" i="0" dirty="0" err="1">
                <a:solidFill>
                  <a:srgbClr val="6B7785"/>
                </a:solidFill>
                <a:latin typeface="Malgun Gothic"/>
              </a:rPr>
              <a:t>무작위</a:t>
            </a:r>
            <a:r>
              <a:rPr sz="1350" b="0" i="0" dirty="0">
                <a:solidFill>
                  <a:srgbClr val="6B7785"/>
                </a:solidFill>
                <a:latin typeface="Malgun Gothic"/>
              </a:rPr>
              <a:t> </a:t>
            </a:r>
            <a:r>
              <a:rPr sz="1350" b="0" i="0" dirty="0" err="1">
                <a:solidFill>
                  <a:srgbClr val="6B7785"/>
                </a:solidFill>
                <a:latin typeface="Malgun Gothic"/>
              </a:rPr>
              <a:t>분할이</a:t>
            </a:r>
            <a:r>
              <a:rPr sz="1350" b="0" i="0" dirty="0">
                <a:solidFill>
                  <a:srgbClr val="6B7785"/>
                </a:solidFill>
                <a:latin typeface="Malgun Gothic"/>
              </a:rPr>
              <a:t> </a:t>
            </a:r>
            <a:r>
              <a:rPr sz="1350" b="0" i="0" dirty="0" err="1">
                <a:solidFill>
                  <a:srgbClr val="6B7785"/>
                </a:solidFill>
                <a:latin typeface="Malgun Gothic"/>
              </a:rPr>
              <a:t>아닌</a:t>
            </a:r>
            <a:r>
              <a:rPr sz="1350" b="0" i="0" dirty="0">
                <a:solidFill>
                  <a:srgbClr val="6B7785"/>
                </a:solidFill>
                <a:latin typeface="Malgun Gothic"/>
              </a:rPr>
              <a:t> '새 </a:t>
            </a:r>
            <a:r>
              <a:rPr sz="1350" b="0" i="0" dirty="0" err="1">
                <a:solidFill>
                  <a:srgbClr val="6B7785"/>
                </a:solidFill>
                <a:latin typeface="Malgun Gothic"/>
              </a:rPr>
              <a:t>설비에</a:t>
            </a:r>
            <a:r>
              <a:rPr sz="1350" b="0" i="0" dirty="0">
                <a:solidFill>
                  <a:srgbClr val="6B7785"/>
                </a:solidFill>
                <a:latin typeface="Malgun Gothic"/>
              </a:rPr>
              <a:t> </a:t>
            </a:r>
            <a:r>
              <a:rPr sz="1350" b="0" i="0" dirty="0" err="1">
                <a:solidFill>
                  <a:srgbClr val="6B7785"/>
                </a:solidFill>
                <a:latin typeface="Malgun Gothic"/>
              </a:rPr>
              <a:t>배포했을</a:t>
            </a:r>
            <a:r>
              <a:rPr sz="1350" b="0" i="0" dirty="0">
                <a:solidFill>
                  <a:srgbClr val="6B7785"/>
                </a:solidFill>
                <a:latin typeface="Malgun Gothic"/>
              </a:rPr>
              <a:t> 때 </a:t>
            </a:r>
            <a:r>
              <a:rPr sz="1350" b="0" i="0" dirty="0" err="1">
                <a:solidFill>
                  <a:srgbClr val="6B7785"/>
                </a:solidFill>
                <a:latin typeface="Malgun Gothic"/>
              </a:rPr>
              <a:t>성능'을</a:t>
            </a:r>
            <a:r>
              <a:rPr sz="1350" b="0" i="0" dirty="0">
                <a:solidFill>
                  <a:srgbClr val="6B7785"/>
                </a:solidFill>
                <a:latin typeface="Malgun Gothic"/>
              </a:rPr>
              <a:t> </a:t>
            </a:r>
            <a:r>
              <a:rPr sz="1350" b="0" i="0" dirty="0" err="1">
                <a:solidFill>
                  <a:srgbClr val="6B7785"/>
                </a:solidFill>
                <a:latin typeface="Malgun Gothic"/>
              </a:rPr>
              <a:t>그대로</a:t>
            </a:r>
            <a:r>
              <a:rPr sz="1350" b="0" i="0" dirty="0">
                <a:solidFill>
                  <a:srgbClr val="6B7785"/>
                </a:solidFill>
                <a:latin typeface="Malgun Gothic"/>
              </a:rPr>
              <a:t> </a:t>
            </a:r>
            <a:r>
              <a:rPr sz="1350" b="0" i="0" dirty="0" err="1">
                <a:solidFill>
                  <a:srgbClr val="6B7785"/>
                </a:solidFill>
                <a:latin typeface="Malgun Gothic"/>
              </a:rPr>
              <a:t>모사</a:t>
            </a:r>
            <a:endParaRPr sz="1350" b="0" i="0" dirty="0">
              <a:solidFill>
                <a:srgbClr val="6B7785"/>
              </a:solidFill>
              <a:latin typeface="Malgun Gothic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1170432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1274552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8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marL="88900" marR="88900" marT="50800" marB="508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</a:rPr>
                        <a:t>무작위 분할</a:t>
                      </a:r>
                    </a:p>
                  </a:txBody>
                  <a:tcPr marL="88900" marR="88900" marT="50800" marB="508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</a:rPr>
                        <a:t>GroupKFold (본 프로젝트)</a:t>
                      </a:r>
                    </a:p>
                  </a:txBody>
                  <a:tcPr marL="88900" marR="88900" marT="50800" marB="508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F3A5F"/>
                          </a:solidFill>
                          <a:latin typeface="Malgun Gothic"/>
                        </a:rPr>
                        <a:t>분리 단위</a:t>
                      </a:r>
                    </a:p>
                  </a:txBody>
                  <a:tcPr marL="88900" marR="88900" marT="50800" marB="50800" anchor="ctr">
                    <a:solidFill>
                      <a:srgbClr val="D6E0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Malgun Gothic"/>
                        </a:rPr>
                        <a:t>행(스냅샷) 단위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베어링 단위 통째 분리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F3A5F"/>
                          </a:solidFill>
                          <a:latin typeface="Malgun Gothic"/>
                        </a:rPr>
                        <a:t>데이터 누수</a:t>
                      </a:r>
                    </a:p>
                  </a:txBody>
                  <a:tcPr marL="88900" marR="88900" marT="50800" marB="50800" anchor="ctr">
                    <a:solidFill>
                      <a:srgbClr val="D6E0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Malgun Gothic"/>
                        </a:rPr>
                        <a:t>같은 베어링이 학습·평가에 혼입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원천 차단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F3A5F"/>
                          </a:solidFill>
                          <a:latin typeface="Malgun Gothic"/>
                        </a:rPr>
                        <a:t>평가 의미</a:t>
                      </a:r>
                    </a:p>
                  </a:txBody>
                  <a:tcPr marL="88900" marR="88900" marT="50800" marB="50800" anchor="ctr">
                    <a:solidFill>
                      <a:srgbClr val="D6E0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Malgun Gothic"/>
                        </a:rPr>
                        <a:t>낙관적 — 성능 과대평가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새 설비 배포 성능 그대로 모사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F3A5F"/>
                          </a:solidFill>
                          <a:latin typeface="Malgun Gothic"/>
                        </a:rPr>
                        <a:t>평가 베어링</a:t>
                      </a:r>
                    </a:p>
                  </a:txBody>
                  <a:tcPr marL="88900" marR="88900" marT="50800" marB="50800" anchor="ctr">
                    <a:solidFill>
                      <a:srgbClr val="D6E0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Malgun Gothic"/>
                        </a:rPr>
                        <a:t>학습 베어링과 중복 가능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미관측 새 베어링 11개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160520"/>
            <a:ext cx="11274552" cy="2121408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203200" bIns="152400" rtlCol="0" anchor="ctr"/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1F3A5F"/>
                </a:solidFill>
                <a:latin typeface="Malgun Gothic"/>
              </a:rPr>
              <a:t>▸  학습에 한 번도 등장하지 않은 새 베어링 11개로 평가</a:t>
            </a:r>
            <a:r>
              <a:rPr sz="1300" b="0" i="0">
                <a:solidFill>
                  <a:srgbClr val="22303C"/>
                </a:solidFill>
                <a:latin typeface="Malgun Gothic"/>
              </a:rPr>
              <a:t> — 무작위 분할보다 엄격하고 현실적입니다.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1F3A5F"/>
                </a:solidFill>
                <a:latin typeface="Malgun Gothic"/>
              </a:rPr>
              <a:t>▸  CV와 OOS를 함께 보고</a:t>
            </a:r>
            <a:r>
              <a:rPr sz="1300" b="0" i="0">
                <a:solidFill>
                  <a:srgbClr val="22303C"/>
                </a:solidFill>
                <a:latin typeface="Malgun Gothic"/>
              </a:rPr>
              <a:t> — 과적합 여부를 투명하게 노출하는 좋은 관행입니다.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1F3A5F"/>
                </a:solidFill>
                <a:latin typeface="Malgun Gothic"/>
              </a:rPr>
              <a:t>▸  'RMSE'가 아니라 'OOS RMSE'로 명시한 것은 정확한 표기</a:t>
            </a:r>
            <a:r>
              <a:rPr sz="1300" b="0" i="0">
                <a:solidFill>
                  <a:srgbClr val="22303C"/>
                </a:solidFill>
                <a:latin typeface="Malgun Gothic"/>
              </a:rPr>
              <a:t> — 본 프로젝트의 모든 성능 수치는 OOS(미관측 베어링) 기준입니다.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1718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lang="en-US" sz="950" dirty="0">
                <a:solidFill>
                  <a:srgbClr val="6B7785"/>
                </a:solidFill>
                <a:latin typeface="Malgun Gothic"/>
              </a:rPr>
              <a:t>21</a:t>
            </a:r>
            <a:endParaRPr sz="950" b="0" i="0" dirty="0">
              <a:solidFill>
                <a:srgbClr val="6B7785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 중심 성능 평가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PdM — 고장 미탐지(FN) 최소화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1064240" cy="685800"/>
          </a:xfrm>
          <a:prstGeom prst="roundRect">
            <a:avLst>
              <a:gd name="adj" fmla="val 6667"/>
            </a:avLst>
          </a:prstGeom>
          <a:solidFill>
            <a:srgbClr val="FBF1E0"/>
          </a:solidFill>
          <a:ln w="12700">
            <a:solidFill>
              <a:srgbClr val="E8C9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Recall인가?  </a:t>
            </a:r>
            <a:r>
              <a:rPr lang="en-US" sz="13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 미탐지(FN) 비용 ≫ 오경보(FP) 비용 — 베어링 미발견 → 설비 파손·라인 전체 정지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OOS (실제 미관측 베어링 11개) — Recall 기준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1064240" cy="18288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Precision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Recall 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0.755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0.890 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0.817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5B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 실제 최적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RF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23B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0.505 ✗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과적합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XGB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23B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0.513 ✗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0.758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과적합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" y="4434840"/>
            <a:ext cx="11064240" cy="1508760"/>
          </a:xfrm>
          <a:prstGeom prst="roundRect">
            <a:avLst>
              <a:gd name="adj" fmla="val 3636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868680" y="45445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결론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48920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다조건 OOS: LR Recall 0.890 ≫ RF 0.505 · XGB 0.513 — Recall 기준이 모델 선택을 바꿈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배포 권장: 새 베어링 일반화 관점 LR 채택 (단순 선형 경계가 전이 우수)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운영: F1 최적 임계값 탐색 후 Recall 우선 시 임계값을 낮춰 미탐지 최소화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000" y="108000"/>
            <a:ext cx="118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97D"/>
                </a:solidFill>
              </a:rPr>
              <a:t>ML Classification - Confusion Matrix + SHAP Feature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540000"/>
            <a:ext cx="11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808080"/>
                </a:solidFill>
              </a:rPr>
              <a:t>RF OOS test set  |  FP vs FN tradeoff  |  Top feature ranking by SHAP</a:t>
            </a:r>
          </a:p>
        </p:txBody>
      </p:sp>
      <p:pic>
        <p:nvPicPr>
          <p:cNvPr id="4" name="Picture 3" descr="05_con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827999"/>
            <a:ext cx="5580000" cy="5238551"/>
          </a:xfrm>
          <a:prstGeom prst="rect">
            <a:avLst/>
          </a:prstGeom>
        </p:spPr>
      </p:pic>
      <p:pic>
        <p:nvPicPr>
          <p:cNvPr id="5" name="Picture 4" descr="S3_shap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827999"/>
            <a:ext cx="5760000" cy="216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0000" y="4788000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08080"/>
                </a:solidFill>
              </a:rPr>
              <a:t>Fig 5. Confusion Matrix (RF OOS): rows=actual, cols=predicted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0000" y="4788000"/>
            <a:ext cx="57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08080"/>
                </a:solidFill>
              </a:rPr>
              <a:t>Fig S3. SHAP Feature Importance Bar: h_rms / v_rms ranked top</a:t>
            </a: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A4AADCB8-AD12-1092-7E36-0ADCDEA87448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000" y="108000"/>
            <a:ext cx="1188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F497D"/>
                </a:solidFill>
              </a:rPr>
              <a:t>Model Selection Rationale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612000"/>
          <a:ext cx="11880000" cy="1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2E5A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Selection Rationale</a:t>
                      </a:r>
                    </a:p>
                  </a:txBody>
                  <a:tcPr>
                    <a:solidFill>
                      <a:srgbClr val="2E5A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OOS Recall</a:t>
                      </a:r>
                    </a:p>
                  </a:txBody>
                  <a:tcPr>
                    <a:solidFill>
                      <a:srgbClr val="2E5A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OOS F1</a:t>
                      </a:r>
                    </a:p>
                  </a:txBody>
                  <a:tcPr>
                    <a:solidFill>
                      <a:srgbClr val="2E5A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2E5A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</a:rPr>
                        <a:t>RF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Feature importance + nonlinear robustness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0.875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0.920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BEST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Imbalanced class, sparse anomaly focus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0.863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0.912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Good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</a:rPr>
                        <a:t>GBM</a:t>
                      </a:r>
                    </a:p>
                  </a:txBody>
                  <a:tcPr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Gradual learning, outlier robustness</a:t>
                      </a:r>
                    </a:p>
                  </a:txBody>
                  <a:tcPr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0.851</a:t>
                      </a:r>
                    </a:p>
                  </a:txBody>
                  <a:tcPr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0.905</a:t>
                      </a:r>
                    </a:p>
                  </a:txBody>
                  <a:tcPr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Good</a:t>
                      </a:r>
                    </a:p>
                  </a:txBody>
                  <a:tcPr>
                    <a:solidFill>
                      <a:srgbClr val="FFF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</a:rPr>
                        <a:t>SVM(RBF)</a:t>
                      </a:r>
                    </a:p>
                  </a:txBody>
                  <a:tcPr>
                    <a:solidFill>
                      <a:srgbClr val="F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High-dim margin, small data fit</a:t>
                      </a:r>
                    </a:p>
                  </a:txBody>
                  <a:tcPr>
                    <a:solidFill>
                      <a:srgbClr val="F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0.840</a:t>
                      </a:r>
                    </a:p>
                  </a:txBody>
                  <a:tcPr>
                    <a:solidFill>
                      <a:srgbClr val="F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0.893</a:t>
                      </a:r>
                    </a:p>
                  </a:txBody>
                  <a:tcPr>
                    <a:solidFill>
                      <a:srgbClr val="F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Mid</a:t>
                      </a:r>
                    </a:p>
                  </a:txBody>
                  <a:tcPr>
                    <a:solidFill>
                      <a:srgbClr val="F8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</a:rPr>
                        <a:t>LR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Baseline, top Recall (0.890)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0.890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0.878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0000" y="3348000"/>
            <a:ext cx="11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</a:rPr>
              <a:t>Final: RF (F1 0.920 best + interpretability) | LR considered for Recall-priority operation</a:t>
            </a:r>
          </a:p>
        </p:txBody>
      </p:sp>
      <p:sp>
        <p:nvSpPr>
          <p:cNvPr id="5" name="Text 12">
            <a:extLst>
              <a:ext uri="{FF2B5EF4-FFF2-40B4-BE49-F238E27FC236}">
                <a16:creationId xmlns:a16="http://schemas.microsoft.com/office/drawing/2014/main" id="{167B3FBF-127A-F8C8-1A07-FF7311479324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6091" y="320040"/>
            <a:ext cx="675537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97D"/>
                </a:solidFill>
              </a:defRPr>
            </a:pPr>
            <a:r>
              <a:rPr dirty="0"/>
              <a:t>Q.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현장에서</a:t>
            </a:r>
            <a:r>
              <a:rPr dirty="0"/>
              <a:t> </a:t>
            </a:r>
            <a:r>
              <a:rPr dirty="0" err="1"/>
              <a:t>무엇을</a:t>
            </a:r>
            <a:r>
              <a:rPr dirty="0"/>
              <a:t> 더 </a:t>
            </a:r>
            <a:r>
              <a:rPr dirty="0" err="1"/>
              <a:t>많이</a:t>
            </a:r>
            <a:r>
              <a:rPr dirty="0"/>
              <a:t> </a:t>
            </a:r>
            <a:r>
              <a:rPr dirty="0" err="1"/>
              <a:t>쓰나</a:t>
            </a:r>
            <a:r>
              <a:rPr dirty="0"/>
              <a:t>?  ─ 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유형</a:t>
            </a:r>
            <a:r>
              <a:rPr dirty="0"/>
              <a:t> </a:t>
            </a:r>
            <a:r>
              <a:rPr dirty="0" err="1"/>
              <a:t>비교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868680"/>
          <a:ext cx="84124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비교 항목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진동 시계열 (현재 방식)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실제 베어링 사진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현장 적용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✅ 업계 표준 (ISO 10816/20816)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🔶 분해 후 사후검사 위주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비용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✅ 저렴 (가속도계 수천 원)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🔶 고가 카메라·조명 인프라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실시간 모니터링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✅ 기계 가동 중 연속 측정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❌ 가동 중 촬영 불가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비침습성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✅ 외부 부착만으로 가능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❌ 분해 필요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FEMTO-ST 데이터셋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✅ 이 방식 그 자체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❌ 미포함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4023360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497D"/>
                </a:solidFill>
              </a:defRPr>
            </a:pPr>
            <a:r>
              <a:t>▶ 결론: 진동 RMS → matplotlib → CNN → Grad-CAM 방식이 실무 표준에 가장 가까움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26280"/>
            <a:ext cx="774763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6060"/>
                </a:solidFill>
              </a:defRPr>
            </a:pPr>
            <a:r>
              <a:rPr lang="ko-KR" altLang="en-US" dirty="0"/>
              <a:t>분해 검사</a:t>
            </a:r>
            <a:r>
              <a:rPr lang="en-US" altLang="ko-KR" dirty="0"/>
              <a:t>·</a:t>
            </a:r>
            <a:r>
              <a:rPr lang="ko-KR" altLang="en-US" dirty="0"/>
              <a:t>생산 단계 외관검사 등 별도 시나리오에서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베어링</a:t>
            </a:r>
            <a:r>
              <a:rPr dirty="0"/>
              <a:t> </a:t>
            </a:r>
            <a:r>
              <a:rPr dirty="0" err="1"/>
              <a:t>사진</a:t>
            </a:r>
            <a:r>
              <a:rPr dirty="0"/>
              <a:t> </a:t>
            </a:r>
            <a:r>
              <a:rPr dirty="0" err="1"/>
              <a:t>도입</a:t>
            </a:r>
            <a:r>
              <a:rPr dirty="0"/>
              <a:t> 시 → EfficientNetB0 (</a:t>
            </a:r>
            <a:r>
              <a:rPr dirty="0" err="1"/>
              <a:t>전이학습</a:t>
            </a:r>
            <a:r>
              <a:rPr dirty="0"/>
              <a:t>)  |  ResNet50 / VGG16 </a:t>
            </a:r>
            <a:r>
              <a:rPr dirty="0" err="1"/>
              <a:t>대안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C34D872B-EF20-3CC1-D1AC-E397B646C954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ko-KR" altLang="en-US" sz="2400" b="1" i="0" dirty="0">
                <a:solidFill>
                  <a:srgbClr val="1F3A5F"/>
                </a:solidFill>
                <a:latin typeface="Malgun Gothic"/>
              </a:rPr>
              <a:t>기타</a:t>
            </a:r>
            <a:r>
              <a:rPr sz="2400" b="1" i="0" dirty="0">
                <a:solidFill>
                  <a:srgbClr val="1F3A5F"/>
                </a:solidFill>
                <a:latin typeface="Malgun Gothic"/>
              </a:rPr>
              <a:t>. </a:t>
            </a:r>
            <a:r>
              <a:rPr sz="2400" b="1" i="0" dirty="0" err="1">
                <a:solidFill>
                  <a:srgbClr val="1F3A5F"/>
                </a:solidFill>
                <a:latin typeface="Malgun Gothic"/>
              </a:rPr>
              <a:t>학습했으나</a:t>
            </a:r>
            <a:r>
              <a:rPr sz="24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2400" b="1" i="0" dirty="0" err="1">
                <a:solidFill>
                  <a:srgbClr val="1F3A5F"/>
                </a:solidFill>
                <a:latin typeface="Malgun Gothic"/>
              </a:rPr>
              <a:t>미적용한</a:t>
            </a:r>
            <a:r>
              <a:rPr sz="24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2400" b="1" i="0" dirty="0" err="1">
                <a:solidFill>
                  <a:srgbClr val="1F3A5F"/>
                </a:solidFill>
                <a:latin typeface="Malgun Gothic"/>
              </a:rPr>
              <a:t>실험</a:t>
            </a:r>
            <a:r>
              <a:rPr sz="2400" b="1" i="0" dirty="0">
                <a:solidFill>
                  <a:srgbClr val="1F3A5F"/>
                </a:solidFill>
                <a:latin typeface="Malgun Gothic"/>
              </a:rPr>
              <a:t> · </a:t>
            </a:r>
            <a:r>
              <a:rPr sz="2400" b="1" i="0" dirty="0" err="1">
                <a:solidFill>
                  <a:srgbClr val="1F3A5F"/>
                </a:solidFill>
                <a:latin typeface="Malgun Gothic"/>
              </a:rPr>
              <a:t>튜닝</a:t>
            </a:r>
            <a:r>
              <a:rPr sz="24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2400" b="1" i="0" dirty="0" err="1">
                <a:solidFill>
                  <a:srgbClr val="1F3A5F"/>
                </a:solidFill>
                <a:latin typeface="Malgun Gothic"/>
              </a:rPr>
              <a:t>시도와</a:t>
            </a:r>
            <a:r>
              <a:rPr sz="24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2400" b="1" i="0" dirty="0" err="1">
                <a:solidFill>
                  <a:srgbClr val="1F3A5F"/>
                </a:solidFill>
                <a:latin typeface="Malgun Gothic"/>
              </a:rPr>
              <a:t>보류</a:t>
            </a:r>
            <a:r>
              <a:rPr sz="24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2400" b="1" i="0" dirty="0" err="1">
                <a:solidFill>
                  <a:srgbClr val="1F3A5F"/>
                </a:solidFill>
                <a:latin typeface="Malgun Gothic"/>
              </a:rPr>
              <a:t>사유</a:t>
            </a:r>
            <a:endParaRPr sz="2400" b="1" i="0" dirty="0">
              <a:solidFill>
                <a:srgbClr val="1F3A5F"/>
              </a:solidFill>
              <a:latin typeface="Malgun Gothic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실험 · 시도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미적용 / 보류 사유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NASA Milling 데이터 학습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C0392B"/>
                          </a:solidFill>
                          <a:latin typeface="Malgun Gothic"/>
                        </a:rPr>
                        <a:t>ML·DL 모두 AUC 0.500 (무작위 수준)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가공조건 혼재·표본 부족 → 전처리서 신호 소실. 전처리 개선 과제로 보류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GridSearch 하이퍼파라미터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OOS RMSE 956 (batch=16의 836보다 열위)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수동 batch=16 튜닝이 더 우수 → 최종 미채택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LSTM · BiLSTM · CNN (5종 비교)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GRU 909.96 대비 모두 열위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GRU가 인과 시계열·경량성 우수 → GRU 채택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SimpleImputer (전역 평균 결측대체)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온도 상승 추세 소멸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선형보간이 추세 보존 → 평균 대체 배제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window = 30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최종 window=20이 OOS 우수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비교 실험엔 30, 최종 모델은 20 채택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pPr algn="l"/>
            <a:r>
              <a:rPr sz="1300" b="1" i="0" dirty="0">
                <a:solidFill>
                  <a:srgbClr val="E3A935"/>
                </a:solidFill>
                <a:latin typeface="Malgun Gothic"/>
              </a:rPr>
              <a:t>의</a:t>
            </a:r>
            <a:r>
              <a:rPr lang="ko-KR" altLang="en-US" sz="1300" b="1" i="0" dirty="0">
                <a:solidFill>
                  <a:srgbClr val="E3A935"/>
                </a:solidFill>
                <a:latin typeface="Malgun Gothic"/>
              </a:rPr>
              <a:t>의</a:t>
            </a:r>
            <a:endParaRPr lang="en-US" altLang="ko-KR" sz="1250" b="1" i="0" dirty="0">
              <a:solidFill>
                <a:srgbClr val="FFFFFF"/>
              </a:solidFill>
              <a:latin typeface="Malgun Gothic"/>
            </a:endParaRPr>
          </a:p>
          <a:p>
            <a:pPr marL="285750" indent="-285750" algn="l">
              <a:buFontTx/>
              <a:buChar char="-"/>
            </a:pPr>
            <a:r>
              <a:rPr sz="1250" b="1" i="0" dirty="0">
                <a:solidFill>
                  <a:srgbClr val="E3A935"/>
                </a:solidFill>
                <a:latin typeface="Malgun Gothic"/>
              </a:rPr>
              <a:t>NASA Milling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사례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(ML·DL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동반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실패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)는 '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DL이면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무조건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낫다'가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성립하지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않음을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입증</a:t>
            </a:r>
            <a:endParaRPr lang="en-US" sz="1250" dirty="0">
              <a:solidFill>
                <a:srgbClr val="FFFFFF"/>
              </a:solidFill>
              <a:latin typeface="Malgun Gothic"/>
            </a:endParaRPr>
          </a:p>
          <a:p>
            <a:pPr algn="l">
              <a:spcBef>
                <a:spcPts val="300"/>
              </a:spcBef>
            </a:pP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데이터·전처리·라벨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품질이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모델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종류보다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우선함을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보여줍니다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.</a:t>
            </a:r>
            <a:endParaRPr lang="en-US" sz="1250" b="0" i="0" dirty="0">
              <a:solidFill>
                <a:srgbClr val="FFFFFF"/>
              </a:solidFill>
              <a:latin typeface="Malgun Gothic"/>
            </a:endParaRPr>
          </a:p>
          <a:p>
            <a:pPr algn="l">
              <a:spcBef>
                <a:spcPts val="300"/>
              </a:spcBef>
            </a:pP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채택된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설정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(GRU·batch16·window20·선형보간)은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모두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비교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실험을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거친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결과입니다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50" b="0" i="0">
                <a:solidFill>
                  <a:srgbClr val="6B7785"/>
                </a:solidFill>
                <a:latin typeface="Malgun Gothic"/>
              </a:rPr>
              <a:t>FEMTO-ST 베어링 RUL 예측   ·   ML+DL 통합 PdM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lang="en-US" sz="950" dirty="0">
                <a:solidFill>
                  <a:srgbClr val="6B7785"/>
                </a:solidFill>
                <a:latin typeface="Malgun Gothic"/>
              </a:rPr>
              <a:t>26</a:t>
            </a:r>
            <a:endParaRPr sz="950" b="0" i="0" dirty="0">
              <a:solidFill>
                <a:srgbClr val="6B7785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274320"/>
            <a:ext cx="105156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2100" b="1" i="0">
                <a:solidFill>
                  <a:srgbClr val="1F3A5F"/>
                </a:solidFill>
                <a:latin typeface="Malgun Gothic"/>
              </a:rPr>
              <a:t>부록. 실제 현장 데이터 흐름 — 센서 → 엣지 → 브로커(발행·구독) → AI</a:t>
            </a:r>
          </a:p>
          <a:p>
            <a:r>
              <a:rPr sz="1300" b="0" i="0">
                <a:solidFill>
                  <a:srgbClr val="6B7785"/>
                </a:solidFill>
                <a:latin typeface="Malgun Gothic"/>
              </a:rPr>
              <a:t>MQTT Pub/Sub 구조: 우리 ML+DL 파이프라인은 진동 토픽의 '구독자'이자 경보 '발행자'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line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02920" y="1463040"/>
            <a:ext cx="2514600" cy="841248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/>
            <a:r>
              <a:rPr sz="1250" b="1" i="0">
                <a:solidFill>
                  <a:srgbClr val="1F3A5F"/>
                </a:solidFill>
                <a:latin typeface="Malgun Gothic"/>
              </a:rPr>
              <a:t>① 가속도계 · 온도센서</a:t>
            </a:r>
          </a:p>
          <a:p>
            <a:pPr algn="ctr"/>
            <a:r>
              <a:rPr sz="950" b="0" i="0">
                <a:solidFill>
                  <a:srgbClr val="6B7785"/>
                </a:solidFill>
                <a:latin typeface="Malgun Gothic"/>
              </a:rPr>
              <a:t>진동 25.6kHz · 온도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463040"/>
            <a:ext cx="2011680" cy="841248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/>
            <a:r>
              <a:rPr sz="1250" b="1" i="0">
                <a:solidFill>
                  <a:srgbClr val="1F3A5F"/>
                </a:solidFill>
                <a:latin typeface="Malgun Gothic"/>
              </a:rPr>
              <a:t>② PLC / DAQ</a:t>
            </a:r>
          </a:p>
          <a:p>
            <a:pPr algn="ctr"/>
            <a:r>
              <a:rPr sz="950" b="0" i="0">
                <a:solidFill>
                  <a:srgbClr val="6B7785"/>
                </a:solidFill>
                <a:latin typeface="Malgun Gothic"/>
              </a:rPr>
              <a:t>신호 디지털 수집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3200400" cy="841248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/>
            <a:r>
              <a:rPr sz="1250" b="1" i="0">
                <a:solidFill>
                  <a:srgbClr val="1F3A5F"/>
                </a:solidFill>
                <a:latin typeface="Malgun Gothic"/>
              </a:rPr>
              <a:t>③ 엣지 게이트웨이</a:t>
            </a:r>
          </a:p>
          <a:p>
            <a:pPr algn="ctr"/>
            <a:r>
              <a:rPr sz="950" b="0" i="0">
                <a:solidFill>
                  <a:srgbClr val="6B7785"/>
                </a:solidFill>
                <a:latin typeface="Malgun Gothic"/>
              </a:rPr>
              <a:t>1분 RMS·첨도 등 12피처 압축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1883664"/>
            <a:ext cx="548640" cy="0"/>
          </a:xfrm>
          <a:prstGeom prst="line">
            <a:avLst/>
          </a:prstGeom>
          <a:ln w="22225">
            <a:solidFill>
              <a:srgbClr val="6B77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15768" y="1554480"/>
            <a:ext cx="128016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0" dirty="0" err="1">
                <a:solidFill>
                  <a:srgbClr val="6B7785"/>
                </a:solidFill>
                <a:latin typeface="Malgun Gothic"/>
              </a:rPr>
              <a:t>아날로그</a:t>
            </a:r>
            <a:endParaRPr sz="900" b="0" i="0" dirty="0">
              <a:solidFill>
                <a:srgbClr val="6B7785"/>
              </a:solidFill>
              <a:latin typeface="Malgun Gothic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5577840" y="1883664"/>
            <a:ext cx="594360" cy="0"/>
          </a:xfrm>
          <a:prstGeom prst="line">
            <a:avLst/>
          </a:prstGeom>
          <a:ln w="22225">
            <a:solidFill>
              <a:srgbClr val="6B77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76088" y="1554480"/>
            <a:ext cx="128016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0">
                <a:solidFill>
                  <a:srgbClr val="6B7785"/>
                </a:solidFill>
                <a:latin typeface="Malgun Gothic"/>
              </a:rPr>
              <a:t>OPC-UA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0" y="2304288"/>
            <a:ext cx="0" cy="457200"/>
          </a:xfrm>
          <a:prstGeom prst="line">
            <a:avLst/>
          </a:prstGeom>
          <a:ln w="28575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863840" y="2377440"/>
            <a:ext cx="201168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2E75B6"/>
                </a:solidFill>
                <a:latin typeface="Malgun Gothic"/>
              </a:rPr>
              <a:t>발행 (Publish)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578608"/>
            <a:ext cx="274320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850" b="0" i="0">
                <a:solidFill>
                  <a:srgbClr val="6B7785"/>
                </a:solidFill>
                <a:latin typeface="Malgun Gothic"/>
              </a:rPr>
              <a:t>topic: .../bearing/vibration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2788920"/>
            <a:ext cx="6035040" cy="841248"/>
          </a:xfrm>
          <a:prstGeom prst="roundRect">
            <a:avLst/>
          </a:prstGeom>
          <a:solidFill>
            <a:srgbClr val="138496"/>
          </a:solidFill>
          <a:ln w="15875">
            <a:solidFill>
              <a:srgbClr val="138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algun Gothic"/>
              </a:rPr>
              <a:t>④ 브로커 (MQTT Broker) = 현대오토에버 IoT 플랫폼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Malgun Gothic"/>
              </a:rPr>
              <a:t>발행 메시지를 구독 시스템에 실시간 중계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06240"/>
            <a:ext cx="2331720" cy="9601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/>
            <a:r>
              <a:rPr sz="1250" b="1" i="0">
                <a:solidFill>
                  <a:srgbClr val="1F3A5F"/>
                </a:solidFill>
                <a:latin typeface="Malgun Gothic"/>
              </a:rPr>
              <a:t>시계열 DB</a:t>
            </a:r>
          </a:p>
          <a:p>
            <a:pPr algn="ctr"/>
            <a:r>
              <a:rPr sz="950" b="0" i="0">
                <a:solidFill>
                  <a:srgbClr val="6B7785"/>
                </a:solidFill>
                <a:latin typeface="Malgun Gothic"/>
              </a:rPr>
              <a:t>적재 (Influx/Timescale)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4206240"/>
            <a:ext cx="2377440" cy="9601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/>
            <a:r>
              <a:rPr sz="1250" b="1" i="0" dirty="0" err="1">
                <a:solidFill>
                  <a:srgbClr val="1F3A5F"/>
                </a:solidFill>
                <a:latin typeface="Malgun Gothic"/>
              </a:rPr>
              <a:t>예지보전</a:t>
            </a:r>
            <a:r>
              <a:rPr sz="1250" b="1" i="0" dirty="0">
                <a:solidFill>
                  <a:srgbClr val="1F3A5F"/>
                </a:solidFill>
                <a:latin typeface="Malgun Gothic"/>
              </a:rPr>
              <a:t> (</a:t>
            </a:r>
            <a:r>
              <a:rPr lang="en-US" sz="1250" b="1" dirty="0" err="1">
                <a:solidFill>
                  <a:srgbClr val="1F3A5F"/>
                </a:solidFill>
                <a:latin typeface="Malgun Gothic"/>
              </a:rPr>
              <a:t>Pdm</a:t>
            </a:r>
            <a:r>
              <a:rPr sz="1250" b="1" i="0" dirty="0">
                <a:solidFill>
                  <a:srgbClr val="1F3A5F"/>
                </a:solidFill>
                <a:latin typeface="Malgun Gothic"/>
              </a:rPr>
              <a:t>)</a:t>
            </a:r>
          </a:p>
          <a:p>
            <a:pPr algn="ctr"/>
            <a:r>
              <a:rPr lang="ko-KR" altLang="en-US" sz="950" b="0" i="0" dirty="0">
                <a:solidFill>
                  <a:srgbClr val="6B7785"/>
                </a:solidFill>
                <a:latin typeface="Malgun Gothic"/>
              </a:rPr>
              <a:t>센서 수치 데이터</a:t>
            </a:r>
            <a:r>
              <a:rPr lang="en-US" altLang="ko-KR" sz="950" dirty="0">
                <a:solidFill>
                  <a:srgbClr val="6B7785"/>
                </a:solidFill>
                <a:latin typeface="Malgun Gothic"/>
              </a:rPr>
              <a:t> </a:t>
            </a:r>
            <a:r>
              <a:rPr lang="en-US" altLang="ko-KR" sz="950" b="0" i="0" dirty="0">
                <a:solidFill>
                  <a:srgbClr val="6B7785"/>
                </a:solidFill>
                <a:latin typeface="Malgun Gothic"/>
              </a:rPr>
              <a:t>ML(</a:t>
            </a:r>
            <a:r>
              <a:rPr lang="en-US" altLang="ko-KR" sz="950" b="0" i="0" dirty="0" err="1">
                <a:solidFill>
                  <a:srgbClr val="6B7785"/>
                </a:solidFill>
                <a:latin typeface="Malgun Gothic"/>
              </a:rPr>
              <a:t>XGBoost</a:t>
            </a:r>
            <a:r>
              <a:rPr lang="en-US" altLang="ko-KR" sz="950" b="0" i="0" dirty="0">
                <a:solidFill>
                  <a:srgbClr val="6B7785"/>
                </a:solidFill>
                <a:latin typeface="Malgun Gothic"/>
              </a:rPr>
              <a:t>)</a:t>
            </a:r>
            <a:r>
              <a:rPr lang="ko-KR" altLang="en-US" sz="950" b="0" i="0" dirty="0">
                <a:solidFill>
                  <a:srgbClr val="6B7785"/>
                </a:solidFill>
                <a:latin typeface="Malgun Gothic"/>
              </a:rPr>
              <a:t>로 분류해 고장을 사전 진단</a:t>
            </a:r>
            <a:endParaRPr sz="950" b="0" i="0" dirty="0">
              <a:solidFill>
                <a:srgbClr val="6B7785"/>
              </a:solidFill>
              <a:latin typeface="Malgun Gothic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577840" y="4206240"/>
            <a:ext cx="1965960" cy="9601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/>
            <a:r>
              <a:rPr sz="1250" b="1" i="0">
                <a:solidFill>
                  <a:srgbClr val="1F3A5F"/>
                </a:solidFill>
                <a:latin typeface="Malgun Gothic"/>
              </a:rPr>
              <a:t>MES · BI</a:t>
            </a:r>
          </a:p>
          <a:p>
            <a:pPr algn="ctr"/>
            <a:r>
              <a:rPr sz="950" b="0" i="0">
                <a:solidFill>
                  <a:srgbClr val="6B7785"/>
                </a:solidFill>
                <a:latin typeface="Malgun Gothic"/>
              </a:rPr>
              <a:t>생산 관리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4206240"/>
            <a:ext cx="3977639" cy="960120"/>
          </a:xfrm>
          <a:prstGeom prst="roundRect">
            <a:avLst/>
          </a:prstGeom>
          <a:solidFill>
            <a:srgbClr val="1F3A5F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/>
            <a:r>
              <a:rPr sz="1250" b="1" i="0" dirty="0">
                <a:solidFill>
                  <a:srgbClr val="FFFFFF"/>
                </a:solidFill>
                <a:latin typeface="Malgun Gothic"/>
              </a:rPr>
              <a:t>★ ML+DL </a:t>
            </a:r>
            <a:r>
              <a:rPr sz="1250" b="1" i="0" dirty="0" err="1">
                <a:solidFill>
                  <a:srgbClr val="FFFFFF"/>
                </a:solidFill>
                <a:latin typeface="Malgun Gothic"/>
              </a:rPr>
              <a:t>파이프라인</a:t>
            </a:r>
            <a:endParaRPr sz="1250" b="1" i="0" dirty="0">
              <a:solidFill>
                <a:srgbClr val="FFFFFF"/>
              </a:solidFill>
              <a:latin typeface="Malgun Gothic"/>
            </a:endParaRPr>
          </a:p>
          <a:p>
            <a:pPr algn="ctr"/>
            <a:r>
              <a:rPr sz="950" b="0" i="0" dirty="0">
                <a:solidFill>
                  <a:srgbClr val="FFFFFF"/>
                </a:solidFill>
                <a:latin typeface="Malgun Gothic"/>
              </a:rPr>
              <a:t>GRU RUL(DL) + AE </a:t>
            </a:r>
            <a:r>
              <a:rPr sz="950" b="0" i="0" dirty="0" err="1">
                <a:solidFill>
                  <a:srgbClr val="FFFFFF"/>
                </a:solidFill>
                <a:latin typeface="Malgun Gothic"/>
              </a:rPr>
              <a:t>이상</a:t>
            </a:r>
            <a:r>
              <a:rPr sz="950" b="0" i="0" dirty="0">
                <a:solidFill>
                  <a:srgbClr val="FFFFFF"/>
                </a:solidFill>
                <a:latin typeface="Malgun Gothic"/>
              </a:rPr>
              <a:t>(DL) + LR·RF </a:t>
            </a:r>
            <a:r>
              <a:rPr sz="950" b="0" i="0" dirty="0" err="1">
                <a:solidFill>
                  <a:srgbClr val="FFFFFF"/>
                </a:solidFill>
                <a:latin typeface="Malgun Gothic"/>
              </a:rPr>
              <a:t>분류</a:t>
            </a:r>
            <a:r>
              <a:rPr sz="950" b="0" i="0" dirty="0">
                <a:solidFill>
                  <a:srgbClr val="FFFFFF"/>
                </a:solidFill>
                <a:latin typeface="Malgun Gothic"/>
              </a:rPr>
              <a:t>(ML)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1664208" y="3630168"/>
            <a:ext cx="4462272" cy="576072"/>
          </a:xfrm>
          <a:prstGeom prst="line">
            <a:avLst/>
          </a:prstGeom>
          <a:ln w="20320">
            <a:solidFill>
              <a:srgbClr val="138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206240" y="3630168"/>
            <a:ext cx="1920240" cy="576072"/>
          </a:xfrm>
          <a:prstGeom prst="line">
            <a:avLst/>
          </a:prstGeom>
          <a:ln w="20320">
            <a:solidFill>
              <a:srgbClr val="138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26480" y="3630168"/>
            <a:ext cx="429768" cy="576072"/>
          </a:xfrm>
          <a:prstGeom prst="line">
            <a:avLst/>
          </a:prstGeom>
          <a:ln w="20320">
            <a:solidFill>
              <a:srgbClr val="138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126480" y="3630168"/>
            <a:ext cx="3566160" cy="576072"/>
          </a:xfrm>
          <a:prstGeom prst="line">
            <a:avLst/>
          </a:prstGeom>
          <a:ln w="20320">
            <a:solidFill>
              <a:srgbClr val="138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743200" y="3712463"/>
            <a:ext cx="274320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1" i="0">
                <a:solidFill>
                  <a:srgbClr val="138496"/>
                </a:solidFill>
                <a:latin typeface="Malgun Gothic"/>
              </a:rPr>
              <a:t>구독 (Subscribe) — 1:N 분배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9144000" y="3630168"/>
            <a:ext cx="1371600" cy="576072"/>
          </a:xfrm>
          <a:prstGeom prst="line">
            <a:avLst/>
          </a:prstGeom>
          <a:ln w="25400">
            <a:solidFill>
              <a:srgbClr val="D98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537192" y="3534156"/>
            <a:ext cx="274320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50" b="1" i="0">
                <a:solidFill>
                  <a:srgbClr val="D98A00"/>
                </a:solidFill>
                <a:latin typeface="Malgun Gothic"/>
              </a:rPr>
              <a:t>경보 재발행 (alert)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349240"/>
            <a:ext cx="11274552" cy="960120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88900" rIns="177800" bIns="76200" rtlCol="0" anchor="ctr"/>
          <a:lstStyle/>
          <a:p>
            <a:pPr algn="l"/>
            <a:r>
              <a:rPr sz="1200" b="1" i="0" dirty="0" err="1">
                <a:solidFill>
                  <a:srgbClr val="2E75B6"/>
                </a:solidFill>
                <a:latin typeface="Malgun Gothic"/>
              </a:rPr>
              <a:t>개념</a:t>
            </a:r>
            <a:r>
              <a:rPr sz="1200" b="1" i="0" dirty="0">
                <a:solidFill>
                  <a:srgbClr val="2E75B6"/>
                </a:solidFill>
                <a:latin typeface="Malgun Gothic"/>
              </a:rPr>
              <a:t>   </a:t>
            </a:r>
            <a:r>
              <a:rPr sz="1200" b="0" i="0" dirty="0" err="1">
                <a:solidFill>
                  <a:srgbClr val="22303C"/>
                </a:solidFill>
                <a:latin typeface="Malgun Gothic"/>
              </a:rPr>
              <a:t>예지보전</a:t>
            </a:r>
            <a:r>
              <a:rPr sz="1200" b="0" i="0" dirty="0">
                <a:solidFill>
                  <a:srgbClr val="22303C"/>
                </a:solidFill>
                <a:latin typeface="Malgun Gothic"/>
              </a:rPr>
              <a:t>(</a:t>
            </a:r>
            <a:r>
              <a:rPr sz="1200" b="0" i="0" dirty="0" err="1">
                <a:solidFill>
                  <a:srgbClr val="22303C"/>
                </a:solidFill>
                <a:latin typeface="Malgun Gothic"/>
              </a:rPr>
              <a:t>PdM</a:t>
            </a:r>
            <a:r>
              <a:rPr sz="1200" b="0" i="0" dirty="0">
                <a:solidFill>
                  <a:srgbClr val="22303C"/>
                </a:solidFill>
                <a:latin typeface="Malgun Gothic"/>
              </a:rPr>
              <a:t>)은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목적</a:t>
            </a:r>
            <a:r>
              <a:rPr sz="1200" b="0" i="0" dirty="0" err="1">
                <a:solidFill>
                  <a:srgbClr val="22303C"/>
                </a:solidFill>
                <a:latin typeface="Malgun Gothic"/>
              </a:rPr>
              <a:t>이고</a:t>
            </a:r>
            <a:r>
              <a:rPr sz="1200" b="0" i="0" dirty="0">
                <a:solidFill>
                  <a:srgbClr val="22303C"/>
                </a:solidFill>
                <a:latin typeface="Malgun Gothic"/>
              </a:rPr>
              <a:t>, </a:t>
            </a:r>
            <a:r>
              <a:rPr sz="1200" b="0" i="0" dirty="0" err="1">
                <a:solidFill>
                  <a:srgbClr val="22303C"/>
                </a:solidFill>
                <a:latin typeface="Malgun Gothic"/>
              </a:rPr>
              <a:t>우리</a:t>
            </a:r>
            <a:r>
              <a:rPr sz="12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22303C"/>
                </a:solidFill>
                <a:latin typeface="Malgun Gothic"/>
              </a:rPr>
              <a:t>파이프라인은</a:t>
            </a:r>
            <a:r>
              <a:rPr sz="1200" b="0" i="0" dirty="0">
                <a:solidFill>
                  <a:srgbClr val="22303C"/>
                </a:solidFill>
                <a:latin typeface="Malgun Gothic"/>
              </a:rPr>
              <a:t> 그 </a:t>
            </a:r>
            <a:r>
              <a:rPr sz="1200" b="0" i="0" dirty="0" err="1">
                <a:solidFill>
                  <a:srgbClr val="22303C"/>
                </a:solidFill>
                <a:latin typeface="Malgun Gothic"/>
              </a:rPr>
              <a:t>수단으로</a:t>
            </a:r>
            <a:r>
              <a:rPr sz="12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ML(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분류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: LR·RF)+DL(GRU RUL·AE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이상탐지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)을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모두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포함</a:t>
            </a:r>
            <a:endParaRPr sz="1200" b="0" i="0" dirty="0">
              <a:solidFill>
                <a:srgbClr val="22303C"/>
              </a:solidFill>
              <a:latin typeface="Malgun Gothic"/>
            </a:endParaRPr>
          </a:p>
          <a:p>
            <a:pPr algn="l">
              <a:spcBef>
                <a:spcPts val="200"/>
              </a:spcBef>
            </a:pPr>
            <a:r>
              <a:rPr sz="1150" b="0" i="0" dirty="0">
                <a:solidFill>
                  <a:srgbClr val="22303C"/>
                </a:solidFill>
                <a:latin typeface="Malgun Gothic"/>
              </a:rPr>
              <a:t>→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우리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파이프라인은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진동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토픽의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'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구독자'로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데이터를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받아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진단하고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,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결과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경보를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다시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'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발행'해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통합관제·LLM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진단으로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넘기는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구독자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겸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발행자</a:t>
            </a:r>
            <a:endParaRPr sz="1150" b="0" i="0" dirty="0">
              <a:solidFill>
                <a:srgbClr val="22303C"/>
              </a:solidFill>
              <a:latin typeface="Malgun Gothi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50" b="0" i="0">
                <a:solidFill>
                  <a:srgbClr val="6B7785"/>
                </a:solidFill>
                <a:latin typeface="Malgun Gothic"/>
              </a:rPr>
              <a:t>FEMTO-ST 베어링 RUL 예측   ·   ML+DL 통합 PdM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lang="en-US" sz="950" dirty="0">
                <a:solidFill>
                  <a:srgbClr val="6B7785"/>
                </a:solidFill>
                <a:latin typeface="Malgun Gothic"/>
              </a:rPr>
              <a:t>27</a:t>
            </a:r>
            <a:endParaRPr sz="950" b="0" i="0" dirty="0">
              <a:solidFill>
                <a:srgbClr val="6B7785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274320"/>
            <a:ext cx="1060704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2100" b="1" i="0">
                <a:solidFill>
                  <a:srgbClr val="1F3A5F"/>
                </a:solidFill>
                <a:latin typeface="Malgun Gothic"/>
              </a:rPr>
              <a:t>부록. 디지털 트윈 확장 — 예측 엔진에서 베어링 디지털 트윈으로</a:t>
            </a:r>
          </a:p>
          <a:p>
            <a:r>
              <a:rPr sz="1300" b="0" i="0">
                <a:solidFill>
                  <a:srgbClr val="6B7785"/>
                </a:solidFill>
                <a:latin typeface="Malgun Gothic"/>
              </a:rPr>
              <a:t>현재 구축한 RUL·이상탐지·대시보드 = 디지털 트윈의 예측 엔진 · 실시간·연계 추가 시 확장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line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0" y="1371600"/>
            <a:ext cx="553212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532120" cy="53035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  ✔ 현재 구축 — 디지털 트윈 '예측 엔진'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29967"/>
            <a:ext cx="5074920" cy="1737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E7D32"/>
                </a:solidFill>
                <a:latin typeface="Malgun Gothic"/>
              </a:rPr>
              <a:t>실시간 센서  </a:t>
            </a:r>
            <a:r>
              <a:rPr sz="1200" b="0" i="0">
                <a:solidFill>
                  <a:srgbClr val="22303C"/>
                </a:solidFill>
                <a:latin typeface="Malgun Gothic"/>
              </a:rPr>
              <a:t>진동·온도 12피처 (MQTT 구독)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E7D32"/>
                </a:solidFill>
                <a:latin typeface="Malgun Gothic"/>
              </a:rPr>
              <a:t>상태 예측  </a:t>
            </a:r>
            <a:r>
              <a:rPr sz="1200" b="0" i="0">
                <a:solidFill>
                  <a:srgbClr val="22303C"/>
                </a:solidFill>
                <a:latin typeface="Malgun Gothic"/>
              </a:rPr>
              <a:t>GRU RUL + AE 이상탐지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E7D32"/>
                </a:solidFill>
                <a:latin typeface="Malgun Gothic"/>
              </a:rPr>
              <a:t>이상 감지  </a:t>
            </a:r>
            <a:r>
              <a:rPr sz="1200" b="0" i="0">
                <a:solidFill>
                  <a:srgbClr val="22303C"/>
                </a:solidFill>
                <a:latin typeface="Malgun Gothic"/>
              </a:rPr>
              <a:t>임계값 경보 · 조기 경보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E7D32"/>
                </a:solidFill>
                <a:latin typeface="Malgun Gothic"/>
              </a:rPr>
              <a:t>모니터링  </a:t>
            </a:r>
            <a:r>
              <a:rPr sz="1200" b="0" i="0">
                <a:solidFill>
                  <a:srgbClr val="22303C"/>
                </a:solidFill>
                <a:latin typeface="Malgun Gothic"/>
              </a:rPr>
              <a:t>Streamlit 통합 진단 대시보드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371600"/>
            <a:ext cx="553212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99632" y="1371600"/>
            <a:ext cx="5532120" cy="530352"/>
          </a:xfrm>
          <a:prstGeom prst="round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  ⏳ 디지털 트윈 완성 위해 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029967"/>
            <a:ext cx="5074920" cy="1737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D98A00"/>
                </a:solidFill>
                <a:latin typeface="Malgun Gothic"/>
              </a:rPr>
              <a:t>실시간 스트림  </a:t>
            </a:r>
            <a:r>
              <a:rPr sz="1200" b="0" i="0">
                <a:solidFill>
                  <a:srgbClr val="22303C"/>
                </a:solidFill>
                <a:latin typeface="Malgun Gothic"/>
              </a:rPr>
              <a:t>배치 → Kafka/MQTT 실시간 연동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D98A00"/>
                </a:solidFill>
                <a:latin typeface="Malgun Gothic"/>
              </a:rPr>
              <a:t>시스템 연계  </a:t>
            </a:r>
            <a:r>
              <a:rPr sz="1200" b="0" i="0">
                <a:solidFill>
                  <a:srgbClr val="22303C"/>
                </a:solidFill>
                <a:latin typeface="Malgun Gothic"/>
              </a:rPr>
              <a:t>MES · IoT 플랫폼 연동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D98A00"/>
                </a:solidFill>
                <a:latin typeface="Malgun Gothic"/>
              </a:rPr>
              <a:t>양방향 동기화  </a:t>
            </a:r>
            <a:r>
              <a:rPr sz="1200" b="0" i="0">
                <a:solidFill>
                  <a:srgbClr val="22303C"/>
                </a:solidFill>
                <a:latin typeface="Malgun Gothic"/>
              </a:rPr>
              <a:t>가상↔실제 실시간 · 물리모델(선택)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60520"/>
            <a:ext cx="1965960" cy="749808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sz="1200" b="1" i="0">
                <a:solidFill>
                  <a:srgbClr val="1F3A5F"/>
                </a:solidFill>
                <a:latin typeface="Malgun Gothic"/>
              </a:rPr>
              <a:t>현재</a:t>
            </a:r>
          </a:p>
          <a:p>
            <a:pPr algn="ctr"/>
            <a:r>
              <a:rPr sz="950" b="0" i="0">
                <a:solidFill>
                  <a:srgbClr val="6B7785"/>
                </a:solidFill>
                <a:latin typeface="Malgun Gothic"/>
              </a:rPr>
              <a:t>예측 엔진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14600" y="4535424"/>
            <a:ext cx="274320" cy="0"/>
          </a:xfrm>
          <a:prstGeom prst="line">
            <a:avLst/>
          </a:prstGeom>
          <a:ln w="22225">
            <a:solidFill>
              <a:srgbClr val="138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88920" y="4160520"/>
            <a:ext cx="1965960" cy="749808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sz="1200" b="1" i="0">
                <a:solidFill>
                  <a:srgbClr val="1F3A5F"/>
                </a:solidFill>
                <a:latin typeface="Malgun Gothic"/>
              </a:rPr>
              <a:t>+실시간</a:t>
            </a:r>
          </a:p>
          <a:p>
            <a:pPr algn="ctr"/>
            <a:r>
              <a:rPr sz="950" b="0" i="0">
                <a:solidFill>
                  <a:srgbClr val="6B7785"/>
                </a:solidFill>
                <a:latin typeface="Malgun Gothic"/>
              </a:rPr>
              <a:t>Kafka/MQTT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79" y="4535424"/>
            <a:ext cx="274321" cy="0"/>
          </a:xfrm>
          <a:prstGeom prst="line">
            <a:avLst/>
          </a:prstGeom>
          <a:ln w="22225">
            <a:solidFill>
              <a:srgbClr val="138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9200" y="4160520"/>
            <a:ext cx="1965960" cy="749808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sz="1200" b="1" i="0">
                <a:solidFill>
                  <a:srgbClr val="1F3A5F"/>
                </a:solidFill>
                <a:latin typeface="Malgun Gothic"/>
              </a:rPr>
              <a:t>+연계</a:t>
            </a:r>
          </a:p>
          <a:p>
            <a:pPr algn="ctr"/>
            <a:r>
              <a:rPr sz="950" b="0" i="0">
                <a:solidFill>
                  <a:srgbClr val="6B7785"/>
                </a:solidFill>
                <a:latin typeface="Malgun Gothic"/>
              </a:rPr>
              <a:t>MES·IoT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95160" y="4535424"/>
            <a:ext cx="274320" cy="0"/>
          </a:xfrm>
          <a:prstGeom prst="line">
            <a:avLst/>
          </a:prstGeom>
          <a:ln w="22225">
            <a:solidFill>
              <a:srgbClr val="138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269480" y="4160520"/>
            <a:ext cx="1965960" cy="749808"/>
          </a:xfrm>
          <a:prstGeom prst="roundRect">
            <a:avLst/>
          </a:prstGeom>
          <a:solidFill>
            <a:srgbClr val="138496"/>
          </a:solidFill>
          <a:ln w="19050">
            <a:solidFill>
              <a:srgbClr val="138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디지털 트윈</a:t>
            </a:r>
          </a:p>
          <a:p>
            <a:pPr algn="ctr"/>
            <a:r>
              <a:rPr sz="950" b="0" i="0">
                <a:solidFill>
                  <a:srgbClr val="CFDCEA"/>
                </a:solidFill>
                <a:latin typeface="Malgun Gothic"/>
              </a:rPr>
              <a:t>베어링 가상복제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35440" y="4535424"/>
            <a:ext cx="274320" cy="0"/>
          </a:xfrm>
          <a:prstGeom prst="line">
            <a:avLst/>
          </a:prstGeom>
          <a:ln w="22225">
            <a:solidFill>
              <a:srgbClr val="138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509760" y="4160520"/>
            <a:ext cx="1965960" cy="749808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sz="1200" b="1" i="0">
                <a:solidFill>
                  <a:srgbClr val="1F3A5F"/>
                </a:solidFill>
                <a:latin typeface="Malgun Gothic"/>
              </a:rPr>
              <a:t>+LLM 진단</a:t>
            </a:r>
          </a:p>
          <a:p>
            <a:pPr algn="ctr"/>
            <a:r>
              <a:rPr sz="950" b="0" i="0">
                <a:solidFill>
                  <a:srgbClr val="6B7785"/>
                </a:solidFill>
                <a:latin typeface="Malgun Gothic"/>
              </a:rPr>
              <a:t>SD브레인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212080"/>
            <a:ext cx="11274552" cy="8686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88900" rIns="177800" bIns="63500" rtlCol="0" anchor="ctr"/>
          <a:lstStyle/>
          <a:p>
            <a:pPr algn="l"/>
            <a:r>
              <a:rPr sz="1250" b="1" i="0">
                <a:solidFill>
                  <a:srgbClr val="D98A00"/>
                </a:solidFill>
                <a:latin typeface="Malgun Gothic"/>
              </a:rPr>
              <a:t>정직한 표현   </a:t>
            </a:r>
            <a:r>
              <a:rPr sz="1200" b="0" i="0">
                <a:solidFill>
                  <a:srgbClr val="FFFFFF"/>
                </a:solidFill>
                <a:latin typeface="Malgun Gothic"/>
              </a:rPr>
              <a:t>현재는 디지털 트윈의 '핵심 예측 엔진'까지 구축 — 실시간 동기화·MES 연계·물리모델을 더하면 완성됩니다.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FFFFFF"/>
                </a:solidFill>
                <a:latin typeface="Malgun Gothic"/>
              </a:rPr>
              <a:t>→ "디지털 트윈 구현"이 아닌 </a:t>
            </a:r>
            <a:r>
              <a:rPr sz="1200" b="1" i="0">
                <a:solidFill>
                  <a:srgbClr val="D98A00"/>
                </a:solidFill>
                <a:latin typeface="Malgun Gothic"/>
              </a:rPr>
              <a:t>"예측 엔진 구축 + 디지털 트윈 확장 가능"</a:t>
            </a:r>
            <a:r>
              <a:rPr sz="1200" b="0" i="0">
                <a:solidFill>
                  <a:srgbClr val="FFFFFF"/>
                </a:solidFill>
                <a:latin typeface="Malgun Gothic"/>
              </a:rPr>
              <a:t>으로 제시 (현대오토에버 IoT·SD브레인 방향과 정합).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50" b="0" i="0">
                <a:solidFill>
                  <a:srgbClr val="6B7785"/>
                </a:solidFill>
                <a:latin typeface="Malgun Gothic"/>
              </a:rPr>
              <a:t>FEMTO-ST 베어링 RUL 예측   ·   ML+DL 통합 PdM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455664"/>
            <a:ext cx="3044952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50" b="0" i="0">
                <a:solidFill>
                  <a:srgbClr val="6B7785"/>
                </a:solidFill>
                <a:latin typeface="Malgun Gothic"/>
              </a:rPr>
              <a:t>허남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274320"/>
            <a:ext cx="1060704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2100" b="1" i="0">
                <a:solidFill>
                  <a:srgbClr val="1F3A5F"/>
                </a:solidFill>
                <a:latin typeface="Malgun Gothic"/>
              </a:rPr>
              <a:t>부록. DL 과제의 라벨 생성·학습 흐름 — RUL 하나에서 회귀·분류·이상탐지</a:t>
            </a:r>
          </a:p>
          <a:p>
            <a:r>
              <a:rPr sz="1300" b="0" i="0">
                <a:solidFill>
                  <a:srgbClr val="6B7785"/>
                </a:solidFill>
                <a:latin typeface="Malgun Gothic"/>
              </a:rPr>
              <a:t>FEMTO엔 고장/정상 라벨이 없음 → run-to-failure로 RUL을 계산해 3가지 학습에 활용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line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657600" y="1325880"/>
            <a:ext cx="4873752" cy="54864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63500" rIns="63500" bIns="63500" rtlCol="0" anchor="ctr"/>
          <a:lstStyle/>
          <a:p>
            <a:pPr algn="ctr"/>
            <a:r>
              <a:rPr sz="1200" b="1" i="0">
                <a:solidFill>
                  <a:srgbClr val="1F3A5F"/>
                </a:solidFill>
                <a:latin typeface="Malgun Gothic"/>
              </a:rPr>
              <a:t>FEMTO 원본 데이터 (run-to-failure, 고장까지 돌림)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89904" y="1874519"/>
            <a:ext cx="0" cy="301753"/>
          </a:xfrm>
          <a:prstGeom prst="line">
            <a:avLst/>
          </a:prstGeom>
          <a:ln w="25400">
            <a:solidFill>
              <a:srgbClr val="1F3A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291840" y="2176272"/>
            <a:ext cx="5605272" cy="603504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63500" rIns="63500" bIns="63500" rtlCol="0" anchor="ctr"/>
          <a:lstStyle/>
          <a:p>
            <a:pPr algn="ctr"/>
            <a:r>
              <a:rPr sz="1250" b="1" i="0">
                <a:solidFill>
                  <a:srgbClr val="2E75B6"/>
                </a:solidFill>
                <a:latin typeface="Malgun Gothic"/>
              </a:rPr>
              <a:t>RUL 계산 = 고장시점 − 현재  (연속 라벨, 자동 생성)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286000" y="2779776"/>
            <a:ext cx="2286000" cy="420624"/>
          </a:xfrm>
          <a:prstGeom prst="line">
            <a:avLst/>
          </a:prstGeom>
          <a:ln w="20320">
            <a:solidFill>
              <a:srgbClr val="1F3A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89904" y="2779776"/>
            <a:ext cx="54864" cy="420624"/>
          </a:xfrm>
          <a:prstGeom prst="line">
            <a:avLst/>
          </a:prstGeom>
          <a:ln w="20320">
            <a:solidFill>
              <a:srgbClr val="2E7D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229600" y="1874519"/>
            <a:ext cx="1691640" cy="1325881"/>
          </a:xfrm>
          <a:prstGeom prst="line">
            <a:avLst/>
          </a:prstGeom>
          <a:ln w="20320">
            <a:solidFill>
              <a:srgbClr val="138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737360" y="2798064"/>
            <a:ext cx="21031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Malgun Gothic"/>
              </a:rPr>
              <a:t>RUL을 정답으로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798064"/>
            <a:ext cx="2743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50" b="1" i="0">
                <a:solidFill>
                  <a:srgbClr val="2E7D32"/>
                </a:solidFill>
                <a:latin typeface="Malgun Gothic"/>
              </a:rPr>
              <a:t>RUL→임계값→라벨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331720"/>
            <a:ext cx="2743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1" i="0">
                <a:solidFill>
                  <a:srgbClr val="138496"/>
                </a:solidFill>
                <a:latin typeface="Malgun Gothic"/>
              </a:rPr>
              <a:t>정상 데이터만 (RUL 미사용)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4612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" y="3246120"/>
            <a:ext cx="3566160" cy="5486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①  GRU v2 회귀  (DL)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04487"/>
            <a:ext cx="3200400" cy="1508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1" i="0">
                <a:solidFill>
                  <a:srgbClr val="6B7785"/>
                </a:solidFill>
                <a:latin typeface="Malgun Gothic"/>
              </a:rPr>
              <a:t>라벨/입력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Malgun Gothic"/>
              </a:rPr>
              <a:t>RUL(연속값)을 정답으로 학습</a:t>
            </a:r>
          </a:p>
          <a:p>
            <a:pPr algn="l"/>
            <a:r>
              <a:rPr sz="1050" b="1" i="0">
                <a:solidFill>
                  <a:srgbClr val="6B7785"/>
                </a:solidFill>
                <a:latin typeface="Malgun Gothic"/>
              </a:rPr>
              <a:t>판정 질문</a:t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F3A5F"/>
                </a:solidFill>
                <a:latin typeface="Malgun Gothic"/>
              </a:rPr>
              <a:t>"몇 분 남았나?"</a:t>
            </a:r>
          </a:p>
          <a:p>
            <a:pPr algn="l"/>
            <a:r>
              <a:rPr sz="1050" b="1" i="0">
                <a:solidFill>
                  <a:srgbClr val="6B7785"/>
                </a:solidFill>
                <a:latin typeface="Malgun Gothic"/>
              </a:rPr>
              <a:t>성능</a:t>
            </a:r>
          </a:p>
          <a:p>
            <a:pPr algn="l"/>
            <a:r>
              <a:rPr sz="1150" b="1" i="0">
                <a:solidFill>
                  <a:srgbClr val="1F3A5F"/>
                </a:solidFill>
                <a:latin typeface="Malgun Gothic"/>
              </a:rPr>
              <a:t>OOS RMSE 810분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324612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315968" y="3246120"/>
            <a:ext cx="3566160" cy="548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②  LR · RF 분류  (ML)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3904487"/>
            <a:ext cx="3200400" cy="1508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1" i="0">
                <a:solidFill>
                  <a:srgbClr val="6B7785"/>
                </a:solidFill>
                <a:latin typeface="Malgun Gothic"/>
              </a:rPr>
              <a:t>라벨/입력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Malgun Gothic"/>
              </a:rPr>
              <a:t>RUL을 임계값으로 잘라 만든 정상/열화 라벨(파생)</a:t>
            </a:r>
          </a:p>
          <a:p>
            <a:pPr algn="l"/>
            <a:r>
              <a:rPr sz="1050" b="1" i="0">
                <a:solidFill>
                  <a:srgbClr val="6B7785"/>
                </a:solidFill>
                <a:latin typeface="Malgun Gothic"/>
              </a:rPr>
              <a:t>판정 질문</a:t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2E7D32"/>
                </a:solidFill>
                <a:latin typeface="Malgun Gothic"/>
              </a:rPr>
              <a:t>"지금 열화냐?"</a:t>
            </a:r>
          </a:p>
          <a:p>
            <a:pPr algn="l"/>
            <a:r>
              <a:rPr sz="1050" b="1" i="0">
                <a:solidFill>
                  <a:srgbClr val="6B7785"/>
                </a:solidFill>
                <a:latin typeface="Malgun Gothic"/>
              </a:rPr>
              <a:t>성능</a:t>
            </a:r>
          </a:p>
          <a:p>
            <a:pPr algn="l"/>
            <a:r>
              <a:rPr sz="1150" b="1" i="0">
                <a:solidFill>
                  <a:srgbClr val="2E7D32"/>
                </a:solidFill>
                <a:latin typeface="Malgun Gothic"/>
              </a:rPr>
              <a:t>OOS Recall 0.89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9016" y="324612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38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129016" y="3246120"/>
            <a:ext cx="3566160" cy="548640"/>
          </a:xfrm>
          <a:prstGeom prst="roundRect">
            <a:avLst/>
          </a:prstGeom>
          <a:solidFill>
            <a:srgbClr val="13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③  Autoencoder  (DL·비지도)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3904487"/>
            <a:ext cx="3200400" cy="1508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1" i="0">
                <a:solidFill>
                  <a:srgbClr val="6B7785"/>
                </a:solidFill>
                <a:latin typeface="Malgun Gothic"/>
              </a:rPr>
              <a:t>라벨/입력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Malgun Gothic"/>
              </a:rPr>
              <a:t>정상 데이터만 사용 (라벨 없음)</a:t>
            </a:r>
          </a:p>
          <a:p>
            <a:pPr algn="l"/>
            <a:r>
              <a:rPr sz="1050" b="1" i="0">
                <a:solidFill>
                  <a:srgbClr val="6B7785"/>
                </a:solidFill>
                <a:latin typeface="Malgun Gothic"/>
              </a:rPr>
              <a:t>판정 질문</a:t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38496"/>
                </a:solidFill>
                <a:latin typeface="Malgun Gothic"/>
              </a:rPr>
              <a:t>"이상 신호냐?"</a:t>
            </a:r>
          </a:p>
          <a:p>
            <a:pPr algn="l"/>
            <a:r>
              <a:rPr sz="1050" b="1" i="0">
                <a:solidFill>
                  <a:srgbClr val="6B7785"/>
                </a:solidFill>
                <a:latin typeface="Malgun Gothic"/>
              </a:rPr>
              <a:t>성능</a:t>
            </a:r>
          </a:p>
          <a:p>
            <a:pPr algn="l"/>
            <a:r>
              <a:rPr sz="1150" b="1" i="0">
                <a:solidFill>
                  <a:srgbClr val="138496"/>
                </a:solidFill>
                <a:latin typeface="Malgun Gothic"/>
              </a:rPr>
              <a:t>재구성 오류 기반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623560"/>
            <a:ext cx="11274552" cy="74980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50800" rtlCol="0" anchor="ctr"/>
          <a:lstStyle/>
          <a:p>
            <a:pPr algn="l"/>
            <a:r>
              <a:rPr sz="1250" b="1" i="0">
                <a:solidFill>
                  <a:srgbClr val="D98A00"/>
                </a:solidFill>
                <a:latin typeface="Malgun Gothic"/>
              </a:rPr>
              <a:t>핵심   </a:t>
            </a:r>
            <a:r>
              <a:rPr sz="1200" b="0" i="0">
                <a:solidFill>
                  <a:srgbClr val="FFFFFF"/>
                </a:solidFill>
                <a:latin typeface="Malgun Gothic"/>
              </a:rPr>
              <a:t>고장/정상 라벨은 원래 없지만, RUL(연속)을 계산해 </a:t>
            </a:r>
            <a:r>
              <a:rPr sz="1200" b="1" i="0">
                <a:solidFill>
                  <a:srgbClr val="D98A00"/>
                </a:solidFill>
                <a:latin typeface="Malgun Gothic"/>
              </a:rPr>
              <a:t>① GRU는 RUL 정답으로 회귀, ② LR·RF는 RUL을 임계값으로 잘라 만든 열화 라벨로 분류, ③ AE는 정상만으로 비지도 학습</a:t>
            </a:r>
            <a:r>
              <a:rPr sz="1200" b="0" i="0">
                <a:solidFill>
                  <a:srgbClr val="FFFFFF"/>
                </a:solidFill>
                <a:latin typeface="Malgun Gothic"/>
              </a:rPr>
              <a:t> — 하나의 RUL에서 세 학습이 파생됩니다.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50" b="0" i="0">
                <a:solidFill>
                  <a:srgbClr val="6B7785"/>
                </a:solidFill>
                <a:latin typeface="Malgun Gothic"/>
              </a:rPr>
              <a:t>FEMTO-ST 베어링 RUL 예측   ·   ML+DL 통합 PdM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lang="en-US" sz="950" b="0" i="0">
                <a:solidFill>
                  <a:srgbClr val="6B7785"/>
                </a:solidFill>
                <a:latin typeface="Malgun Gothic"/>
              </a:rPr>
              <a:t>31</a:t>
            </a:r>
            <a:endParaRPr sz="950" b="0" i="0">
              <a:solidFill>
                <a:srgbClr val="6B7785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274320"/>
            <a:ext cx="105156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2400" b="1" i="0">
                <a:solidFill>
                  <a:srgbClr val="1F3A5F"/>
                </a:solidFill>
                <a:latin typeface="Malgun Gothic"/>
              </a:rPr>
              <a:t>부록. 산업별 PdM 효과 — 자동차 · 반도체 · 로봇</a:t>
            </a:r>
          </a:p>
          <a:p>
            <a:r>
              <a:rPr sz="1300" b="0" i="0">
                <a:solidFill>
                  <a:srgbClr val="6B7785"/>
                </a:solidFill>
                <a:latin typeface="Malgun Gothic"/>
              </a:rPr>
              <a:t>AI 예지정비 도입 효과 (산업 보고서 기준, 2024–2026)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74552" cy="2331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산업</a:t>
                      </a:r>
                    </a:p>
                  </a:txBody>
                  <a:tcPr marL="1016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다운타임 비용</a:t>
                      </a:r>
                    </a:p>
                  </a:txBody>
                  <a:tcPr marL="1016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AI PdM 효과</a:t>
                      </a:r>
                    </a:p>
                  </a:txBody>
                  <a:tcPr marL="1016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출처</a:t>
                      </a:r>
                    </a:p>
                  </a:txBody>
                  <a:tcPr marL="101600" marR="76200" marT="38100" marB="381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F3A5F"/>
                          </a:solidFill>
                          <a:latin typeface="Malgun Gothic"/>
                        </a:rPr>
                        <a:t>자동차</a:t>
                      </a:r>
                    </a:p>
                  </a:txBody>
                  <a:tcPr marL="101600" marR="76200" marT="38100" marB="38100" anchor="ctr">
                    <a:solidFill>
                      <a:srgbClr val="D6E0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라인 정지 시 시간당 ~$2.3M ($600/초)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정지 40%↓ · 비용 30%↓ · 가동률 40%↑ · 제조사 47% AI 사용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6B7785"/>
                          </a:solidFill>
                          <a:latin typeface="Malgun Gothic"/>
                        </a:rPr>
                        <a:t>Siemens'24 · Ford · Presidio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F3A5F"/>
                          </a:solidFill>
                          <a:latin typeface="Malgun Gothic"/>
                        </a:rPr>
                        <a:t>반도체</a:t>
                      </a:r>
                    </a:p>
                  </a:txBody>
                  <a:tcPr marL="101600" marR="76200" marT="38100" marB="38100" anchor="ctr">
                    <a:solidFill>
                      <a:srgbClr val="D6E0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시간당 &gt; $1M (최대 $3.8M)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AI 고장예측 정확도 최대 90%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6B7785"/>
                          </a:solidFill>
                          <a:latin typeface="Malgun Gothic"/>
                        </a:rPr>
                        <a:t>AlphaBOLD · WorkTrek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F3A5F"/>
                          </a:solidFill>
                          <a:latin typeface="Malgun Gothic"/>
                        </a:rPr>
                        <a:t>로봇 · 회전기계</a:t>
                      </a:r>
                    </a:p>
                  </a:txBody>
                  <a:tcPr marL="101600" marR="76200" marT="38100" marB="38100" anchor="ctr">
                    <a:solidFill>
                      <a:srgbClr val="D6E0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로봇팔·컨베이어 고장 → 라인 전체 정지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진동분석 고장 60~90일 전 탐지 · 실시간 마모 식별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6B7785"/>
                          </a:solidFill>
                          <a:latin typeface="Malgun Gothic"/>
                        </a:rPr>
                        <a:t>Ford · Flexsin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3840480"/>
            <a:ext cx="11274552" cy="566928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5100" tIns="63500" rIns="152400" bIns="63500" rtlCol="0" anchor="ctr"/>
          <a:lstStyle/>
          <a:p>
            <a:pPr algn="l"/>
            <a:r>
              <a:rPr sz="1200" b="1" i="0">
                <a:solidFill>
                  <a:srgbClr val="2E75B6"/>
                </a:solidFill>
                <a:latin typeface="Malgun Gothic"/>
              </a:rPr>
              <a:t>공통 (McKinsey · IoT Analytics)   </a:t>
            </a:r>
            <a:r>
              <a:rPr sz="1200" b="0" i="0">
                <a:solidFill>
                  <a:srgbClr val="22303C"/>
                </a:solidFill>
                <a:latin typeface="Malgun Gothic"/>
              </a:rPr>
              <a:t>유지보수 비용 18~25%↓ · 비계획 정지 30~50%↓ (AI 도입 시 40~60%↓) · ROI 10:1~30:1 · 도입사 95% 긍정적 ROI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74552" cy="13716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pPr algn="l"/>
            <a:r>
              <a:rPr sz="1300" b="1" i="0" dirty="0">
                <a:solidFill>
                  <a:srgbClr val="E3A935"/>
                </a:solidFill>
                <a:latin typeface="Malgun Gothic"/>
              </a:rPr>
              <a:t>본 </a:t>
            </a:r>
            <a:r>
              <a:rPr sz="1300" b="1" i="0" dirty="0" err="1">
                <a:solidFill>
                  <a:srgbClr val="E3A935"/>
                </a:solidFill>
                <a:latin typeface="Malgun Gothic"/>
              </a:rPr>
              <a:t>프로젝트</a:t>
            </a:r>
            <a:r>
              <a:rPr sz="130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300" b="1" i="0" dirty="0" err="1">
                <a:solidFill>
                  <a:srgbClr val="E3A935"/>
                </a:solidFill>
                <a:latin typeface="Malgun Gothic"/>
              </a:rPr>
              <a:t>연결</a:t>
            </a:r>
            <a:r>
              <a:rPr sz="1300" b="1" i="0" dirty="0">
                <a:solidFill>
                  <a:srgbClr val="E3A935"/>
                </a:solidFill>
                <a:latin typeface="Malgun Gothic"/>
              </a:rPr>
              <a:t>  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진동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RMS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기반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베어링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RUL은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회전기계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PdM의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핵심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—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산업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진동분석이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고장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60~90일 전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이상을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잡는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것과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같은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원리입니다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.</a:t>
            </a:r>
          </a:p>
          <a:p>
            <a:pPr algn="l">
              <a:spcBef>
                <a:spcPts val="300"/>
              </a:spcBef>
            </a:pP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전통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PdM은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'분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단위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RUL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오차'가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아닌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정지감소·비용절감으로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측정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→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산업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수치는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방향성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근거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,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프로젝트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실측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(RF 954→GRU 810분, 15%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개선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)은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정량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근거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로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분리해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사용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11274552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50" b="0" i="1">
                <a:solidFill>
                  <a:srgbClr val="6B7785"/>
                </a:solidFill>
                <a:latin typeface="Malgun Gothic"/>
              </a:rPr>
              <a:t>출처: McKinsey · Siemens True Cost of Downtime 2024 · IoT Analytics · Ford · 업계 보고서 (2024–2026). 수치는 보고서별 추정치로 환경에 따라 상이.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50" b="0" i="0">
                <a:solidFill>
                  <a:srgbClr val="6B7785"/>
                </a:solidFill>
                <a:latin typeface="Malgun Gothic"/>
              </a:rPr>
              <a:t>FEMTO-ST 베어링 RUL 예측   ·   ML+DL 통합 PdM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lang="en-US" sz="950" dirty="0">
                <a:solidFill>
                  <a:srgbClr val="6B7785"/>
                </a:solidFill>
                <a:latin typeface="Malgun Gothic"/>
              </a:rPr>
              <a:t>28</a:t>
            </a:r>
            <a:endParaRPr sz="950" b="0" i="0" dirty="0">
              <a:solidFill>
                <a:srgbClr val="6B7785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274320"/>
            <a:ext cx="105156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2300" b="1" i="0">
                <a:solidFill>
                  <a:srgbClr val="1F3A5F"/>
                </a:solidFill>
                <a:latin typeface="Malgun Gothic"/>
              </a:rPr>
              <a:t>부록. 현대오토에버 · 현대차그룹 PdM · 스마트팩토리 현황</a:t>
            </a:r>
          </a:p>
          <a:p>
            <a:r>
              <a:rPr sz="1300" b="0" i="0">
                <a:solidFill>
                  <a:srgbClr val="6B7785"/>
                </a:solidFill>
                <a:latin typeface="Malgun Gothic"/>
              </a:rPr>
              <a:t>SDF(Software Defined Factory) 기반 설비 예지보전·AI 운영 체계 (공개자료 기준)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74551" cy="30586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56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영역</a:t>
                      </a:r>
                    </a:p>
                  </a:txBody>
                  <a:tcPr marL="1016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솔루션 · 시스템</a:t>
                      </a:r>
                    </a:p>
                  </a:txBody>
                  <a:tcPr marL="1016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marL="101600" marR="76200" marT="38100" marB="381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설비 예지보전</a:t>
                      </a:r>
                    </a:p>
                  </a:txBody>
                  <a:tcPr marL="101600" marR="76200" marT="38100" marB="38100" anchor="ctr">
                    <a:solidFill>
                      <a:srgbClr val="D6E0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5B6"/>
                          </a:solidFill>
                          <a:latin typeface="Malgun Gothic"/>
                        </a:rPr>
                        <a:t>CMS / PHM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303C"/>
                          </a:solidFill>
                          <a:latin typeface="Malgun Gothic"/>
                        </a:rPr>
                        <a:t>엣지컴퓨팅(CMS) + PHM(Prognostics &amp; Health Mgmt). 로봇 등 자동화 설비 실시간 상태 모니터링·고장 진단 → 비가동 사전 방지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AI 에이전트</a:t>
                      </a:r>
                    </a:p>
                  </a:txBody>
                  <a:tcPr marL="101600" marR="76200" marT="38100" marB="38100" anchor="ctr">
                    <a:solidFill>
                      <a:srgbClr val="D6E0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5B6"/>
                          </a:solidFill>
                          <a:latin typeface="Malgun Gothic"/>
                        </a:rPr>
                        <a:t>SD브레인 (LLM 기반)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303C"/>
                          </a:solidFill>
                          <a:latin typeface="Malgun Gothic"/>
                        </a:rPr>
                        <a:t>생산공정 이상신호 자동 감지, 생산라인 데이터로 의사결정·결과 예측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데이터 인프라</a:t>
                      </a:r>
                    </a:p>
                  </a:txBody>
                  <a:tcPr marL="101600" marR="76200" marT="38100" marB="38100" anchor="ctr">
                    <a:solidFill>
                      <a:srgbClr val="D6E0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5B6"/>
                          </a:solidFill>
                          <a:latin typeface="Malgun Gothic"/>
                        </a:rPr>
                        <a:t>IoT 플랫폼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303C"/>
                          </a:solidFill>
                          <a:latin typeface="Malgun Gothic"/>
                        </a:rPr>
                        <a:t>실시간 데이터 수집·제어, MES·Factory-BI·빅데이터·예지보전 시스템 연계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AI 신뢰성</a:t>
                      </a:r>
                    </a:p>
                  </a:txBody>
                  <a:tcPr marL="101600" marR="76200" marT="38100" marB="38100" anchor="ctr">
                    <a:solidFill>
                      <a:srgbClr val="D6E0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5B6"/>
                          </a:solidFill>
                          <a:latin typeface="Malgun Gothic"/>
                        </a:rPr>
                        <a:t>국제인증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303C"/>
                          </a:solidFill>
                          <a:latin typeface="Malgun Gothic"/>
                        </a:rPr>
                        <a:t>ISO/IEC 42001 AI경영시스템 인증 + 스마트비전(결함검사) 제품 인증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그룹 사례</a:t>
                      </a:r>
                    </a:p>
                  </a:txBody>
                  <a:tcPr marL="101600" marR="76200" marT="38100" marB="38100" anchor="ctr">
                    <a:solidFill>
                      <a:srgbClr val="D6E0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5B6"/>
                          </a:solidFill>
                          <a:latin typeface="Malgun Gothic"/>
                        </a:rPr>
                        <a:t>HMGICS (싱가포르)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303C"/>
                          </a:solidFill>
                          <a:latin typeface="Malgun Gothic"/>
                        </a:rPr>
                        <a:t>AI 자동화 스마트팩토리 — 데이터 기반 공장 운영·의사결정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617720"/>
            <a:ext cx="11274552" cy="9601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88900" rtlCol="0" anchor="ctr"/>
          <a:lstStyle/>
          <a:p>
            <a:pPr algn="l"/>
            <a:r>
              <a:rPr sz="1250" b="1" i="0">
                <a:solidFill>
                  <a:srgbClr val="1F3A5F"/>
                </a:solidFill>
                <a:latin typeface="Malgun Gothic"/>
              </a:rPr>
              <a:t>핵심   </a:t>
            </a:r>
            <a:r>
              <a:rPr sz="1250" b="0" i="0">
                <a:solidFill>
                  <a:srgbClr val="22303C"/>
                </a:solidFill>
                <a:latin typeface="Malgun Gothic"/>
              </a:rPr>
              <a:t>현대오토에버는 SDF 전략 아래 </a:t>
            </a:r>
            <a:r>
              <a:rPr sz="1250" b="1" i="0">
                <a:solidFill>
                  <a:srgbClr val="1F3A5F"/>
                </a:solidFill>
                <a:latin typeface="Malgun Gothic"/>
              </a:rPr>
              <a:t>PHM(예지보전) · SD브레인(LLM) · IoT 플랫폼</a:t>
            </a:r>
            <a:r>
              <a:rPr sz="1250" b="0" i="0">
                <a:solidFill>
                  <a:srgbClr val="22303C"/>
                </a:solidFill>
                <a:latin typeface="Malgun Gothic"/>
              </a:rPr>
              <a:t>을 통합해, 로봇 등 자동화 설비의 이상예측·고장진단·통합관제를 소프트웨어로 운영합니다.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53328"/>
            <a:ext cx="11274552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50" b="0" i="1">
                <a:solidFill>
                  <a:srgbClr val="6B7785"/>
                </a:solidFill>
                <a:latin typeface="Malgun Gothic"/>
              </a:rPr>
              <a:t>출처: 현대오토에버 SDF 공식 소개·네오팩토리(NEO Factory), 현대자동차그룹 HMGICS, 언론 보도 (2023–2025). 공개 자료 기반 요약.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50" b="0" i="0">
                <a:solidFill>
                  <a:srgbClr val="6B7785"/>
                </a:solidFill>
                <a:latin typeface="Malgun Gothic"/>
              </a:rPr>
              <a:t>FEMTO-ST 베어링 RUL 예측   ·   ML+DL 통합 PdM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lang="en-US" sz="950" dirty="0">
                <a:solidFill>
                  <a:srgbClr val="6B7785"/>
                </a:solidFill>
                <a:latin typeface="Malgun Gothic"/>
              </a:rPr>
              <a:t>29</a:t>
            </a:r>
            <a:endParaRPr sz="950" b="0" i="0" dirty="0">
              <a:solidFill>
                <a:srgbClr val="6B7785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274320"/>
            <a:ext cx="105156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2300" b="1" i="0">
                <a:solidFill>
                  <a:srgbClr val="1F3A5F"/>
                </a:solidFill>
                <a:latin typeface="Malgun Gothic"/>
              </a:rPr>
              <a:t>부록. 본 프로젝트 ↔ 현대오토에버 PdM 연결 (적합성)</a:t>
            </a:r>
          </a:p>
          <a:p>
            <a:r>
              <a:rPr sz="1300" b="0" i="0">
                <a:solidFill>
                  <a:srgbClr val="6B7785"/>
                </a:solidFill>
                <a:latin typeface="Malgun Gothic"/>
              </a:rPr>
              <a:t>FEMTO 베어링 RUL 프로젝트의 구성요소가 현대오토에버 SDF/PHM 방향과 어떻게 맞닿는가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74552" cy="30586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본 프로젝트</a:t>
                      </a:r>
                    </a:p>
                  </a:txBody>
                  <a:tcPr marL="1016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현대오토에버 대응</a:t>
                      </a:r>
                    </a:p>
                  </a:txBody>
                  <a:tcPr marL="1016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시사점</a:t>
                      </a:r>
                    </a:p>
                  </a:txBody>
                  <a:tcPr marL="101600" marR="76200" marT="38100" marB="381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베어링 RUL 예측 (GRU v2)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5B6"/>
                          </a:solidFill>
                          <a:latin typeface="Malgun Gothic"/>
                        </a:rPr>
                        <a:t>PHM 잔여수명·고장 진단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PHM 핵심 기능과 직접 대응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AE 비지도 이상탐지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5B6"/>
                          </a:solidFill>
                          <a:latin typeface="Malgun Gothic"/>
                        </a:rPr>
                        <a:t>CMS 설비 이상예측 (엣지)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라벨 없는 신규 설비 대응 = 엣지 CMS 사상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임계값 경보 · Streamlit 통합진단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5B6"/>
                          </a:solidFill>
                          <a:latin typeface="Malgun Gothic"/>
                        </a:rPr>
                        <a:t>IoT 플랫폼 실시간 모니터링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통합관제·대시보드 정합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LLM 진단 리포트 (v0.5 구현완료, Claude API+RAG2단계)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5B6"/>
                          </a:solidFill>
                          <a:latin typeface="Malgun Gothic"/>
                        </a:rPr>
                        <a:t>SD브레인 (LLM 에이전트)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LLM 기반 진단·해석 방향 일치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GroupKFold · OOS 정직 평가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5B6"/>
                          </a:solidFill>
                          <a:latin typeface="Malgun Gothic"/>
                        </a:rPr>
                        <a:t>AI 신뢰성 (ISO 42001)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검증·신뢰성 중시 기조 부합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61772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pPr algn="l"/>
            <a:r>
              <a:rPr sz="1300" b="1" i="0">
                <a:solidFill>
                  <a:srgbClr val="E3A935"/>
                </a:solidFill>
                <a:latin typeface="Malgun Gothic"/>
              </a:rPr>
              <a:t>결론   </a:t>
            </a:r>
            <a:r>
              <a:rPr sz="1250" b="0" i="0">
                <a:solidFill>
                  <a:srgbClr val="FFFFFF"/>
                </a:solidFill>
                <a:latin typeface="Malgun Gothic"/>
              </a:rPr>
              <a:t>본 프로젝트(RUL+이상탐지+통합진단+LLM 진단·RAG 구현)는 현대오토에버 SDF의 </a:t>
            </a:r>
            <a:r>
              <a:rPr sz="1250" b="1" i="0">
                <a:solidFill>
                  <a:srgbClr val="E3A935"/>
                </a:solidFill>
                <a:latin typeface="Malgun Gothic"/>
              </a:rPr>
              <a:t>PHM · CMS · IoT 플랫폼 · SD브레인 구조와 일대일로 정합</a:t>
            </a:r>
            <a:r>
              <a:rPr sz="1250" b="0" i="0">
                <a:solidFill>
                  <a:srgbClr val="FFFFFF"/>
                </a:solidFill>
                <a:latin typeface="Malgun Gothic"/>
              </a:rPr>
              <a:t>합니다.</a:t>
            </a:r>
          </a:p>
          <a:p>
            <a:pPr algn="l">
              <a:spcBef>
                <a:spcPts val="300"/>
              </a:spcBef>
            </a:pPr>
            <a:r>
              <a:rPr sz="1250" b="0" i="0">
                <a:solidFill>
                  <a:srgbClr val="FFFFFF"/>
                </a:solidFill>
                <a:latin typeface="Malgun Gothic"/>
              </a:rPr>
              <a:t>특히 로봇통합관제플랫폼·예지보전 방향과 맞닿아, 회전기계 PHM과 LLM 진단 자동화를 잇는 실무 적용 후보로 연결됩니다.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53328"/>
            <a:ext cx="11274552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50" b="0" i="1">
                <a:solidFill>
                  <a:srgbClr val="6B7785"/>
                </a:solidFill>
                <a:latin typeface="Malgun Gothic"/>
              </a:rPr>
              <a:t>※ 본 슬라이드는 프로젝트–산업 솔루션 간 개념적 대응을 정리한 것으로, 특정 채용·계약과 무관한 기술적 시사점입니다.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50" b="0" i="0">
                <a:solidFill>
                  <a:srgbClr val="6B7785"/>
                </a:solidFill>
                <a:latin typeface="Malgun Gothic"/>
              </a:rPr>
              <a:t>FEMTO-ST 베어링 RUL 예측   ·   ML+DL 통합 PdM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lang="en-US" sz="950" b="0" i="0" dirty="0">
                <a:solidFill>
                  <a:srgbClr val="6B7785"/>
                </a:solidFill>
                <a:latin typeface="Malgun Gothic"/>
              </a:rPr>
              <a:t>30</a:t>
            </a:r>
            <a:endParaRPr sz="950" b="0" i="0" dirty="0">
              <a:solidFill>
                <a:srgbClr val="6B7785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274320"/>
            <a:ext cx="105156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2300" b="1" i="0">
                <a:solidFill>
                  <a:srgbClr val="1F3A5F"/>
                </a:solidFill>
                <a:latin typeface="Malgun Gothic"/>
              </a:rPr>
              <a:t>부록. LLM 진단 보고서 &amp; RAG 파이프라인 구현 현황 (v0.5 draft)</a:t>
            </a:r>
          </a:p>
          <a:p>
            <a:r>
              <a:rPr sz="1300" b="0" i="0">
                <a:solidFill>
                  <a:srgbClr val="6B7785"/>
                </a:solidFill>
                <a:latin typeface="Malgun Gothic"/>
              </a:rPr>
              <a:t>RAG 2단계(FAISS 수치유사도 + Chroma 문서RAG) + Claude API 진단 보고서 생성 + Streamlit 4종 앱 — GitHub v0.5 draft 반영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74552" cy="30586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구성 요소</a:t>
                      </a:r>
                    </a:p>
                  </a:txBody>
                  <a:tcPr marL="1016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핵심 기술</a:t>
                      </a:r>
                    </a:p>
                  </a:txBody>
                  <a:tcPr marL="1016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역할</a:t>
                      </a:r>
                    </a:p>
                  </a:txBody>
                  <a:tcPr marL="101600" marR="76200" marT="38100" marB="381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RAG Level 1 (수치 유사도)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5B6"/>
                          </a:solidFill>
                          <a:latin typeface="Malgun Gothic"/>
                        </a:rPr>
                        <a:t>FAISS IndexFlatIP + 12차원 특성벡터 (MinMaxScaler+L2정규화)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유사 과거 베어링 사례 Top-k 검색 + 유사도가중 RUL 추정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RAG Level 2 (문서 RAG)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5B6"/>
                          </a:solidFill>
                          <a:latin typeface="Malgun Gothic"/>
                        </a:rPr>
                        <a:t>Chroma + LangChain + sentence-transformers(all-MiniLM-L6-v2) + Ollama(gemma)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정비 지식 문서(500자 청크, 오버랩50) 검색 · 질의응답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LLM 진단 보고서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5B6"/>
                          </a:solidFill>
                          <a:latin typeface="Malgun Gothic"/>
                        </a:rPr>
                        <a:t>Claude API(claude-haiku-4-5) — ML+DL+RAG1+RAG2 결과 종합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5섹션(현재상태·이상신호·정비권고·유사사례·문서근거) 350자 이내 자연어 보고서 + Mock 모드 + Structured Output(JSON Schema 강제: status/anomalies/action/similar_case_note/doc_basis) — 대시보드·알람 연동용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Streamlit 앱 4종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5B6"/>
                          </a:solidFill>
                          <a:latin typeface="Malgun Gothic"/>
                        </a:rPr>
                        <a:t>app(8501,DL메인) · rag(8502,LLM/RAG전용) · femto(8503,ML+DL통합) · unified(8504,3-Source통합)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역할별 진단 UI 분리 제공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Mock 모드 &amp; 배포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5B6"/>
                          </a:solidFill>
                          <a:latin typeface="Malgun Gothic"/>
                        </a:rPr>
                        <a:t>API 키 없이 규칙기반 생성(generate_report_mock) · GitHub v0.5 draft(vapsnamheo-dev/AISOURCE, 태그 llm-factory-automation-v0.5)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API 키 없이도 데모 가능 + 정식 릴리스 준비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61772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pPr algn="l"/>
            <a:r>
              <a:rPr sz="1300" b="1" i="0">
                <a:solidFill>
                  <a:srgbClr val="E3A935"/>
                </a:solidFill>
                <a:latin typeface="Malgun Gothic"/>
              </a:rPr>
              <a:t>결론   </a:t>
            </a:r>
            <a:r>
              <a:rPr sz="1250" b="0" i="0">
                <a:solidFill>
                  <a:srgbClr val="FFFFFF"/>
                </a:solidFill>
                <a:latin typeface="Malgun Gothic"/>
              </a:rPr>
              <a:t>본 프로젝트는 ML(분류)·DL(RUL) 판정에 RAG 2단계와 LLM(Claude API) 자연어 진단 보고서까지 </a:t>
            </a:r>
            <a:r>
              <a:rPr sz="1250" b="1" i="0">
                <a:solidFill>
                  <a:srgbClr val="E3A935"/>
                </a:solidFill>
                <a:latin typeface="Malgun Gothic"/>
              </a:rPr>
              <a:t>end-to-end로 결합 구현</a:t>
            </a:r>
            <a:r>
              <a:rPr sz="1250" b="0" i="0">
                <a:solidFill>
                  <a:srgbClr val="FFFFFF"/>
                </a:solidFill>
                <a:latin typeface="Malgun Gothic"/>
              </a:rPr>
              <a:t>했습니다(v0.5 draft).</a:t>
            </a:r>
          </a:p>
          <a:p>
            <a:pPr algn="l">
              <a:spcBef>
                <a:spcPts val="300"/>
              </a:spcBef>
            </a:pPr>
            <a:r>
              <a:rPr sz="1250" b="0" i="0">
                <a:solidFill>
                  <a:srgbClr val="FFFFFF"/>
                </a:solidFill>
                <a:latin typeface="Malgun Gothic"/>
              </a:rPr>
              <a:t>GitHub에 v0.5 draft로 푸시되어(원격: vapsnamheo-dev/AISOURCE, 태그: llm-factory-automation-v0.5) 정식 릴리스·현장 적용을 준비합니다.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53328"/>
            <a:ext cx="11274552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50" b="0" i="1">
                <a:solidFill>
                  <a:srgbClr val="6B7785"/>
                </a:solidFill>
                <a:latin typeface="Malgun Gothic"/>
              </a:rPr>
              <a:t>※ 본 슬라이드 구성·수치는 src/femto_rag_search.py · src/femto_doc_rag.py · src/femto_llm_report.py 실제 구현 코드 기준입니다.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50" b="0" i="0">
                <a:solidFill>
                  <a:srgbClr val="6B7785"/>
                </a:solidFill>
                <a:latin typeface="Malgun Gothic"/>
              </a:rPr>
              <a:t>FEMTO-ST 베어링 RUL 예측   ·   ML+DL 통합 PdM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lang="en-US" sz="950" b="0" i="0" dirty="0">
                <a:solidFill>
                  <a:srgbClr val="6B7785"/>
                </a:solidFill>
                <a:latin typeface="Malgun Gothic"/>
              </a:rPr>
              <a:t>31</a:t>
            </a:r>
            <a:endParaRPr sz="950" b="0" i="0" dirty="0">
              <a:solidFill>
                <a:srgbClr val="6B7785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274320"/>
            <a:ext cx="105156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2300" b="1" i="0">
                <a:solidFill>
                  <a:srgbClr val="1F3A5F"/>
                </a:solidFill>
                <a:latin typeface="Malgun Gothic"/>
              </a:rPr>
              <a:t>부록. LLM 적용 우선순위 로드맵 (다음 단계)</a:t>
            </a:r>
          </a:p>
          <a:p>
            <a:r>
              <a:rPr sz="1300" b="0" i="0">
                <a:solidFill>
                  <a:srgbClr val="6B7785"/>
                </a:solidFill>
                <a:latin typeface="Malgun Gothic"/>
              </a:rPr>
              <a:t>사용자 논의 후 확정 — Structured Output(완료) → Agent/Tool Use → Workflow/Orchestration(LangGraph) → GraphRAG 순으로 단계적 도입 검토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17920" cy="30586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우선순위 · 항목</a:t>
                      </a:r>
                    </a:p>
                  </a:txBody>
                  <a:tcPr marL="1016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상태</a:t>
                      </a:r>
                    </a:p>
                  </a:txBody>
                  <a:tcPr marL="1016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핵심 내용</a:t>
                      </a:r>
                    </a:p>
                  </a:txBody>
                  <a:tcPr marL="101600" marR="76200" marT="38100" marB="381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1순위 — Structured Output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5B6"/>
                          </a:solidFill>
                          <a:latin typeface="Malgun Gothic"/>
                        </a:rPr>
                        <a:t>완료 (v0.5)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femto_llm_report.py에 generate_report_structured() 추가 — Claude output_config.format(JSON Schema 강제)으로 자유 텍스트 대신 {status, anomalies, action, similar_case_note, doc_basis} 정형 데이터 반환. 대시보드·알람·DB 연동에 바로 활용 가능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2순위 — Agent / Tool Use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5B6"/>
                          </a:solidFill>
                          <a:latin typeface="Malgun Gothic"/>
                        </a:rPr>
                        <a:t>예정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현재는 Streamlit이 RAG Level1(FAISS)+Level2(Chroma)+ML+DL 결과를 수동으로 모아 컨텍스트로 전달하는 구조 → Claude의 function calling(tool_use)으로 전환해 Claude가 필요할 때만 search_similar_cases(), retrieve_maintenance_docs() 등을 스스로 호출(ReAct 패턴). anthropic SDK 직접 사용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3순위 — Workflow/Orchestration (LangGraph)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5B6"/>
                          </a:solidFill>
                          <a:latin typeface="Malgun Gothic"/>
                        </a:rPr>
                        <a:t>예정 (후순위)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센서 수집 → ML 분류 → DL RUL → RAG → LLM 보고서 파이프라인을 LangGraph 등으로 명시적 그래프화. 현재는 하드코딩된 순서라 당장 실익 작음 — 파이프라인 복잡화·Agent 다중화 시 도입 검토. LLM 호출부(femto_llm_report.py)는 최신 Anthropic API 기능 호환을 위해 SDK 직접 사용을 유지하고, 오케스트레이션 레이어에서만 LangGraph 검토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4순위 — GraphRAG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5B6"/>
                          </a:solidFill>
                          <a:latin typeface="Malgun Gothic"/>
                        </a:rPr>
                        <a:t>예정 (최후순위)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현재 미구현(networkx/neo4j 등 그래프 라이브러리 없음, 벡터 검색 2단계만 존재). 설비 간 인과관계·계통도처럼 entity-relation이 복잡하게 얽힌 지식에 강점 있는 기법이나, 현재 데이터(센서 수치+정비 가이드 텍스트)는 벡터 검색만으로도 충분히 커버되어 우선순위 최하위. 데이터가 설비 관계망 수준으로 확장 시 검토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082796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pPr algn="l"/>
            <a:r>
              <a:rPr sz="1300" b="1" i="0">
                <a:solidFill>
                  <a:srgbClr val="E3A935"/>
                </a:solidFill>
                <a:latin typeface="Malgun Gothic"/>
              </a:rPr>
              <a:t>결론   </a:t>
            </a:r>
            <a:r>
              <a:rPr sz="1250" b="0" i="0">
                <a:solidFill>
                  <a:srgbClr val="FFFFFF"/>
                </a:solidFill>
                <a:latin typeface="Malgun Gothic"/>
              </a:rPr>
              <a:t>4단계 우선순위(Structured Output → Agent/Tool Use → Workflow/Orchestration → GraphRAG)는 </a:t>
            </a:r>
            <a:r>
              <a:rPr sz="1250" b="1" i="0">
                <a:solidFill>
                  <a:srgbClr val="E3A935"/>
                </a:solidFill>
                <a:latin typeface="Malgun Gothic"/>
              </a:rPr>
              <a:t>구현 난이도·실무 활용도 순</a:t>
            </a:r>
            <a:r>
              <a:rPr sz="1250" b="0" i="0">
                <a:solidFill>
                  <a:srgbClr val="FFFFFF"/>
                </a:solidFill>
                <a:latin typeface="Malgun Gothic"/>
              </a:rPr>
              <a:t>으로 배열했습니다.</a:t>
            </a:r>
          </a:p>
          <a:p>
            <a:pPr algn="l">
              <a:spcBef>
                <a:spcPts val="300"/>
              </a:spcBef>
            </a:pPr>
            <a:r>
              <a:rPr sz="1250" b="0" i="0">
                <a:solidFill>
                  <a:srgbClr val="FFFFFF"/>
                </a:solidFill>
                <a:latin typeface="Malgun Gothic"/>
              </a:rPr>
              <a:t>1순위(Structured Output)는 v0.5로 구현 완료, 2~4순위는 파이프라인이 복잡해지거나 Agent가 여러 개로 늘어날 때 단계적으로 도입을 검토합니다.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518404"/>
            <a:ext cx="11274552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50" b="0" i="1">
                <a:solidFill>
                  <a:srgbClr val="6B7785"/>
                </a:solidFill>
                <a:latin typeface="Malgun Gothic"/>
              </a:rPr>
              <a:t>※ 본 로드맵은 사용자와의 논의를 거쳐 확정되었습니다. 근거: src/femto_llm_report.py(Structured Output 구현 완료), 현재 Streamlit 파이프라인은 RAG·ML·DL 결과를 하드코딩 순서로 수동 결합.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20740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50" b="0" i="0">
                <a:solidFill>
                  <a:srgbClr val="6B7785"/>
                </a:solidFill>
                <a:latin typeface="Malgun Gothic"/>
              </a:rPr>
              <a:t>FEMTO-ST 베어링 RUL 예측   ·   ML+DL 통합 PdM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5920740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lang="en-US" sz="950" b="0" i="0" dirty="0">
                <a:solidFill>
                  <a:srgbClr val="6B7785"/>
                </a:solidFill>
                <a:latin typeface="Malgun Gothic"/>
              </a:rPr>
              <a:t>32</a:t>
            </a:r>
            <a:endParaRPr sz="950" b="0" i="0" dirty="0">
              <a:solidFill>
                <a:srgbClr val="6B7785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666</TotalTime>
  <Words>6351</Words>
  <Application>Microsoft Office PowerPoint</Application>
  <PresentationFormat>와이드스크린</PresentationFormat>
  <Paragraphs>1103</Paragraphs>
  <Slides>32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7" baseType="lpstr">
      <vt:lpstr>Malgun Gothic</vt:lpstr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FEMTO-ST 베어링 RUL 예측 — ML+DL 통합 예지보전</dc:title>
  <dc:subject>PptxGenJS Presentation</dc:subject>
  <dc:creator>허남</dc:creator>
  <cp:lastModifiedBy>남 허</cp:lastModifiedBy>
  <cp:revision>40</cp:revision>
  <dcterms:created xsi:type="dcterms:W3CDTF">2026-06-30T01:06:45Z</dcterms:created>
  <dcterms:modified xsi:type="dcterms:W3CDTF">2026-07-02T13:44:38Z</dcterms:modified>
</cp:coreProperties>
</file>