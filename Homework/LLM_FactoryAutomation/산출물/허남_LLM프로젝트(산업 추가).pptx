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4"/>
    <p:sldId id="299" r:id="rId35"/>
    <p:sldId id="300" r:id="rId36"/>
    <p:sldId id="301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(v0.6)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v0.6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925851"/>
              </p:ext>
            </p:extLst>
          </p:nvPr>
        </p:nvGraphicFramePr>
        <p:xfrm>
          <a:off x="457200" y="1371600"/>
          <a:ext cx="11274552" cy="36941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11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6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RAG Level 1 (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수치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유사도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  <a:r>
                        <a:rPr sz="1100" b="1">
                          <a:latin typeface="Malgun Gothic"/>
                        </a:rPr>
                        <a:t> · temperature=0.0(사실 기반 답변만 하도록 결정론적 출력 설정)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 + Structured Output(JSON Schema 강제: status/anomalies/action/similar_case_note/doc_basis) — 대시보드·알람 연동용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 · v0.7(2026-07-07): Streamlit 재실행 시 무관한 조작만으로 Claude API가 반복 호출·재과금되던 버그를 입력 기반 세션 캐시로 수정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E7D32"/>
                          </a:solidFill>
                          <a:latin typeface="Malgun Gothic"/>
                        </a:rPr>
                        <a:t>API 키 </a:t>
                      </a:r>
                      <a:r>
                        <a:rPr sz="1100" b="1" i="0" dirty="0" err="1">
                          <a:solidFill>
                            <a:srgbClr val="2E7D32"/>
                          </a:solidFill>
                          <a:latin typeface="Malgun Gothic"/>
                        </a:rPr>
                        <a:t>없이도</a:t>
                      </a:r>
                      <a:r>
                        <a:rPr sz="1100" b="1" i="0" dirty="0">
                          <a:solidFill>
                            <a:srgbClr val="2E7D32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E7D32"/>
                          </a:solidFill>
                          <a:latin typeface="Malgun Gothic"/>
                        </a:rPr>
                        <a:t>데모</a:t>
                      </a:r>
                      <a:r>
                        <a:rPr sz="1100" b="1" i="0" dirty="0">
                          <a:solidFill>
                            <a:srgbClr val="2E7D32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E7D32"/>
                          </a:solidFill>
                          <a:latin typeface="Malgun Gothic"/>
                        </a:rPr>
                        <a:t>가능</a:t>
                      </a:r>
                      <a:r>
                        <a:rPr sz="1100" b="1" i="0" dirty="0">
                          <a:solidFill>
                            <a:srgbClr val="2E7D32"/>
                          </a:solidFill>
                          <a:latin typeface="Malgun Gothic"/>
                        </a:rPr>
                        <a:t> + </a:t>
                      </a:r>
                      <a:r>
                        <a:rPr sz="1100" b="1" i="0" dirty="0" err="1">
                          <a:solidFill>
                            <a:srgbClr val="2E7D32"/>
                          </a:solidFill>
                          <a:latin typeface="Malgun Gothic"/>
                        </a:rPr>
                        <a:t>정식</a:t>
                      </a:r>
                      <a:r>
                        <a:rPr sz="1100" b="1" i="0" dirty="0">
                          <a:solidFill>
                            <a:srgbClr val="2E7D32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E7D32"/>
                          </a:solidFill>
                          <a:latin typeface="Malgun Gothic"/>
                        </a:rPr>
                        <a:t>릴리스</a:t>
                      </a:r>
                      <a:r>
                        <a:rPr sz="1100" b="1" i="0" dirty="0">
                          <a:solidFill>
                            <a:srgbClr val="2E7D32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E7D32"/>
                          </a:solidFill>
                          <a:latin typeface="Malgun Gothic"/>
                        </a:rPr>
                        <a:t>준비</a:t>
                      </a:r>
                      <a:endParaRPr sz="1100" b="1" i="0" dirty="0">
                        <a:solidFill>
                          <a:srgbClr val="2E7D32"/>
                        </a:solidFill>
                        <a:latin typeface="Malgun Gothic"/>
                      </a:endParaRP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186195"/>
            <a:ext cx="11274552" cy="881743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했습니다(v0.6).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v0.6로 푸시되어(원격: vapsnamheo-dev/AISOURCE, 태그: llm-factory-automation-v0.5) 정식 릴리스·현장 적용을 준비합니다. v0.7(2026-07-07)에서는 재실행 시 재과금 버그를 캐싱으로 수정해 비용 안전성을 높였습니다.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4242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 dirty="0">
                <a:solidFill>
                  <a:srgbClr val="6B7785"/>
                </a:solidFill>
                <a:latin typeface="Malgun Gothic"/>
              </a:rPr>
              <a:t>※ 본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슬라이드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구성·수치는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src/femto_rag_search.py · src/femto_doc_rag.py · src/femto_llm_report.py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실제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구현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코드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기준입니다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적용 우선순위 로드맵 (다음 단계)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사용자 논의 후 확정 — Structured Output(완료) → Agent/Tool Use → Workflow/Orchestration(LangGraph) → GraphRAG 순으로 단계적 도입 검토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17920" cy="3203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우선순위 · 항목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1순위 — Structured Output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완료 (v0.5)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femto_llm_report.py에 generate_report_structured() 추가 — Claude output_config.format(JSON Schema 강제)으로 자유 텍스트 대신 {status, anomalies, action, similar_case_note, doc_basis} 정형 데이터 반환. 대시보드·알람·DB 연동에 바로 활용 가능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2순위 — Agent / Tool Use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현재는 Streamlit이 RAG Level1(FAISS)+Level2(Chroma)+ML+DL 결과를 수동으로 모아 컨텍스트로 전달하는 구조 → Claude의 function calling(tool_use)으로 전환해 Claude가 필요할 때만 search_similar_cases(), retrieve_maintenance_docs() 등을 스스로 호출(ReAct 패턴). anthropic SDK 직접 사용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3순위 — Workflow/Orchestration (LangGraph)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(후순위)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센서 수집 → ML 분류 → DL RUL → RAG → LLM 보고서 파이프라인을 LangGraph 등으로 명시적 그래프화. 현재는 하드코딩된 순서라 당장 실익 작음 — 파이프라인 복잡화·Agent 다중화 시 도입 검토. LLM 호출부(femto_llm_report.py)는 최신 Anthropic API 기능 호환을 위해 SDK 직접 사용을 유지하고, 오케스트레이션 레이어에서만 LangGraph 검토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4순위 — GraphRAG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(최후순위)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 미구현(networkx/neo4j 등 그래프 라이브러리 없음, 벡터 검색 2단계만 존재). 설비 간 인과관계·계통도처럼 entity-relation이 복잡하게 얽힌 지식에 강점 있는 기법이나, 현재 데이터(센서 수치+정비 가이드 텍스트)는 벡터 검색만으로도 충분히 커버되어 우선순위 최하위. 데이터가 설비 관계망 수준으로 확장 시 검토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13482" y="483807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200" b="1" i="0" dirty="0" err="1">
                <a:solidFill>
                  <a:srgbClr val="E3A935"/>
                </a:solidFill>
                <a:latin typeface="Malgun Gothic"/>
              </a:rPr>
              <a:t>결론</a:t>
            </a:r>
            <a:r>
              <a:rPr sz="12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4단계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우선순위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(Structured Output → Agent/Tool Use → Workflow/Orchestration →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GraphRAG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)는 </a:t>
            </a:r>
            <a:r>
              <a:rPr sz="1200" b="1" i="0" dirty="0" err="1">
                <a:solidFill>
                  <a:srgbClr val="E3A935"/>
                </a:solidFill>
                <a:latin typeface="Malgun Gothic"/>
              </a:rPr>
              <a:t>구현</a:t>
            </a:r>
            <a:r>
              <a:rPr sz="12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E3A935"/>
                </a:solidFill>
                <a:latin typeface="Malgun Gothic"/>
              </a:rPr>
              <a:t>난이도·실무</a:t>
            </a:r>
            <a:r>
              <a:rPr sz="12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E3A935"/>
                </a:solidFill>
                <a:latin typeface="Malgun Gothic"/>
              </a:rPr>
              <a:t>활용도</a:t>
            </a:r>
            <a:r>
              <a:rPr sz="12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E3A935"/>
                </a:solidFill>
                <a:latin typeface="Malgun Gothic"/>
              </a:rPr>
              <a:t>순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으로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배열했습니다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00" b="0" i="0" dirty="0">
                <a:solidFill>
                  <a:srgbClr val="FFFFFF"/>
                </a:solidFill>
                <a:latin typeface="Malgun Gothic"/>
              </a:rPr>
              <a:t>1순위(Structured Output)는 v0.5로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구현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완료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2~4순위는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파이프라인이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복잡해지거나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Agent가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여러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개로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늘어날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때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단계적으로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도입을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검토합니다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r>
              <a:rPr sz="1200" dirty="0"/>
              <a:t>RAG </a:t>
            </a:r>
            <a:r>
              <a:rPr sz="1200" dirty="0" err="1"/>
              <a:t>종류</a:t>
            </a:r>
            <a:r>
              <a:rPr sz="1200" dirty="0"/>
              <a:t>: </a:t>
            </a:r>
            <a:r>
              <a:rPr sz="1200" dirty="0" err="1"/>
              <a:t>현재</a:t>
            </a:r>
            <a:r>
              <a:rPr sz="1200" dirty="0"/>
              <a:t> Level1/2 </a:t>
            </a:r>
            <a:r>
              <a:rPr sz="1200" dirty="0" err="1"/>
              <a:t>모두</a:t>
            </a:r>
            <a:r>
              <a:rPr sz="1200" dirty="0"/>
              <a:t> </a:t>
            </a:r>
            <a:r>
              <a:rPr sz="1200" dirty="0" err="1"/>
              <a:t>일반</a:t>
            </a:r>
            <a:r>
              <a:rPr sz="1200" dirty="0"/>
              <a:t> RAG(</a:t>
            </a:r>
            <a:r>
              <a:rPr sz="1200" dirty="0" err="1"/>
              <a:t>순수</a:t>
            </a:r>
            <a:r>
              <a:rPr sz="1200" dirty="0"/>
              <a:t> </a:t>
            </a:r>
            <a:r>
              <a:rPr sz="1200" dirty="0" err="1"/>
              <a:t>벡터검색</a:t>
            </a:r>
            <a:r>
              <a:rPr sz="1200" dirty="0"/>
              <a:t>). Hybrid RAG(BM25+벡터)는 </a:t>
            </a:r>
            <a:r>
              <a:rPr sz="1200" dirty="0" err="1"/>
              <a:t>수치·임계값</a:t>
            </a:r>
            <a:r>
              <a:rPr sz="1200" dirty="0"/>
              <a:t> </a:t>
            </a:r>
            <a:r>
              <a:rPr sz="1200" dirty="0" err="1"/>
              <a:t>질의</a:t>
            </a:r>
            <a:r>
              <a:rPr sz="1200" dirty="0"/>
              <a:t> </a:t>
            </a:r>
            <a:r>
              <a:rPr sz="1200" dirty="0" err="1"/>
              <a:t>정확도</a:t>
            </a:r>
            <a:r>
              <a:rPr sz="1200" dirty="0"/>
              <a:t> </a:t>
            </a:r>
            <a:r>
              <a:rPr sz="1200" dirty="0" err="1"/>
              <a:t>향상에</a:t>
            </a:r>
            <a:r>
              <a:rPr sz="1200" dirty="0"/>
              <a:t> </a:t>
            </a:r>
            <a:r>
              <a:rPr sz="1200" dirty="0" err="1"/>
              <a:t>유효해</a:t>
            </a:r>
            <a:r>
              <a:rPr sz="1200" dirty="0"/>
              <a:t> </a:t>
            </a:r>
            <a:r>
              <a:rPr sz="1200" dirty="0" err="1"/>
              <a:t>적용</a:t>
            </a:r>
            <a:r>
              <a:rPr sz="1200" dirty="0"/>
              <a:t> </a:t>
            </a:r>
            <a:r>
              <a:rPr sz="1200" dirty="0" err="1"/>
              <a:t>가치</a:t>
            </a:r>
            <a:r>
              <a:rPr sz="1200" dirty="0"/>
              <a:t> </a:t>
            </a:r>
            <a:r>
              <a:rPr sz="1200" dirty="0" err="1"/>
              <a:t>있음</a:t>
            </a:r>
            <a:r>
              <a:rPr sz="1200" dirty="0"/>
              <a:t>, Graph </a:t>
            </a:r>
            <a:r>
              <a:rPr sz="1200" dirty="0" err="1"/>
              <a:t>RAG는</a:t>
            </a:r>
            <a:r>
              <a:rPr sz="1200" dirty="0"/>
              <a:t> </a:t>
            </a:r>
            <a:r>
              <a:rPr sz="1200" dirty="0" err="1"/>
              <a:t>단일</a:t>
            </a:r>
            <a:r>
              <a:rPr sz="1200" dirty="0"/>
              <a:t> </a:t>
            </a:r>
            <a:r>
              <a:rPr sz="1200" dirty="0" err="1"/>
              <a:t>소규모</a:t>
            </a:r>
            <a:r>
              <a:rPr sz="1200" dirty="0"/>
              <a:t> </a:t>
            </a:r>
            <a:r>
              <a:rPr sz="1200" dirty="0" err="1"/>
              <a:t>문서</a:t>
            </a:r>
            <a:r>
              <a:rPr sz="1200" dirty="0"/>
              <a:t> </a:t>
            </a:r>
            <a:r>
              <a:rPr sz="1200" dirty="0" err="1"/>
              <a:t>특성상</a:t>
            </a:r>
            <a:r>
              <a:rPr sz="1200" dirty="0"/>
              <a:t> 4순위 </a:t>
            </a:r>
            <a:r>
              <a:rPr sz="1200" dirty="0" err="1"/>
              <a:t>유지</a:t>
            </a:r>
            <a:r>
              <a:rPr sz="1200" dirty="0"/>
              <a:t> </a:t>
            </a:r>
            <a:r>
              <a:rPr sz="1200" dirty="0" err="1"/>
              <a:t>타당</a:t>
            </a:r>
            <a:r>
              <a:rPr sz="1200" dirty="0"/>
              <a:t>.</a:t>
            </a:r>
          </a:p>
          <a:p>
            <a:r>
              <a:rPr sz="1200" dirty="0"/>
              <a:t>v0.6(2026-07-03): Cloud </a:t>
            </a:r>
            <a:r>
              <a:rPr sz="1200" dirty="0" err="1"/>
              <a:t>배포</a:t>
            </a:r>
            <a:r>
              <a:rPr sz="1200" dirty="0"/>
              <a:t> </a:t>
            </a:r>
            <a:r>
              <a:rPr sz="1200" dirty="0" err="1"/>
              <a:t>버그</a:t>
            </a:r>
            <a:r>
              <a:rPr sz="1200" dirty="0"/>
              <a:t> </a:t>
            </a:r>
            <a:r>
              <a:rPr sz="1200" dirty="0" err="1"/>
              <a:t>다수</a:t>
            </a:r>
            <a:r>
              <a:rPr sz="1200" dirty="0"/>
              <a:t> </a:t>
            </a:r>
            <a:r>
              <a:rPr sz="1200" dirty="0" err="1"/>
              <a:t>수정</a:t>
            </a:r>
            <a:r>
              <a:rPr sz="1200" dirty="0"/>
              <a:t> + </a:t>
            </a:r>
            <a:r>
              <a:rPr sz="1200" dirty="0" err="1"/>
              <a:t>과금방지</a:t>
            </a:r>
            <a:r>
              <a:rPr sz="1200" dirty="0"/>
              <a:t> </a:t>
            </a:r>
            <a:r>
              <a:rPr sz="1200" dirty="0" err="1"/>
              <a:t>스위치</a:t>
            </a:r>
            <a:r>
              <a:rPr sz="1200" dirty="0"/>
              <a:t>(ANTHROPIC_API_KEY on/off, </a:t>
            </a:r>
            <a:r>
              <a:rPr sz="1200" dirty="0" err="1"/>
              <a:t>기본</a:t>
            </a:r>
            <a:r>
              <a:rPr sz="1200" dirty="0"/>
              <a:t> ON) </a:t>
            </a:r>
            <a:r>
              <a:rPr sz="1200" dirty="0" err="1"/>
              <a:t>추가</a:t>
            </a:r>
            <a:r>
              <a:rPr sz="1200" dirty="0"/>
              <a:t>. </a:t>
            </a:r>
            <a:r>
              <a:rPr sz="1200" dirty="0" err="1"/>
              <a:t>예상</a:t>
            </a:r>
            <a:r>
              <a:rPr sz="1200" dirty="0"/>
              <a:t> </a:t>
            </a:r>
            <a:r>
              <a:rPr sz="1200" dirty="0" err="1"/>
              <a:t>일정</a:t>
            </a:r>
            <a:r>
              <a:rPr sz="1200" dirty="0"/>
              <a:t>(안): 2순위 Agent/Tool Use 개발~07/24-시험~07/27-문서~07/28, Hybrid RAG </a:t>
            </a:r>
            <a:r>
              <a:rPr sz="1200" dirty="0" err="1"/>
              <a:t>완료</a:t>
            </a:r>
            <a:r>
              <a:rPr sz="1200" dirty="0"/>
              <a:t>(v0.6, 07/03 - BM25+벡터 </a:t>
            </a:r>
            <a:r>
              <a:rPr sz="1200" dirty="0" err="1"/>
              <a:t>결합</a:t>
            </a:r>
            <a:r>
              <a:rPr sz="1200" dirty="0"/>
              <a:t>, </a:t>
            </a:r>
            <a:r>
              <a:rPr sz="1200" dirty="0" err="1"/>
              <a:t>검증</a:t>
            </a:r>
            <a:r>
              <a:rPr sz="1200" dirty="0"/>
              <a:t>: </a:t>
            </a:r>
            <a:r>
              <a:rPr sz="1200" dirty="0" err="1"/>
              <a:t>이전</a:t>
            </a:r>
            <a:r>
              <a:rPr sz="1200" dirty="0"/>
              <a:t> </a:t>
            </a:r>
            <a:r>
              <a:rPr sz="1200" dirty="0" err="1"/>
              <a:t>실패</a:t>
            </a:r>
            <a:r>
              <a:rPr sz="1200" dirty="0"/>
              <a:t> </a:t>
            </a:r>
            <a:r>
              <a:rPr sz="1200" dirty="0" err="1"/>
              <a:t>질의가</a:t>
            </a:r>
            <a:r>
              <a:rPr sz="1200" dirty="0"/>
              <a:t> </a:t>
            </a:r>
            <a:r>
              <a:rPr sz="1200" dirty="0" err="1"/>
              <a:t>정상</a:t>
            </a:r>
            <a:r>
              <a:rPr sz="1200" dirty="0"/>
              <a:t> </a:t>
            </a:r>
            <a:r>
              <a:rPr sz="1200" dirty="0" err="1"/>
              <a:t>답변으로</a:t>
            </a:r>
            <a:r>
              <a:rPr sz="1200" dirty="0"/>
              <a:t> </a:t>
            </a:r>
            <a:r>
              <a:rPr sz="1200" dirty="0" err="1"/>
              <a:t>개선됨</a:t>
            </a:r>
            <a:r>
              <a:rPr sz="1200" dirty="0"/>
              <a:t>), 3순위 개발~08/21, 4순위(</a:t>
            </a:r>
            <a:r>
              <a:rPr sz="1200" dirty="0" err="1"/>
              <a:t>GraphRAG</a:t>
            </a:r>
            <a:r>
              <a:rPr sz="1200" dirty="0"/>
              <a:t>) </a:t>
            </a:r>
            <a:r>
              <a:rPr sz="1200" dirty="0" err="1"/>
              <a:t>미정</a:t>
            </a:r>
            <a:r>
              <a:rPr sz="1200"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6869" y="6291072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 dirty="0">
                <a:solidFill>
                  <a:srgbClr val="6B7785"/>
                </a:solidFill>
                <a:latin typeface="Malgun Gothic"/>
              </a:rPr>
              <a:t>※ 본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로드맵은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사용자와의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논의를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거쳐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확정되었습니다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.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근거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: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src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/femto_llm_report.py(Structured Output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구현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완료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),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현재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파이프라인은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RAG·ML·DL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결과를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하드코딩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순서로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수동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950" b="0" i="1" dirty="0" err="1">
                <a:solidFill>
                  <a:srgbClr val="6B7785"/>
                </a:solidFill>
                <a:latin typeface="Malgun Gothic"/>
              </a:rPr>
              <a:t>결합</a:t>
            </a:r>
            <a:r>
              <a:rPr sz="950" b="0" i="1" dirty="0">
                <a:solidFill>
                  <a:srgbClr val="6B7785"/>
                </a:solidFill>
                <a:latin typeface="Malgun Gothic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20740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32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환각(Hallucination) 방어 3층 게이트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모를 땐 모른다고 — 통과는 정직한 처방, 이탈은 차단·보류 (src/femto_llm_guard.py, 신규)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258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t>게이트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t>통과 시 / 이탈 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t>① 신뢰도 톤 분기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prob 구간별 어투 강도 조절 (confidence_tone)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고확신 → 단정 / 애매 → 확인 권유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t>② 입력 게이트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센서값 물리적 OOD 판정 (check_input_gate)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정상 → 처리 / 과실·비정상 → 차단·재측정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t>③ 클래스 한정성 자기인지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아는 범위 4종 고정 (정상·주의·위험·판단불가)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범위 내 → 판단 / 범위 밖 → 진단 보류(판단불가)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199" y="4617720"/>
            <a:ext cx="11386457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결론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모를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땐 '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모른다'고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답한다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—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통과는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정직한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처방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,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이탈은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차단·보류로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처리해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환각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(hallucination)을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구조적으로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차단합니다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구조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감사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: format=JSON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스키마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검증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재시도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근거출처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코드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주입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스키마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위반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시 1회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재시도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그래도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실패하면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추측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대신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판단불가로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폴</a:t>
            </a:r>
            <a:r>
              <a:rPr lang="ko-KR" altLang="en-US" sz="1250" b="0" i="0" dirty="0">
                <a:solidFill>
                  <a:srgbClr val="FFFFFF"/>
                </a:solidFill>
                <a:latin typeface="Malgun Gothic"/>
              </a:rPr>
              <a:t>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구성은 src/femto_llm_guard.py(신규) 실제 구현 기준입니다. tests/test_femto_llm_guard.py 11건 pytest 통과(Mock 경로). Streamlit UI 연동은 별도 작업 예정.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35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RAG 출처근거(Citation) 표기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어느 문서의 어느 절을 근거로 답했는지 추적 가능 (src/femto_doc_rag.py, 개선)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258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t>항목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t>비고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t>출처 태그 형식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[출처: 파일명 § N.절제목 · 개정 YYYY-MM-DD]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bearing_maintenance_guide.txt 상단 개정일 프론트매터에서 추출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t>적용 범위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retrieve_docs() · ask() · BM25+벡터 Hybrid 양쪽 경로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기존엔 BM25 경로에서 출처 메타데이터 소실 — 수정함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t>검증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pytest 5건 통과 + 로컬 Chroma 인덱스 재빌드 실제 호출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tests/test_femto_doc_rag_citations.py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결론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문서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근거를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"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파일명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§ 절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번호·제목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·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개정일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"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형식으로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태깅해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, LLM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답변이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어느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문서의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어느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부분을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인용했는지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사람이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바로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확인</a:t>
            </a:r>
            <a:r>
              <a:rPr lang="en-US"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가능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신문기사의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"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OO신문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며칠자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"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인용과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동일한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역할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문서가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늘어나도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동일한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source_file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/section/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revision_date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메타데이터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패턴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그대로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적용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가능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구성은 src/femto_doc_rag.py 실제 구현 기준입니다. tests/test_femto_doc_rag_citations.py 5건 pytest 통과.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</TotalTime>
  <Words>7782</Words>
  <Application>Microsoft Office PowerPoint</Application>
  <PresentationFormat>와이드스크린</PresentationFormat>
  <Paragraphs>1193</Paragraphs>
  <Slides>36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41</cp:revision>
  <dcterms:created xsi:type="dcterms:W3CDTF">2026-06-30T01:06:45Z</dcterms:created>
  <dcterms:modified xsi:type="dcterms:W3CDTF">2026-07-07T03:41:11Z</dcterms:modified>
</cp:coreProperties>
</file>