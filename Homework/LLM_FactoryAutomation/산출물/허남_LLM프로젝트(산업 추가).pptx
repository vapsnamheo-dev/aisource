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2" r:id="rId4"/>
    <p:sldId id="293" r:id="rId5"/>
    <p:sldId id="279" r:id="rId6"/>
    <p:sldId id="259" r:id="rId7"/>
    <p:sldId id="281" r:id="rId8"/>
    <p:sldId id="283" r:id="rId9"/>
    <p:sldId id="260" r:id="rId10"/>
    <p:sldId id="261" r:id="rId11"/>
    <p:sldId id="262" r:id="rId12"/>
    <p:sldId id="294" r:id="rId13"/>
    <p:sldId id="288" r:id="rId14"/>
    <p:sldId id="285" r:id="rId15"/>
    <p:sldId id="265" r:id="rId16"/>
    <p:sldId id="271" r:id="rId17"/>
    <p:sldId id="272" r:id="rId18"/>
    <p:sldId id="264" r:id="rId19"/>
    <p:sldId id="267" r:id="rId20"/>
    <p:sldId id="286" r:id="rId21"/>
    <p:sldId id="276" r:id="rId22"/>
    <p:sldId id="263" r:id="rId23"/>
    <p:sldId id="270" r:id="rId24"/>
    <p:sldId id="273" r:id="rId25"/>
    <p:sldId id="269" r:id="rId26"/>
    <p:sldId id="287" r:id="rId27"/>
    <p:sldId id="296" r:id="rId28"/>
    <p:sldId id="297" r:id="rId29"/>
    <p:sldId id="295" r:id="rId30"/>
    <p:sldId id="289" r:id="rId31"/>
    <p:sldId id="290" r:id="rId32"/>
    <p:sldId id="291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87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42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E55D-19B0-22B8-FA1B-5E7E9BEC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CDC99-E3D3-DB1B-D6E6-34B59FA40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9770-E2AC-E8C4-E03F-EFE15A728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8F977-B239-4678-571B-3B80C9D05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46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E8C0-5728-7EFF-B165-65A525FF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EBBD-681E-4EC2-F9E5-71ACE04DC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6D9B6-C1EC-D0A1-A336-851E52B06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B57A1-FB5A-D643-04A9-4B7B29A22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82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A246-39C9-89FB-8E82-AA2F7659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FBD38-90BC-8B8C-1581-60DC6C3B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18228-3FA8-6C4F-E748-9A1D96FE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0FF-BD35-C1F1-7DEE-D1EAEFF14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78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20F1-C14F-DB3B-B59D-D7FA884B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14B20-FB6B-5436-2C8A-057CFE95E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D5406-8752-948A-F85C-7DF4C44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CCF2A-7DB5-5134-3BB2-C2DBF8223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113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415A-EBDC-7E45-1D74-E6F2AE9C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C4F5-9900-A59C-6BBB-9004014F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D7A83-9A7A-E855-89C3-01E95F9DC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BFFF5-A616-448E-939C-DAF9E09F3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93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9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</a:t>
            </a:r>
            <a:r>
              <a:rPr lang="en-US" sz="1800" dirty="0" err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데이터셋</a:t>
            </a: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: FEMTO-ST PRONOSTIA (IEEE PHM 2012)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 · 개발 방법 · 기대 효과 / FEMTO-ST 데이터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프로세스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 명세 · EDA · VIF · 전처리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(ML · DL)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베이스라인(분류) · DL RUL 개발·튜닝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종합(+15.08%) · Grad-CAM 진단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+ MLflow 부록(48 runs)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· 임계값 원리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미탐지(FN) 최소화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데이터·모델·성능 보충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데이터샘플 · 모델선택 · MLflow · 평가신뢰성 · 혼동행렬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1549" y="4566642"/>
            <a:ext cx="5630094" cy="1150404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644429" y="4547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403" y="4900911"/>
            <a:ext cx="5699760" cy="6656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</a:t>
            </a:r>
            <a:r>
              <a:rPr lang="en-US" altLang="ko-KR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</a:t>
            </a:r>
            <a:r>
              <a:rPr lang="ko-KR" altLang="en-US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３）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&lt; 900분 / ML </a:t>
            </a:r>
            <a:r>
              <a:rPr lang="ko-KR" alt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개선율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&gt; 10% / 응답 &lt; 2초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6312" y="5739011"/>
            <a:ext cx="11064240" cy="896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(*1) </a:t>
            </a:r>
            <a:r>
              <a:rPr lang="en-US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무작위 분할이 아닌 베어링 단위를 통째로 분리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시계열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완전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차단</a:t>
            </a:r>
            <a:endParaRPr lang="en-US" sz="12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(*2) 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"GRU v1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정규화 계층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 개선 버전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(*3)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(Out-Of-Sample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</a:rPr>
              <a:t>／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OOS</a:t>
            </a:r>
            <a:r>
              <a:rPr lang="ko-KR" altLang="ko-KR" sz="1200" dirty="0">
                <a:latin typeface="Malgun Gothic" pitchFamily="34" charset="0"/>
                <a:ea typeface="Malgun Gothic" pitchFamily="34" charset="-122"/>
              </a:rPr>
              <a:t> 모델 학습에 쓰지 않은 데이터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) 11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개는 3개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Condition에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걸친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미관측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　　</a:t>
            </a:r>
            <a:r>
              <a:rPr lang="ko-KR" altLang="ko-KR" sz="1200" b="1" dirty="0"/>
              <a:t> </a:t>
            </a:r>
            <a:r>
              <a:rPr lang="ko-KR" altLang="en-US" sz="1200" b="1" dirty="0"/>
              <a:t>→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적합을 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드러내고</a:t>
            </a:r>
            <a:r>
              <a:rPr lang="ko-KR" alt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새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설비 배포 시 실제 성능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정직하게 모사</a:t>
            </a:r>
            <a:r>
              <a:rPr lang="ko-KR" altLang="ko-KR" sz="1200" dirty="0"/>
              <a:t>(</a:t>
            </a:r>
            <a:r>
              <a:rPr lang="ko-KR" altLang="ko-KR" sz="1200" dirty="0" err="1"/>
              <a:t>RF·XGB가</a:t>
            </a:r>
            <a:r>
              <a:rPr lang="ko-KR" altLang="ko-KR" sz="1200" dirty="0"/>
              <a:t> IS F1 0.94 → OOS </a:t>
            </a:r>
            <a:r>
              <a:rPr lang="ko-KR" altLang="ko-KR" sz="1200" dirty="0" err="1"/>
              <a:t>Recall</a:t>
            </a:r>
            <a:r>
              <a:rPr lang="ko-KR" altLang="ko-KR" sz="1200" dirty="0"/>
              <a:t> 0.5로 무너진 게 그 증거)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1086" y="6446520"/>
            <a:ext cx="262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24AD574F-A3DB-BF00-A220-349DCFCF7970}"/>
              </a:ext>
            </a:extLst>
          </p:cNvPr>
          <p:cNvSpPr/>
          <p:nvPr/>
        </p:nvSpPr>
        <p:spPr>
          <a:xfrm>
            <a:off x="6274523" y="4613962"/>
            <a:ext cx="5630094" cy="1031966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316452-C5D0-CB9C-6A2C-8652A046A396}"/>
              </a:ext>
            </a:extLst>
          </p:cNvPr>
          <p:cNvSpPr/>
          <p:nvPr/>
        </p:nvSpPr>
        <p:spPr>
          <a:xfrm>
            <a:off x="6457403" y="461396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방법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65ABCA4-A075-2234-EC1C-571E04D0CF48}"/>
              </a:ext>
            </a:extLst>
          </p:cNvPr>
          <p:cNvSpPr/>
          <p:nvPr/>
        </p:nvSpPr>
        <p:spPr>
          <a:xfrm>
            <a:off x="6274523" y="4878485"/>
            <a:ext cx="5455920" cy="84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(*1)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VIF + 3종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GridSearch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RUL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(BN+LN 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(*2)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6탭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altLang="ko-KR" sz="12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79EF70C5-8A1C-C5EC-B54E-AAE3667AA23D}"/>
              </a:ext>
            </a:extLst>
          </p:cNvPr>
          <p:cNvSpPr/>
          <p:nvPr/>
        </p:nvSpPr>
        <p:spPr>
          <a:xfrm>
            <a:off x="465905" y="1335024"/>
            <a:ext cx="11173101" cy="789865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F580D9B1-D797-E2F6-B7D3-D39C01B3943F}"/>
              </a:ext>
            </a:extLst>
          </p:cNvPr>
          <p:cNvSpPr/>
          <p:nvPr/>
        </p:nvSpPr>
        <p:spPr>
          <a:xfrm>
            <a:off x="648786" y="1327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3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E5CE6DA-E886-54D8-AB78-A3AA83A62A57}"/>
              </a:ext>
            </a:extLst>
          </p:cNvPr>
          <p:cNvSpPr/>
          <p:nvPr/>
        </p:nvSpPr>
        <p:spPr>
          <a:xfrm>
            <a:off x="552992" y="1549527"/>
            <a:ext cx="11173101" cy="575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핵심부품 베어링의 기존 정기 점검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(PM)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보통 분 단위 잔여수명을 예측 못하고 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경보에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머뭄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열화 상태를 반영하지 못해 과잉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과소 점검이 반복되는 한계 →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진동·온도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ML·DL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학습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분류로 즉시 이상 판정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DL RUL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 시점 조기경보 → 현장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753BABE-3BED-1D63-5E80-1AB5DC04BE01}"/>
              </a:ext>
            </a:extLst>
          </p:cNvPr>
          <p:cNvGrpSpPr/>
          <p:nvPr/>
        </p:nvGrpSpPr>
        <p:grpSpPr>
          <a:xfrm>
            <a:off x="465905" y="2101963"/>
            <a:ext cx="11457432" cy="2431893"/>
            <a:chOff x="274320" y="1136022"/>
            <a:chExt cx="11643360" cy="2402041"/>
          </a:xfrm>
        </p:grpSpPr>
        <p:sp>
          <p:nvSpPr>
            <p:cNvPr id="40" name="rect">
              <a:extLst>
                <a:ext uri="{FF2B5EF4-FFF2-40B4-BE49-F238E27FC236}">
                  <a16:creationId xmlns:a16="http://schemas.microsoft.com/office/drawing/2014/main" id="{E7817C48-448E-9FE5-FB81-EDA42413F94B}"/>
                </a:ext>
              </a:extLst>
            </p:cNvPr>
            <p:cNvSpPr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06C5BC8-358C-AC92-03BA-E878D24E9571}"/>
                </a:ext>
              </a:extLst>
            </p:cNvPr>
            <p:cNvSpPr txBox="1"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① ML 단계</a:t>
              </a:r>
            </a:p>
          </p:txBody>
        </p:sp>
        <p:sp>
          <p:nvSpPr>
            <p:cNvPr id="42" name="rect">
              <a:extLst>
                <a:ext uri="{FF2B5EF4-FFF2-40B4-BE49-F238E27FC236}">
                  <a16:creationId xmlns:a16="http://schemas.microsoft.com/office/drawing/2014/main" id="{90A555DC-80A9-209E-2DC2-3A9866CC6E63}"/>
                </a:ext>
              </a:extLst>
            </p:cNvPr>
            <p:cNvSpPr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E4DEE19-428F-FFE1-29ED-6023683D7046}"/>
                </a:ext>
              </a:extLst>
            </p:cNvPr>
            <p:cNvSpPr txBox="1"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정상 / 열화 분류</a:t>
              </a:r>
            </a:p>
          </p:txBody>
        </p:sp>
        <p:sp>
          <p:nvSpPr>
            <p:cNvPr id="44" name="rect">
              <a:extLst>
                <a:ext uri="{FF2B5EF4-FFF2-40B4-BE49-F238E27FC236}">
                  <a16:creationId xmlns:a16="http://schemas.microsoft.com/office/drawing/2014/main" id="{19B104EE-3C83-682F-940E-90E2F3B9576D}"/>
                </a:ext>
              </a:extLst>
            </p:cNvPr>
            <p:cNvSpPr/>
            <p:nvPr/>
          </p:nvSpPr>
          <p:spPr>
            <a:xfrm>
              <a:off x="274320" y="2379823"/>
              <a:ext cx="3698240" cy="1144976"/>
            </a:xfrm>
            <a:prstGeom prst="rect">
              <a:avLst/>
            </a:prstGeom>
            <a:solidFill>
              <a:srgbClr val="E8F0FE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AB60381-2906-62FC-A847-70AB89FF00EE}"/>
                </a:ext>
              </a:extLst>
            </p:cNvPr>
            <p:cNvSpPr txBox="1"/>
            <p:nvPr/>
          </p:nvSpPr>
          <p:spPr>
            <a:xfrm>
              <a:off x="347472" y="2425543"/>
              <a:ext cx="358851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RandomForest · XGBoost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RMS · 첨도 · 크레스트 인자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열화 확률(%) · 임계값 기반 판정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'지금 이상이 있는가?' 1차 경보</a:t>
              </a:r>
            </a:p>
          </p:txBody>
        </p:sp>
        <p:sp>
          <p:nvSpPr>
            <p:cNvPr id="46" name="rect">
              <a:extLst>
                <a:ext uri="{FF2B5EF4-FFF2-40B4-BE49-F238E27FC236}">
                  <a16:creationId xmlns:a16="http://schemas.microsoft.com/office/drawing/2014/main" id="{842C1599-81AC-3FF5-8815-B72BA3BE877E}"/>
                </a:ext>
              </a:extLst>
            </p:cNvPr>
            <p:cNvSpPr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260EEE1-B5E6-7847-8AB8-B2B728E0C123}"/>
                </a:ext>
              </a:extLst>
            </p:cNvPr>
            <p:cNvSpPr txBox="1"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② DL 단계</a:t>
              </a:r>
            </a:p>
          </p:txBody>
        </p:sp>
        <p:sp>
          <p:nvSpPr>
            <p:cNvPr id="48" name="rect">
              <a:extLst>
                <a:ext uri="{FF2B5EF4-FFF2-40B4-BE49-F238E27FC236}">
                  <a16:creationId xmlns:a16="http://schemas.microsoft.com/office/drawing/2014/main" id="{8C9D28B9-B872-1785-2974-4D5A9844A2DD}"/>
                </a:ext>
              </a:extLst>
            </p:cNvPr>
            <p:cNvSpPr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3483E00-3B67-CE85-1B41-E43E036836FC}"/>
                </a:ext>
              </a:extLst>
            </p:cNvPr>
            <p:cNvSpPr txBox="1"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잔여수명(RUL) 정밀 예측</a:t>
              </a:r>
            </a:p>
          </p:txBody>
        </p:sp>
        <p:sp>
          <p:nvSpPr>
            <p:cNvPr id="50" name="rect">
              <a:extLst>
                <a:ext uri="{FF2B5EF4-FFF2-40B4-BE49-F238E27FC236}">
                  <a16:creationId xmlns:a16="http://schemas.microsoft.com/office/drawing/2014/main" id="{40029F22-09C0-ECB8-8C7B-32A5392BB8B5}"/>
                </a:ext>
              </a:extLst>
            </p:cNvPr>
            <p:cNvSpPr/>
            <p:nvPr/>
          </p:nvSpPr>
          <p:spPr>
            <a:xfrm>
              <a:off x="4246880" y="2379823"/>
              <a:ext cx="3698240" cy="1127271"/>
            </a:xfrm>
            <a:prstGeom prst="rect">
              <a:avLst/>
            </a:prstGeom>
            <a:solidFill>
              <a:srgbClr val="E6F7E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98643F0-BD28-085A-1BC1-36F831C9EDC2}"/>
                </a:ext>
              </a:extLst>
            </p:cNvPr>
            <p:cNvSpPr txBox="1"/>
            <p:nvPr/>
          </p:nvSpPr>
          <p:spPr>
            <a:xfrm>
              <a:off x="4320031" y="2425543"/>
              <a:ext cx="368709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GRU v2 (Batch Norm + Layer Norm)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시계열 시퀀스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잔여 가동 시간(분) 예측값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'언제 교체해야 하는가?' 정밀 예측</a:t>
              </a:r>
            </a:p>
          </p:txBody>
        </p:sp>
        <p:sp>
          <p:nvSpPr>
            <p:cNvPr id="52" name="rect">
              <a:extLst>
                <a:ext uri="{FF2B5EF4-FFF2-40B4-BE49-F238E27FC236}">
                  <a16:creationId xmlns:a16="http://schemas.microsoft.com/office/drawing/2014/main" id="{0EA0A4B2-2E66-2269-2E38-10869B6D1EAB}"/>
                </a:ext>
              </a:extLst>
            </p:cNvPr>
            <p:cNvSpPr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F30FAC-C269-9063-D1EB-A54F12AF56D0}"/>
                </a:ext>
              </a:extLst>
            </p:cNvPr>
            <p:cNvSpPr txBox="1"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③ CNN + Grad-CAM</a:t>
              </a:r>
            </a:p>
          </p:txBody>
        </p:sp>
        <p:sp>
          <p:nvSpPr>
            <p:cNvPr id="54" name="rect">
              <a:extLst>
                <a:ext uri="{FF2B5EF4-FFF2-40B4-BE49-F238E27FC236}">
                  <a16:creationId xmlns:a16="http://schemas.microsoft.com/office/drawing/2014/main" id="{43661050-86D4-E55F-9D44-71A054788089}"/>
                </a:ext>
              </a:extLst>
            </p:cNvPr>
            <p:cNvSpPr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77D3E57-AA1D-8882-F50A-1F2526609527}"/>
                </a:ext>
              </a:extLst>
            </p:cNvPr>
            <p:cNvSpPr txBox="1"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고장 부위·시점 시각화</a:t>
              </a:r>
            </a:p>
          </p:txBody>
        </p:sp>
        <p:sp>
          <p:nvSpPr>
            <p:cNvPr id="56" name="rect">
              <a:extLst>
                <a:ext uri="{FF2B5EF4-FFF2-40B4-BE49-F238E27FC236}">
                  <a16:creationId xmlns:a16="http://schemas.microsoft.com/office/drawing/2014/main" id="{72802C0F-3593-B838-C06F-A5F40436293A}"/>
                </a:ext>
              </a:extLst>
            </p:cNvPr>
            <p:cNvSpPr/>
            <p:nvPr/>
          </p:nvSpPr>
          <p:spPr>
            <a:xfrm>
              <a:off x="8219440" y="2379823"/>
              <a:ext cx="3698240" cy="1158240"/>
            </a:xfrm>
            <a:prstGeom prst="rect">
              <a:avLst/>
            </a:prstGeom>
            <a:solidFill>
              <a:srgbClr val="FDEDED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D88A6-177E-8506-1664-2E3E950D7F98}"/>
                </a:ext>
              </a:extLst>
            </p:cNvPr>
            <p:cNvSpPr txBox="1"/>
            <p:nvPr/>
          </p:nvSpPr>
          <p:spPr>
            <a:xfrm>
              <a:off x="8292592" y="2425543"/>
              <a:ext cx="3625088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CNN (Conv2D × 3 레이어)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신호 → matplotlib 이미지 변환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Grad-CAM: 마지막 Conv 기울기 역전파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  → 히트맵으로 '어느 시점이 위험했나' 표시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XAI — CNN 판정 근거 시각화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B071E40-B5E4-EBAE-B683-9F80DCAB31C9}"/>
                </a:ext>
              </a:extLst>
            </p:cNvPr>
            <p:cNvSpPr txBox="1"/>
            <p:nvPr/>
          </p:nvSpPr>
          <p:spPr>
            <a:xfrm>
              <a:off x="621647" y="1136022"/>
              <a:ext cx="111101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① ML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이상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탐지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② DL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잔여수명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예측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③ CNN + Grad-CAM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시각화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정비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의사결정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지원</a:t>
              </a:r>
              <a:endParaRPr sz="14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B32F-3D66-4802-6DD4-7A7F4B28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057F863-2313-0169-F778-1647BEDCE8BF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–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endParaRPr lang="en-US" sz="2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19FDA9-EAF1-80DB-FF49-A2E2F45FCDB5}"/>
              </a:ext>
            </a:extLst>
          </p:cNvPr>
          <p:cNvSpPr/>
          <p:nvPr/>
        </p:nvSpPr>
        <p:spPr>
          <a:xfrm>
            <a:off x="175589" y="1207008"/>
            <a:ext cx="11739647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5235C04-36F0-2428-6B48-1E5C9BBF47B0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D095ED91-A19B-9F95-F2E3-AFD8B75C6AE8}"/>
              </a:ext>
            </a:extLst>
          </p:cNvPr>
          <p:cNvGraphicFramePr>
            <a:graphicFrameLocks noGrp="1"/>
          </p:cNvGraphicFramePr>
          <p:nvPr/>
        </p:nvGraphicFramePr>
        <p:xfrm>
          <a:off x="296090" y="1295408"/>
          <a:ext cx="11120850" cy="16132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3475">
                  <a:extLst>
                    <a:ext uri="{9D8B030D-6E8A-4147-A177-3AD203B41FA5}">
                      <a16:colId xmlns:a16="http://schemas.microsoft.com/office/drawing/2014/main" val="2603455264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208655350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618776979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41343765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929491547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94411172"/>
                    </a:ext>
                  </a:extLst>
                </a:gridCol>
              </a:tblGrid>
              <a:tr h="664675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①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데이터 수집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② EDA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분석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③ </a:t>
                      </a:r>
                      <a:r>
                        <a:rPr lang="ko-KR" sz="1400" dirty="0" err="1">
                          <a:effectLst/>
                          <a:latin typeface="+mn-ea"/>
                          <a:ea typeface="+mn-ea"/>
                        </a:rPr>
                        <a:t>전처리</a:t>
                      </a: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피처공학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④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모델 학습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⑤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성능 평가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⑥ 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서비스</a:t>
                      </a:r>
                      <a:endParaRPr lang="ko-KR" sz="160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2942391"/>
                  </a:ext>
                </a:extLst>
              </a:tr>
              <a:tr h="94857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FEMTO-ST IEEE PHM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공개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진동 트렌드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피처 상관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RUL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분포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슬라이딩 윈도우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MinMaxScaler·VIF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GRU +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비교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4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BN+LN,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그리드서치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RMSE·MAE·OOS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검증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RF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대비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개선율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Streamlit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5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Cloud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33348562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2B05D154-75C1-8482-FD61-61BE435CC397}"/>
              </a:ext>
            </a:extLst>
          </p:cNvPr>
          <p:cNvSpPr txBox="1"/>
          <p:nvPr/>
        </p:nvSpPr>
        <p:spPr>
          <a:xfrm>
            <a:off x="296090" y="5497578"/>
            <a:ext cx="4589419" cy="112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(12</a:t>
            </a: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개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진동 신호에서 통계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9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물리 도메인 기반 파생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총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12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구성</a:t>
            </a:r>
          </a:p>
        </p:txBody>
      </p:sp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0B90ED96-FABE-772D-DA3E-0BACA83E27CF}"/>
              </a:ext>
            </a:extLst>
          </p:cNvPr>
          <p:cNvGraphicFramePr>
            <a:graphicFrameLocks noGrp="1"/>
          </p:cNvGraphicFramePr>
          <p:nvPr/>
        </p:nvGraphicFramePr>
        <p:xfrm>
          <a:off x="4545875" y="3291576"/>
          <a:ext cx="6871066" cy="3071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1132">
                  <a:extLst>
                    <a:ext uri="{9D8B030D-6E8A-4147-A177-3AD203B41FA5}">
                      <a16:colId xmlns:a16="http://schemas.microsoft.com/office/drawing/2014/main" val="2118025423"/>
                    </a:ext>
                  </a:extLst>
                </a:gridCol>
                <a:gridCol w="1394768">
                  <a:extLst>
                    <a:ext uri="{9D8B030D-6E8A-4147-A177-3AD203B41FA5}">
                      <a16:colId xmlns:a16="http://schemas.microsoft.com/office/drawing/2014/main" val="2802695600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2326098918"/>
                    </a:ext>
                  </a:extLst>
                </a:gridCol>
                <a:gridCol w="3567669">
                  <a:extLst>
                    <a:ext uri="{9D8B030D-6E8A-4147-A177-3AD203B41FA5}">
                      <a16:colId xmlns:a16="http://schemas.microsoft.com/office/drawing/2014/main" val="1739870543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피처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정의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구분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도메인 의미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7459085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h_rms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√mean(x²)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진동 에너지</a:t>
                      </a:r>
                      <a:r>
                        <a:rPr lang="en-US" sz="1050">
                          <a:effectLst/>
                        </a:rPr>
                        <a:t> (</a:t>
                      </a:r>
                      <a:r>
                        <a:rPr lang="ko-KR" sz="1050">
                          <a:effectLst/>
                        </a:rPr>
                        <a:t>핵심 지시자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474637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E[x⁴]/σ⁴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충격성</a:t>
                      </a:r>
                      <a:r>
                        <a:rPr lang="en-US" sz="1050">
                          <a:effectLst/>
                        </a:rPr>
                        <a:t> (≥3 = </a:t>
                      </a:r>
                      <a:r>
                        <a:rPr lang="ko-KR" sz="1050">
                          <a:effectLst/>
                        </a:rPr>
                        <a:t>결함 신호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9750607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E[x³]/σ³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분포 비대칭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초기 결함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09786620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max|x|/RMS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원본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최대</a:t>
                      </a:r>
                      <a:r>
                        <a:rPr lang="en-US" sz="1050">
                          <a:effectLst/>
                        </a:rPr>
                        <a:t>/RMS </a:t>
                      </a:r>
                      <a:r>
                        <a:rPr lang="ko-KR" sz="1050">
                          <a:effectLst/>
                        </a:rPr>
                        <a:t>비율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피크 충격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84141776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√mean(y²)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수직 진동 에너지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246911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E[y⁴]/σ⁴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충격성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622875201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E[y³]/σ³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분포 비대칭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3639813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max|y</a:t>
                      </a:r>
                      <a:r>
                        <a:rPr lang="en-US" sz="1050" dirty="0">
                          <a:effectLst/>
                        </a:rPr>
                        <a:t>|/RMS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피크 충격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95271035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temp_mean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mean(T)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마찰열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>
                          <a:effectLst/>
                        </a:rPr>
                        <a:t>열화 진행 지시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1108918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energy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h_rms² + v_rms²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총 진동 에너지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1416198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health_idx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× 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건강 지수</a:t>
                      </a:r>
                      <a:r>
                        <a:rPr lang="en-US" sz="1050" dirty="0">
                          <a:effectLst/>
                        </a:rPr>
                        <a:t>(</a:t>
                      </a:r>
                      <a:r>
                        <a:rPr lang="ko-KR" sz="1050" dirty="0">
                          <a:effectLst/>
                        </a:rPr>
                        <a:t>크기</a:t>
                      </a:r>
                      <a:r>
                        <a:rPr lang="en-US" sz="1050" dirty="0">
                          <a:effectLst/>
                        </a:rPr>
                        <a:t>×</a:t>
                      </a:r>
                      <a:r>
                        <a:rPr lang="ko-KR" sz="1050" dirty="0">
                          <a:effectLst/>
                        </a:rPr>
                        <a:t>충격성</a:t>
                      </a:r>
                      <a:r>
                        <a:rPr lang="en-US" sz="1050" dirty="0">
                          <a:effectLst/>
                        </a:rPr>
                        <a:t>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05245839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rms_ratio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/ 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방향 불균형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 err="1">
                          <a:effectLst/>
                        </a:rPr>
                        <a:t>편마모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48025099"/>
                  </a:ext>
                </a:extLst>
              </a:tr>
            </a:tbl>
          </a:graphicData>
        </a:graphic>
      </p:graphicFrame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D15C36BD-8F42-08AE-C9FA-F17647F04F34}"/>
              </a:ext>
            </a:extLst>
          </p:cNvPr>
          <p:cNvGraphicFramePr>
            <a:graphicFrameLocks noGrp="1"/>
          </p:cNvGraphicFramePr>
          <p:nvPr/>
        </p:nvGraphicFramePr>
        <p:xfrm>
          <a:off x="296095" y="3291575"/>
          <a:ext cx="3884020" cy="2117766"/>
        </p:xfrm>
        <a:graphic>
          <a:graphicData uri="http://schemas.openxmlformats.org/drawingml/2006/table">
            <a:tbl>
              <a:tblPr/>
              <a:tblGrid>
                <a:gridCol w="116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</a:t>
                      </a:r>
                      <a:r>
                        <a:rPr lang="en-US" altLang="ko-KR" sz="9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(*3)</a:t>
                      </a: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0">
            <a:extLst>
              <a:ext uri="{FF2B5EF4-FFF2-40B4-BE49-F238E27FC236}">
                <a16:creationId xmlns:a16="http://schemas.microsoft.com/office/drawing/2014/main" id="{52644C5B-20DF-75BA-B1D8-86C5935D0B77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0B03501-31A8-E250-F8A9-F7123737CF96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6890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43F4F-3B32-98B1-580B-6758D856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ACD4A0D-02B3-6847-FB1D-C4A029F34721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탐색적 데이터 분석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(EDA)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1C0EF0D-94CA-34AB-93C3-2FF31EE98C3F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5C474-1F18-6CFC-AE71-2B007ED76347}"/>
              </a:ext>
            </a:extLst>
          </p:cNvPr>
          <p:cNvSpPr txBox="1"/>
          <p:nvPr/>
        </p:nvSpPr>
        <p:spPr>
          <a:xfrm>
            <a:off x="374467" y="1229127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트렌드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h_rms×h_kurt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복합지수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health_idx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단일 피처보다 강한 신호를 제공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말기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20~30%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구간에서 비선형 급상승 패턴이 관찰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2DD7D5D-BC08-D496-860B-051734DFC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598054"/>
              </p:ext>
            </p:extLst>
          </p:nvPr>
        </p:nvGraphicFramePr>
        <p:xfrm>
          <a:off x="5529942" y="1395793"/>
          <a:ext cx="6064649" cy="17131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121">
                  <a:extLst>
                    <a:ext uri="{9D8B030D-6E8A-4147-A177-3AD203B41FA5}">
                      <a16:colId xmlns:a16="http://schemas.microsoft.com/office/drawing/2014/main" val="3639521874"/>
                    </a:ext>
                  </a:extLst>
                </a:gridCol>
                <a:gridCol w="1231072">
                  <a:extLst>
                    <a:ext uri="{9D8B030D-6E8A-4147-A177-3AD203B41FA5}">
                      <a16:colId xmlns:a16="http://schemas.microsoft.com/office/drawing/2014/main" val="2834292871"/>
                    </a:ext>
                  </a:extLst>
                </a:gridCol>
                <a:gridCol w="1360658">
                  <a:extLst>
                    <a:ext uri="{9D8B030D-6E8A-4147-A177-3AD203B41FA5}">
                      <a16:colId xmlns:a16="http://schemas.microsoft.com/office/drawing/2014/main" val="3818874549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825755490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2081787565"/>
                    </a:ext>
                  </a:extLst>
                </a:gridCol>
              </a:tblGrid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초기</a:t>
                      </a:r>
                      <a:r>
                        <a:rPr lang="en-US" sz="900">
                          <a:effectLst/>
                        </a:rPr>
                        <a:t>(</a:t>
                      </a:r>
                      <a:r>
                        <a:rPr lang="ko-KR" sz="900">
                          <a:effectLst/>
                        </a:rPr>
                        <a:t>정상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말기</a:t>
                      </a:r>
                      <a:r>
                        <a:rPr lang="en-US" sz="900" dirty="0">
                          <a:effectLst/>
                        </a:rPr>
                        <a:t>(</a:t>
                      </a:r>
                      <a:r>
                        <a:rPr lang="ko-KR" sz="900" dirty="0">
                          <a:effectLst/>
                        </a:rPr>
                        <a:t>열화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트렌드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예측 기여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668641287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h_rms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0.02~0.05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91766896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3.0~4.0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5.0 </a:t>
                      </a:r>
                      <a:r>
                        <a:rPr lang="ko-KR" sz="900">
                          <a:effectLst/>
                        </a:rPr>
                        <a:t>이상 급등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55603262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health_idx(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낮음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64207339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낮음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7980250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temp_mean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~25°C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서서히 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완만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★★☆☆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90002730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rms_ratio(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~1.0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변동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↕ </a:t>
                      </a:r>
                      <a:r>
                        <a:rPr lang="ko-KR" sz="900">
                          <a:effectLst/>
                        </a:rPr>
                        <a:t>불규칙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★☆☆☆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058339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C144E1-765B-D0F0-BD70-CB1BC2CF2CE4}"/>
              </a:ext>
            </a:extLst>
          </p:cNvPr>
          <p:cNvSpPr txBox="1"/>
          <p:nvPr/>
        </p:nvSpPr>
        <p:spPr>
          <a:xfrm>
            <a:off x="374467" y="3630556"/>
            <a:ext cx="5155476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RUL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분포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분포 형태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0~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 범위에 걸침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초기 정상 구간 비율이 높아 오른쪽으로 치우친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(right-skew)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분포로 열화 구간 데이터가 상대적으로 적음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▸ </a:t>
            </a:r>
            <a:r>
              <a:rPr lang="ko-KR" altLang="en-US" sz="1150" dirty="0" err="1">
                <a:latin typeface="+mn-ea"/>
                <a:cs typeface="맑은 고딕" panose="020B0503020000020004" pitchFamily="50" charset="-127"/>
              </a:rPr>
              <a:t>전처리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함의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수명 편차가 커서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MinMaxScaler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독립 적용 필요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순차 시계열이므로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변환</a:t>
            </a:r>
            <a:r>
              <a:rPr lang="ko-KR" altLang="en-US" sz="1150" dirty="0">
                <a:latin typeface="+mn-ea"/>
              </a:rPr>
              <a:t>과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GroupKFold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베어링 분리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중복 학습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 방지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가 필수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F04E04D-A242-CE0E-BEAF-5517DB013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95737"/>
              </p:ext>
            </p:extLst>
          </p:nvPr>
        </p:nvGraphicFramePr>
        <p:xfrm>
          <a:off x="5529942" y="3686329"/>
          <a:ext cx="6064649" cy="1382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5452">
                  <a:extLst>
                    <a:ext uri="{9D8B030D-6E8A-4147-A177-3AD203B41FA5}">
                      <a16:colId xmlns:a16="http://schemas.microsoft.com/office/drawing/2014/main" val="2891460750"/>
                    </a:ext>
                  </a:extLst>
                </a:gridCol>
                <a:gridCol w="4639197">
                  <a:extLst>
                    <a:ext uri="{9D8B030D-6E8A-4147-A177-3AD203B41FA5}">
                      <a16:colId xmlns:a16="http://schemas.microsoft.com/office/drawing/2014/main" val="1305413457"/>
                    </a:ext>
                  </a:extLst>
                </a:gridCol>
              </a:tblGrid>
              <a:tr h="226616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03080505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RUL </a:t>
                      </a:r>
                      <a:r>
                        <a:rPr lang="ko-KR" sz="900">
                          <a:effectLst/>
                        </a:rPr>
                        <a:t>범위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 ~ </a:t>
                      </a:r>
                      <a:r>
                        <a:rPr lang="ko-KR" sz="900">
                          <a:effectLst/>
                        </a:rPr>
                        <a:t>약</a:t>
                      </a:r>
                      <a:r>
                        <a:rPr lang="en-US" sz="900">
                          <a:effectLst/>
                        </a:rPr>
                        <a:t> 2,800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베어링별 수명 상이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28070106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분포 특성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오른쪽 편향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초기 정상 구간 비율 높음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335128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스케일 불균형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베어링간 수명 편차 크므로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en-US" sz="900" dirty="0" err="1">
                          <a:effectLst/>
                        </a:rPr>
                        <a:t>MinMaxScaler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독립 적용 필수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4830723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시계열 의존성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순차 시계열</a:t>
                      </a:r>
                      <a:r>
                        <a:rPr lang="en-US" sz="900">
                          <a:effectLst/>
                        </a:rPr>
                        <a:t> → </a:t>
                      </a:r>
                      <a:r>
                        <a:rPr lang="ko-KR" sz="900">
                          <a:effectLst/>
                        </a:rPr>
                        <a:t>슬라이딩 윈도우 시퀀스 변환 필요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0370839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그룹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동일 베어링 중복 학습 방지</a:t>
                      </a:r>
                      <a:r>
                        <a:rPr lang="en-US" sz="900" dirty="0">
                          <a:effectLst/>
                        </a:rPr>
                        <a:t> → </a:t>
                      </a: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적용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043880590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251A13AC-385F-2C4C-28A9-CCF45B928C4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61036FD-266D-AF35-A1D0-79A6B8EE3B5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802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9202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0168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RF·XGB 피처 중요도 1위(0.52·0.94</a:t>
            </a:r>
            <a:r>
              <a:rPr lang="en-US" sz="1100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en-US" sz="1250" i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305040" y="3288358"/>
            <a:ext cx="5394960" cy="5882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CV 우위 RF·XGB가 OOS Recall 0.5대로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급락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pPr marL="0" indent="0">
              <a:buNone/>
            </a:pP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   &amp;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단순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LR(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LogReg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)이 새 베어링에 잘 전이 → OOS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최적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269369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868680" y="4419595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795369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813657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35252" y="4786225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50422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5060545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187220" y="5033113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289145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307433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06759" y="5280001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53603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554321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2723449" y="5526889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782921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801209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2546787" y="5773777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45752" y="639426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AAF4E-89A9-A220-27D4-364CF5A2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96CF49-0AA8-42A0-53BD-CCDEAEEF81E9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55252C-47D4-56E8-4B15-DF3298914F3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DD138F-39DF-8EE1-E59E-719EA7D4E9A6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피처 엔지니어링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298CCBB-0ACF-371A-43DA-8215B7D587BD}"/>
              </a:ext>
            </a:extLst>
          </p:cNvPr>
          <p:cNvSpPr/>
          <p:nvPr/>
        </p:nvSpPr>
        <p:spPr>
          <a:xfrm>
            <a:off x="9445752" y="649006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42E04-E43D-238B-1784-630B58C80267}"/>
              </a:ext>
            </a:extLst>
          </p:cNvPr>
          <p:cNvSpPr txBox="1"/>
          <p:nvPr/>
        </p:nvSpPr>
        <p:spPr>
          <a:xfrm>
            <a:off x="374467" y="1110884"/>
            <a:ext cx="5155476" cy="167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전처리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파이프라인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가속도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CSV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RMS·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첨도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왜도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크레스트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등 스냅샷당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기본 피처 추출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energy·health_idx·rms_ratio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파생을 더해 총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만듬</a:t>
            </a:r>
            <a:endParaRPr lang="en-US" altLang="ko-KR" sz="1150" dirty="0"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온도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결측은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단계 처리로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건까지 메움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VIF&lt;10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기준으로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모두 채택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train(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3) / test(OOS 11)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</a:rPr>
              <a:t>베어링 단위 완전 분리해 데이터 누수 차단</a:t>
            </a:r>
            <a:endParaRPr lang="en-US" altLang="ko-KR" sz="115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68624-1C2D-CB99-3EFC-551A55B6E7F2}"/>
              </a:ext>
            </a:extLst>
          </p:cNvPr>
          <p:cNvSpPr txBox="1"/>
          <p:nvPr/>
        </p:nvSpPr>
        <p:spPr>
          <a:xfrm>
            <a:off x="374467" y="3934414"/>
            <a:ext cx="5155476" cy="1382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시퀀스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최종 모델은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20·stride 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시퀀스를 구성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 20, 12)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입력과 윈도우 끝 다음 시점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라벨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 </a:t>
            </a: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5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 비교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·RF-LSTM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30)</a:t>
            </a: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그룹 키는 베어링 이름으로 두어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베어링 단위로 분리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4BB96B2-607D-7E5A-1885-EBC60613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6168"/>
              </p:ext>
            </p:extLst>
          </p:nvPr>
        </p:nvGraphicFramePr>
        <p:xfrm>
          <a:off x="5590466" y="1131884"/>
          <a:ext cx="5943600" cy="1279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870135473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321903783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13656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단계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처리 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결과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8349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 추출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 CSV → RMS/Kurtosis/Skewness/Crest, temp CSV → </a:t>
                      </a:r>
                      <a:r>
                        <a:rPr lang="ko-KR" sz="900">
                          <a:effectLst/>
                        </a:rPr>
                        <a:t>평균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스냅샷당</a:t>
                      </a:r>
                      <a:r>
                        <a:rPr lang="en-US" sz="900">
                          <a:effectLst/>
                        </a:rPr>
                        <a:t> 9</a:t>
                      </a:r>
                      <a:r>
                        <a:rPr lang="ko-KR" sz="900">
                          <a:effectLst/>
                        </a:rPr>
                        <a:t>개 기본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6388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물리 파생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 / health_idx / rms_ratio </a:t>
                      </a:r>
                      <a:r>
                        <a:rPr lang="ko-KR" sz="900">
                          <a:effectLst/>
                        </a:rPr>
                        <a:t>추가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최종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2975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온도 결측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① </a:t>
                      </a:r>
                      <a:r>
                        <a:rPr lang="ko-KR" sz="900">
                          <a:effectLst/>
                        </a:rPr>
                        <a:t>선형보간</a:t>
                      </a:r>
                      <a:r>
                        <a:rPr lang="en-US" sz="900">
                          <a:effectLst/>
                        </a:rPr>
                        <a:t> → ② bfill/ffill → ③ median (3</a:t>
                      </a:r>
                      <a:r>
                        <a:rPr lang="ko-KR" sz="900">
                          <a:effectLst/>
                        </a:rPr>
                        <a:t>단계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결측</a:t>
                      </a:r>
                      <a:r>
                        <a:rPr lang="en-US" sz="900">
                          <a:effectLst/>
                        </a:rPr>
                        <a:t> 0</a:t>
                      </a:r>
                      <a:r>
                        <a:rPr lang="ko-KR" sz="900">
                          <a:effectLst/>
                        </a:rPr>
                        <a:t>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728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VIF </a:t>
                      </a:r>
                      <a:r>
                        <a:rPr lang="ko-KR" sz="900">
                          <a:effectLst/>
                        </a:rPr>
                        <a:t>분석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statsmodels VIF &lt; 10 </a:t>
                      </a:r>
                      <a:r>
                        <a:rPr lang="ko-KR" sz="900">
                          <a:effectLst/>
                        </a:rPr>
                        <a:t>기준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전체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89094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train(</a:t>
                      </a:r>
                      <a:r>
                        <a:rPr lang="ko-KR" sz="900">
                          <a:effectLst/>
                        </a:rPr>
                        <a:t>학습</a:t>
                      </a:r>
                      <a:r>
                        <a:rPr lang="en-US" sz="900">
                          <a:effectLst/>
                        </a:rPr>
                        <a:t> 3) / test(OOS 11) </a:t>
                      </a:r>
                      <a:r>
                        <a:rPr lang="ko-KR" sz="900">
                          <a:effectLst/>
                        </a:rPr>
                        <a:t>베어링 완전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데이터 누수 차단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90680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34EB4B-DB3F-A67C-A996-7F9C938DA5C7}"/>
              </a:ext>
            </a:extLst>
          </p:cNvPr>
          <p:cNvSpPr txBox="1"/>
          <p:nvPr/>
        </p:nvSpPr>
        <p:spPr>
          <a:xfrm>
            <a:off x="374466" y="2885198"/>
            <a:ext cx="11295019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온도 결측 처리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3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단계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①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선형 보간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interpolate(method='linear')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시계열 연속성 보존  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②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양방향 채움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().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시작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끝 결측 처리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③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전체 중앙값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fillna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(median())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해당 베어링 온도 파일 전무 시 최후 수단 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SimpleImputer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전역 평균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온도 상승 경향성을 무시하므로 사용 안함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BAFF24B-D9EB-60A5-88EC-0DBA94CB8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634063"/>
              </p:ext>
            </p:extLst>
          </p:nvPr>
        </p:nvGraphicFramePr>
        <p:xfrm>
          <a:off x="5529943" y="3989698"/>
          <a:ext cx="5943600" cy="12752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412695516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83932153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545648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 err="1">
                          <a:effectLst/>
                        </a:rPr>
                        <a:t>설정값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근거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27460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Window size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20 (</a:t>
                      </a:r>
                      <a:r>
                        <a:rPr lang="ko-KR" sz="900">
                          <a:effectLst/>
                        </a:rPr>
                        <a:t>최종</a:t>
                      </a:r>
                      <a:r>
                        <a:rPr lang="en-US" sz="900">
                          <a:effectLst/>
                        </a:rPr>
                        <a:t>) / 30 (5</a:t>
                      </a:r>
                      <a:r>
                        <a:rPr lang="ko-KR" sz="900">
                          <a:effectLst/>
                        </a:rPr>
                        <a:t>종 비교</a:t>
                      </a:r>
                      <a:r>
                        <a:rPr lang="en-US" sz="900">
                          <a:effectLst/>
                        </a:rPr>
                        <a:t>·RF-LSTM)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그리드서치 결과 최종 모델은</a:t>
                      </a:r>
                      <a:r>
                        <a:rPr lang="en-US" sz="900">
                          <a:effectLst/>
                        </a:rPr>
                        <a:t> 20 </a:t>
                      </a:r>
                      <a:r>
                        <a:rPr lang="ko-KR" sz="900">
                          <a:effectLst/>
                        </a:rPr>
                        <a:t>채택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3661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Stride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 (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r>
                        <a:rPr lang="ko-KR" sz="900">
                          <a:effectLst/>
                        </a:rPr>
                        <a:t>분 간격</a:t>
                      </a:r>
                      <a:r>
                        <a:rPr lang="en-US" sz="900">
                          <a:effectLst/>
                        </a:rPr>
                        <a:t> → stride=1</a:t>
                      </a:r>
                      <a:r>
                        <a:rPr lang="ko-KR" sz="900">
                          <a:effectLst/>
                        </a:rPr>
                        <a:t>로 최대 학습 샘플 확보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77236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 W, 12)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N=</a:t>
                      </a:r>
                      <a:r>
                        <a:rPr lang="ko-KR" sz="900">
                          <a:effectLst/>
                        </a:rPr>
                        <a:t>시퀀스 수</a:t>
                      </a:r>
                      <a:r>
                        <a:rPr lang="en-US" sz="900">
                          <a:effectLst/>
                        </a:rPr>
                        <a:t>, W=</a:t>
                      </a:r>
                      <a:r>
                        <a:rPr lang="ko-KR" sz="900">
                          <a:effectLst/>
                        </a:rPr>
                        <a:t>윈도우</a:t>
                      </a:r>
                      <a:r>
                        <a:rPr lang="en-US" sz="900">
                          <a:effectLst/>
                        </a:rPr>
                        <a:t>, 12=</a:t>
                      </a: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989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y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윈도우 끝 다음 시점</a:t>
                      </a:r>
                      <a:r>
                        <a:rPr lang="en-US" sz="900">
                          <a:effectLst/>
                        </a:rPr>
                        <a:t> RUL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604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Group key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bearing </a:t>
                      </a:r>
                      <a:r>
                        <a:rPr lang="ko-KR" sz="900" dirty="0">
                          <a:effectLst/>
                        </a:rPr>
                        <a:t>이름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베어링 단위 분리 기준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6915285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C861E9E-9C63-47A9-1EB5-F2DA9E733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943" y="5413461"/>
            <a:ext cx="6004123" cy="10955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9834FD-0121-ABF2-F914-6D254D69E008}"/>
              </a:ext>
            </a:extLst>
          </p:cNvPr>
          <p:cNvSpPr txBox="1"/>
          <p:nvPr/>
        </p:nvSpPr>
        <p:spPr>
          <a:xfrm>
            <a:off x="403641" y="5469565"/>
            <a:ext cx="5155476" cy="829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스케일링 전략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값의 베어링간 편차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(0~2,800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50" dirty="0" err="1">
                <a:latin typeface="+mn-ea"/>
              </a:rPr>
              <a:t>X·y</a:t>
            </a:r>
            <a:r>
              <a:rPr lang="ko-KR" altLang="en-US" sz="1150" dirty="0">
                <a:latin typeface="+mn-ea"/>
              </a:rPr>
              <a:t>를 독립 스케일링 </a:t>
            </a:r>
            <a:r>
              <a:rPr lang="en-US" altLang="ko-KR" sz="1150" dirty="0">
                <a:latin typeface="+mn-ea"/>
              </a:rPr>
              <a:t>→ </a:t>
            </a:r>
            <a:r>
              <a:rPr lang="ko-KR" altLang="en-US" sz="1150" dirty="0">
                <a:latin typeface="+mn-ea"/>
              </a:rPr>
              <a:t>예측 후 </a:t>
            </a:r>
            <a:r>
              <a:rPr lang="ko-KR" altLang="en-US" sz="1150" dirty="0" err="1">
                <a:latin typeface="+mn-ea"/>
              </a:rPr>
              <a:t>역변환하여</a:t>
            </a:r>
            <a:r>
              <a:rPr lang="ko-KR" altLang="en-US" sz="1150" dirty="0">
                <a:latin typeface="+mn-ea"/>
              </a:rPr>
              <a:t> 분 단위로 복원</a:t>
            </a:r>
            <a:endParaRPr lang="en-US" altLang="ko-KR" sz="115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399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151D-37B7-EBFE-3AD7-857235DC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C994AF-83E9-EA0A-B273-0F8706D97C5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FF36E9-C657-6775-5D4F-432263A9B84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79B666-CA3C-DFF7-904F-9F98102D7630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ML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 분류</a:t>
            </a:r>
            <a:endParaRPr lang="en-US" altLang="ko-KR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D9130E5-B35B-4E90-3238-70025AEEA0CB}"/>
              </a:ext>
            </a:extLst>
          </p:cNvPr>
          <p:cNvSpPr/>
          <p:nvPr/>
        </p:nvSpPr>
        <p:spPr>
          <a:xfrm>
            <a:off x="9445752" y="6472647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7CE4D-4A29-0EE4-EB10-ACB6A0C358A2}"/>
              </a:ext>
            </a:extLst>
          </p:cNvPr>
          <p:cNvSpPr txBox="1"/>
          <p:nvPr/>
        </p:nvSpPr>
        <p:spPr>
          <a:xfrm>
            <a:off x="277802" y="1059743"/>
            <a:ext cx="10746379" cy="54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학습 설정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RandomForest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종을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GridSearchCV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최적화하고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CV(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테스트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평가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B19791-F3F2-4C44-13AB-F4D60EFDCD5E}"/>
              </a:ext>
            </a:extLst>
          </p:cNvPr>
          <p:cNvSpPr txBox="1"/>
          <p:nvPr/>
        </p:nvSpPr>
        <p:spPr>
          <a:xfrm>
            <a:off x="374467" y="4073758"/>
            <a:ext cx="5155476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중요도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RandomForest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(0.52)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(0.23)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v_rms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(0.16)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전체 중요도의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이상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단일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0.941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더 집중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모델 입력에서 제거 대상이 아니라 최상위 예측 인자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698C6-66F5-5EB8-4F13-A54A6C42C3DB}"/>
              </a:ext>
            </a:extLst>
          </p:cNvPr>
          <p:cNvSpPr txBox="1"/>
          <p:nvPr/>
        </p:nvSpPr>
        <p:spPr>
          <a:xfrm>
            <a:off x="277802" y="1714715"/>
            <a:ext cx="5512527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CV vs OOS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성능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소스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femto_ml_results.json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- 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강했던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RF·XGB(F1 0.49·0.94)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 0.505·0.513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급락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과적합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.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단순 선형 경계의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LR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 새 베어링에 더 잘 전이되어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 Recall 0.890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최적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(_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best_model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=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3FEB6-4803-4A82-2A93-2E82BF57C0A9}"/>
              </a:ext>
            </a:extLst>
          </p:cNvPr>
          <p:cNvSpPr txBox="1"/>
          <p:nvPr/>
        </p:nvSpPr>
        <p:spPr>
          <a:xfrm>
            <a:off x="403641" y="5608909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Recall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중심 평가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현장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관점</a:t>
            </a:r>
            <a:endParaRPr lang="en-US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현업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PdM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에서는 고장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미탐지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(FN)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비용이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오경보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(FP)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비용보다 훨씬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핵심 지표로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4679103-2DD5-59A3-0C5A-C853EC112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89273"/>
              </p:ext>
            </p:extLst>
          </p:nvPr>
        </p:nvGraphicFramePr>
        <p:xfrm>
          <a:off x="5788152" y="1781407"/>
          <a:ext cx="5943600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8308931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3852198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58646563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34107428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38667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7674359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324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0.965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0.939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0.175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0.295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0.880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1641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0.972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0.322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0.487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0839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0.943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0.995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242818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AB367CE-1544-DF1F-ABB0-0F061E976BA6}"/>
              </a:ext>
            </a:extLst>
          </p:cNvPr>
          <p:cNvSpPr txBox="1"/>
          <p:nvPr/>
        </p:nvSpPr>
        <p:spPr>
          <a:xfrm>
            <a:off x="7334794" y="2598715"/>
            <a:ext cx="262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교차검증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(CV)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학습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3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42BC2AF6-1FAE-5102-201B-0934DD78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30768"/>
              </p:ext>
            </p:extLst>
          </p:nvPr>
        </p:nvGraphicFramePr>
        <p:xfrm>
          <a:off x="5790329" y="2930750"/>
          <a:ext cx="5943599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93855">
                  <a:extLst>
                    <a:ext uri="{9D8B030D-6E8A-4147-A177-3AD203B41FA5}">
                      <a16:colId xmlns:a16="http://schemas.microsoft.com/office/drawing/2014/main" val="2847689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59237237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268685755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63013297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95317898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3134022421"/>
                    </a:ext>
                  </a:extLst>
                </a:gridCol>
                <a:gridCol w="1219529">
                  <a:extLst>
                    <a:ext uri="{9D8B030D-6E8A-4147-A177-3AD203B41FA5}">
                      <a16:colId xmlns:a16="http://schemas.microsoft.com/office/drawing/2014/main" val="2010006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평가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51892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 OOS </a:t>
                      </a:r>
                      <a:r>
                        <a:rPr lang="ko-KR" sz="900">
                          <a:effectLst/>
                        </a:rPr>
                        <a:t>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06766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0.920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OOS </a:t>
                      </a:r>
                      <a:r>
                        <a:rPr lang="ko-KR" sz="900">
                          <a:effectLst/>
                        </a:rPr>
                        <a:t>일반화</a:t>
                      </a:r>
                      <a:r>
                        <a:rPr lang="en-US" sz="900">
                          <a:effectLst/>
                        </a:rPr>
                        <a:t>↓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9600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0.758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 </a:t>
                      </a:r>
                      <a:r>
                        <a:rPr lang="ko-KR" sz="900" dirty="0">
                          <a:effectLst/>
                        </a:rPr>
                        <a:t>일반화</a:t>
                      </a:r>
                      <a:r>
                        <a:rPr lang="en-US" sz="900" dirty="0">
                          <a:effectLst/>
                        </a:rPr>
                        <a:t>↓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24123676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E5D0A86-E2EF-3589-D3E4-04D7834630D5}"/>
              </a:ext>
            </a:extLst>
          </p:cNvPr>
          <p:cNvSpPr txBox="1"/>
          <p:nvPr/>
        </p:nvSpPr>
        <p:spPr>
          <a:xfrm>
            <a:off x="7209825" y="3927818"/>
            <a:ext cx="41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OOS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테스트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11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(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실제 일반화 성능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CCEF5D9-EE0E-9A51-C8B1-C0A64661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25854"/>
              </p:ext>
            </p:extLst>
          </p:nvPr>
        </p:nvGraphicFramePr>
        <p:xfrm>
          <a:off x="5806875" y="4280634"/>
          <a:ext cx="5943600" cy="8488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18605797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9859827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6560769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1901970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76036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h_crest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0.052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2299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0.226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h_skew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0.031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563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0.157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v_crest / v_kurt / v_skew / temp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≈0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766507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F36A46B-81DD-4215-3484-75ED27A3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23338"/>
              </p:ext>
            </p:extLst>
          </p:nvPr>
        </p:nvGraphicFramePr>
        <p:xfrm>
          <a:off x="5806875" y="5677896"/>
          <a:ext cx="5943600" cy="6396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8441403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3065852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12988278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43898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구간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현장 권장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14627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CV(</a:t>
                      </a:r>
                      <a:r>
                        <a:rPr lang="ko-KR" sz="900">
                          <a:effectLst/>
                        </a:rPr>
                        <a:t>학습 베어링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(F1=0.943)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(Recall=0.893)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276467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OOS(</a:t>
                      </a:r>
                      <a:r>
                        <a:rPr lang="ko-KR" sz="900" dirty="0">
                          <a:effectLst/>
                        </a:rPr>
                        <a:t>테스트</a:t>
                      </a:r>
                      <a:r>
                        <a:rPr lang="en-US" sz="900" dirty="0">
                          <a:effectLst/>
                        </a:rPr>
                        <a:t> 11</a:t>
                      </a:r>
                      <a:r>
                        <a:rPr lang="ko-KR" sz="900" dirty="0">
                          <a:effectLst/>
                        </a:rPr>
                        <a:t>개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(F1=0.817)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(Recall=0.890)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LR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572376810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BC39884-3F7A-6A9C-49AF-B5FA2AE9B81C}"/>
              </a:ext>
            </a:extLst>
          </p:cNvPr>
          <p:cNvSpPr txBox="1"/>
          <p:nvPr/>
        </p:nvSpPr>
        <p:spPr>
          <a:xfrm>
            <a:off x="7209825" y="5309951"/>
            <a:ext cx="3814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Recall </a:t>
            </a:r>
            <a:r>
              <a:rPr lang="ko-KR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중심 평가 기준</a:t>
            </a:r>
            <a:endParaRPr lang="ko-KR" altLang="en-US" sz="1200" b="1" dirty="0">
              <a:solidFill>
                <a:srgbClr val="1F4E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83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+mj-ea"/>
                <a:ea typeface="+mj-ea"/>
                <a:cs typeface="Malgun Gothic" pitchFamily="34" charset="-120"/>
              </a:rPr>
              <a:t>누적 개선:  </a:t>
            </a:r>
            <a:r>
              <a:rPr lang="en-US" sz="1400" dirty="0">
                <a:solidFill>
                  <a:srgbClr val="22303C"/>
                </a:solidFill>
                <a:latin typeface="+mj-ea"/>
                <a:ea typeface="+mj-ea"/>
                <a:cs typeface="Malgun Gothic" pitchFamily="34" charset="-120"/>
              </a:rPr>
              <a:t>RF 954.52분 → GRU v2 810.38분  (OOS RMSE 15.08% ↓, MAE 757.71→665.63)</a:t>
            </a:r>
          </a:p>
          <a:p>
            <a:r>
              <a:rPr lang="ko-KR" altLang="ko-KR" sz="1400" dirty="0">
                <a:latin typeface="+mj-ea"/>
                <a:ea typeface="+mj-ea"/>
              </a:rPr>
              <a:t>GRU 기반 표준 골격(</a:t>
            </a:r>
            <a:r>
              <a:rPr lang="ko-KR" altLang="ko-KR" sz="1400" dirty="0" err="1">
                <a:latin typeface="+mj-ea"/>
                <a:ea typeface="+mj-ea"/>
              </a:rPr>
              <a:t>GRU→Dense</a:t>
            </a:r>
            <a:r>
              <a:rPr lang="ko-KR" altLang="ko-KR" sz="1400" dirty="0">
                <a:latin typeface="+mj-ea"/>
                <a:ea typeface="+mj-ea"/>
              </a:rPr>
              <a:t>)</a:t>
            </a:r>
            <a:r>
              <a:rPr lang="ko-KR" altLang="ko-KR" sz="1400" dirty="0" err="1">
                <a:latin typeface="+mj-ea"/>
                <a:ea typeface="+mj-ea"/>
              </a:rPr>
              <a:t>에</a:t>
            </a:r>
            <a:r>
              <a:rPr lang="ko-KR" altLang="ko-KR" sz="1400" dirty="0">
                <a:latin typeface="+mj-ea"/>
                <a:ea typeface="+mj-ea"/>
              </a:rPr>
              <a:t>, 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커스텀으로 ⟨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2개 + 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1개⟩를 위치까지 설계해 삽입한 구조 = GRU v2</a:t>
            </a:r>
            <a:endParaRPr lang="en-US" altLang="ko-KR" sz="1400" b="1" dirty="0">
              <a:solidFill>
                <a:srgbClr val="1F3A5F"/>
              </a:solidFill>
              <a:latin typeface="+mj-ea"/>
              <a:ea typeface="+mj-ea"/>
            </a:endParaRPr>
          </a:p>
          <a:p>
            <a:r>
              <a:rPr lang="ko-KR" altLang="ko-KR" sz="1400" dirty="0" err="1">
                <a:latin typeface="+mj-ea"/>
                <a:ea typeface="+mj-ea"/>
              </a:rPr>
              <a:t>Input</a:t>
            </a:r>
            <a:r>
              <a:rPr lang="ko-KR" altLang="ko-KR" sz="1400" dirty="0">
                <a:latin typeface="+mj-ea"/>
                <a:ea typeface="+mj-ea"/>
              </a:rPr>
              <a:t>(20,12)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 → ⟨</a:t>
            </a:r>
            <a:r>
              <a:rPr lang="ko-KR" altLang="ko-KR" sz="1400" b="1" dirty="0" err="1"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(32)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(1)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74095" y="5357674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219456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ML vs DL 종합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226912"/>
              </p:ext>
            </p:extLst>
          </p:nvPr>
        </p:nvGraphicFramePr>
        <p:xfrm>
          <a:off x="635760" y="1325882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r>
                        <a:rPr lang="en-US" altLang="ko-KR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(*1</a:t>
                      </a:r>
                      <a:r>
                        <a:rPr lang="ko-KR" altLang="en-US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40080" y="4023364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40233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005076"/>
            <a:ext cx="1051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OOS RMSE 15.08% 개선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443981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444398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425693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)→ML /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진짜 시계열(분당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측정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)→DL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우세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0080" y="4873319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487331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55031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CV 우위 RF·XGB는 3개 베어링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→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새 베어링엔 단순 LR이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전이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우수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40080" y="5302648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5302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284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교체 경보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선제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발령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11</a:t>
            </a:r>
            <a:endParaRPr lang="en-US" sz="9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6B4181E-151B-B8A9-BF0D-F83A33621BAC}"/>
              </a:ext>
            </a:extLst>
          </p:cNvPr>
          <p:cNvSpPr/>
          <p:nvPr/>
        </p:nvSpPr>
        <p:spPr>
          <a:xfrm>
            <a:off x="635760" y="5812531"/>
            <a:ext cx="11064240" cy="6339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+mn-ea"/>
                <a:cs typeface="Malgun Gothic" pitchFamily="34" charset="-120"/>
              </a:rPr>
              <a:t>(*1) </a:t>
            </a:r>
            <a:r>
              <a:rPr lang="ko-KR" altLang="ko-KR" sz="1200" dirty="0">
                <a:latin typeface="+mn-ea"/>
              </a:rPr>
              <a:t>라벨 없는 신규 설비</a:t>
            </a:r>
            <a:r>
              <a:rPr lang="ko-KR" altLang="en-US" sz="1200" dirty="0">
                <a:latin typeface="+mn-ea"/>
              </a:rPr>
              <a:t>용</a:t>
            </a:r>
            <a:r>
              <a:rPr lang="en-US" altLang="ko-KR" sz="1200" b="1" dirty="0">
                <a:latin typeface="+mn-ea"/>
              </a:rPr>
              <a:t>, 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비지도의 강점(라벨 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불필요·조기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 감지)과 지도의 강점(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정밀·해석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)</a:t>
            </a:r>
            <a:r>
              <a:rPr lang="en-US" altLang="ko-KR" sz="1200" b="1" dirty="0">
                <a:solidFill>
                  <a:srgbClr val="138496"/>
                </a:solidFill>
                <a:latin typeface="+mn-ea"/>
              </a:rPr>
              <a:t>  </a:t>
            </a:r>
          </a:p>
          <a:p>
            <a:r>
              <a:rPr lang="en-US" altLang="ko-KR" sz="1200" b="1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(Autoencoder 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비지도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 없는 신규 설비에서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뭔가 평소와 다르다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를 조기 감지 → 넓게 후보를 거름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 </a:t>
            </a:r>
            <a:r>
              <a:rPr lang="en-US" altLang="ko-KR" sz="1200" dirty="0">
                <a:latin typeface="+mn-ea"/>
              </a:rPr>
              <a:t>2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(RF/LR,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라벨이 쌓인 뒤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어느 단계 열화인지</a:t>
            </a:r>
            <a:r>
              <a:rPr lang="en-US" altLang="ko-KR" sz="1200" dirty="0">
                <a:latin typeface="+mn-ea"/>
              </a:rPr>
              <a:t>" </a:t>
            </a:r>
            <a:r>
              <a:rPr lang="ko-KR" altLang="en-US" sz="1200" dirty="0">
                <a:latin typeface="+mn-ea"/>
              </a:rPr>
              <a:t>정밀 분류 → 정확히 판정</a:t>
            </a:r>
            <a:endParaRPr lang="en-US" altLang="ko-KR" sz="1200" dirty="0">
              <a:latin typeface="+mn-ea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8D3AA-DF5A-7B72-76C8-E80EC5F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BDE175-D2C2-7570-BC84-66D6FB6567B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4F3291-2F53-2017-F1E5-1A41E37B407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545FD6-7C24-AF29-0878-3171FC11AA6E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Grad-CAM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진단 파이프라인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441932E-CF6F-4E8E-AB62-14506E1DAEAC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92F4AE1A-BA10-70AC-A565-0245C8827DC7}"/>
              </a:ext>
            </a:extLst>
          </p:cNvPr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 이상탐지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RUL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시각화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완성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5641FC70-05FC-38F9-1754-8037B4DD8A06}"/>
              </a:ext>
            </a:extLst>
          </p:cNvPr>
          <p:cNvSpPr/>
          <p:nvPr/>
        </p:nvSpPr>
        <p:spPr>
          <a:xfrm>
            <a:off x="274320" y="1398819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0603E7DF-86B4-95BE-CC8A-D283F2AD6FF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64579"/>
          <a:ext cx="5349240" cy="2057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7B72C188-82B0-4AFF-BA41-7C5317E55DF7}"/>
              </a:ext>
            </a:extLst>
          </p:cNvPr>
          <p:cNvSpPr/>
          <p:nvPr/>
        </p:nvSpPr>
        <p:spPr>
          <a:xfrm>
            <a:off x="5760720" y="4223863"/>
            <a:ext cx="6156960" cy="20574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전통 </a:t>
            </a:r>
            <a:r>
              <a:rPr lang="en-US" altLang="ko-KR" sz="1250" b="1" dirty="0" err="1">
                <a:solidFill>
                  <a:srgbClr val="138496"/>
                </a:solidFill>
                <a:latin typeface="Malgun Gothic"/>
              </a:rPr>
              <a:t>PdM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은 보통 분 단위 잔여수명을 예측하지 못하고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임계값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 경보에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머뭄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 </a:t>
            </a: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그래서 본 프로젝트는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RUL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을 분 단위로 추정하되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,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-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딥러닝 베이스라인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(RF, OOS RMSE 954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대비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DL(810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15%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개선</a:t>
            </a:r>
            <a:endParaRPr lang="en-US" altLang="ko-KR" sz="1250" b="1" dirty="0">
              <a:solidFill>
                <a:srgbClr val="138496"/>
              </a:solidFill>
              <a:latin typeface="Malgun Gothic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산업적으로도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AI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도입 시 정지 감소가 전통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30~50%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에서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40~60%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커지는 것과 같은 방향</a:t>
            </a:r>
            <a:endParaRPr sz="1250" b="1" dirty="0">
              <a:solidFill>
                <a:srgbClr val="138496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860D5-E3FB-90B2-C7F7-D2BD748C2E81}"/>
              </a:ext>
            </a:extLst>
          </p:cNvPr>
          <p:cNvSpPr txBox="1"/>
          <p:nvPr/>
        </p:nvSpPr>
        <p:spPr>
          <a:xfrm>
            <a:off x="5943600" y="3848629"/>
            <a:ext cx="493776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기존 현장 대비 비교</a:t>
            </a:r>
            <a:endParaRPr sz="13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7640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74320"/>
            <a:ext cx="10607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결론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. 두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구성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— 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-Guard) ↔ DL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(RUL+ML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통합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현장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데이터를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두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앱이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구독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—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역할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분담과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상호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연결</a:t>
            </a:r>
            <a:endParaRPr sz="13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417320"/>
            <a:ext cx="4206240" cy="7315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현장 데이터</a:t>
            </a:r>
          </a:p>
          <a:p>
            <a:pPr algn="ctr"/>
            <a:r>
              <a:rPr sz="1000" b="0" i="0">
                <a:solidFill>
                  <a:srgbClr val="6B7785"/>
                </a:solidFill>
                <a:latin typeface="Malgun Gothic"/>
              </a:rPr>
              <a:t>센서 → 엣지(1분 12피처) → 발행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63440" y="1783080"/>
            <a:ext cx="59436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57800" y="1417320"/>
            <a:ext cx="4160520" cy="73152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브로커 (MQTT) = IoT 플랫폼</a:t>
            </a:r>
          </a:p>
          <a:p>
            <a:pPr algn="ctr"/>
            <a:r>
              <a:rPr sz="1000" b="0" i="0">
                <a:solidFill>
                  <a:srgbClr val="CFDCEA"/>
                </a:solidFill>
                <a:latin typeface="Malgun Gothic"/>
              </a:rPr>
              <a:t>구독(Subscribe) — 1:N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23774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100" b="1" i="0">
                <a:solidFill>
                  <a:srgbClr val="138496"/>
                </a:solidFill>
                <a:latin typeface="Malgun Gothic"/>
              </a:rPr>
              <a:t>↓ 두 앱이 구독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108960" y="2148840"/>
            <a:ext cx="237744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2148840"/>
            <a:ext cx="128016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651760"/>
            <a:ext cx="521208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21208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① ML 과제 — PdM-Guard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D32"/>
                </a:solidFill>
                <a:latin typeface="Malgun Gothic"/>
              </a:rPr>
              <a:t>mlfactoryautomation.streamlit.app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AI4I 2020 (설비 센서)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XGBoost 열화 분류 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P(열화) 임계값 경보 · 즉시 이상 판정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"지금 이상인가?" 분류 진단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651760"/>
            <a:ext cx="5212080" cy="2514600"/>
          </a:xfrm>
          <a:prstGeom prst="roundRect">
            <a:avLst/>
          </a:prstGeom>
          <a:solidFill>
            <a:srgbClr val="F2F7FB"/>
          </a:solidFill>
          <a:ln w="2222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28232" y="2651760"/>
            <a:ext cx="521208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② DL 과제 — 현재 발표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5B6"/>
                </a:solidFill>
                <a:latin typeface="Malgun Gothic"/>
              </a:rPr>
              <a:t>dlfactoryautomation.streamlit.app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FEMTO-ST (진동·온도 시계열)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GRU RUL(DL) + AE 이상(DL) + LR·RF 분류(ML)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잔여수명 예측 + 이상탐지 + 통합 진단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A5F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"얼마 남았나?" RUL + ML 통합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79008" y="3703320"/>
            <a:ext cx="630936" cy="0"/>
          </a:xfrm>
          <a:prstGeom prst="line">
            <a:avLst/>
          </a:prstGeom>
          <a:ln w="28575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42432" y="3767328"/>
            <a:ext cx="704088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앱</a:t>
            </a:r>
          </a:p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 dirty="0" err="1">
                <a:solidFill>
                  <a:srgbClr val="D98A00"/>
                </a:solidFill>
                <a:latin typeface="Malgun Gothic"/>
              </a:rPr>
              <a:t>개념</a:t>
            </a:r>
            <a:r>
              <a:rPr sz="1250" b="1" i="0" dirty="0">
                <a:solidFill>
                  <a:srgbClr val="D98A00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)은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목적이고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그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아래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(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PdM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-Guard)=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전담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, DL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=RUL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예측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중심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+ 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분류까지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통합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입니다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FFFFFF"/>
                </a:solidFill>
                <a:latin typeface="Malgun Gothic"/>
              </a:rPr>
              <a:t>→ 두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앱은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링크로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연결된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상호보완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구성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DL앱의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"ML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설비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→"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버튼으로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이동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(ML)는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지금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?", RUL(DL)은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얼마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남았나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?"를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담당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13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EA198BC5-C3E0-A9B2-765C-1BC57001511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1339EE66-BC98-8490-B6B7-A2B011AF5F7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426420"/>
            <a:ext cx="10515600" cy="48218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altLang="ko-KR" sz="28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altLang="ko-KR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한계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포지셔</a:t>
            </a:r>
            <a:r>
              <a:rPr lang="ko-KR" altLang="en-US" sz="2500" b="1" i="0" dirty="0" err="1">
                <a:solidFill>
                  <a:srgbClr val="1F3A5F"/>
                </a:solidFill>
                <a:latin typeface="Malgun Gothic"/>
              </a:rPr>
              <a:t>닝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98448"/>
            <a:ext cx="61264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sz="1400" b="1" i="0" dirty="0">
                <a:solidFill>
                  <a:srgbClr val="1F3A5F"/>
                </a:solidFill>
                <a:latin typeface="Malgun Gothic"/>
              </a:rPr>
              <a:t>RUL 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예측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 (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빠른 성과 우선</a:t>
            </a:r>
            <a:r>
              <a:rPr lang="en-US" altLang="ko-KR" sz="1400" b="1" i="0" dirty="0">
                <a:solidFill>
                  <a:srgbClr val="1F3A5F"/>
                </a:solidFill>
                <a:latin typeface="Malgun Gothic"/>
              </a:rPr>
              <a:t>)</a:t>
            </a:r>
            <a:endParaRPr sz="1400" b="1" i="0" dirty="0">
              <a:solidFill>
                <a:srgbClr val="1F3A5F"/>
              </a:solidFill>
              <a:latin typeface="Malgun Gothi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306705"/>
              </p:ext>
            </p:extLst>
          </p:nvPr>
        </p:nvGraphicFramePr>
        <p:xfrm>
          <a:off x="457200" y="1664208"/>
          <a:ext cx="6126480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항목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성능개선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① Attention + SHAP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열화 말기 가중 · 근거 해설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−100~200분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~3개월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② 앙상블 GRU+1D-CNN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스태킹(RF+GBM+AE) · 견고성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−150~300분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③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실시간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파이프라인</a:t>
                      </a:r>
                      <a:endParaRPr sz="1100" b="1" i="0" dirty="0">
                        <a:solidFill>
                          <a:srgbClr val="1F3A5F"/>
                        </a:solidFill>
                        <a:latin typeface="Malgun Gothic"/>
                      </a:endParaRP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Kafka+IoT 연속 시계열 (tile 대체)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−200~400분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~6–9개월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④ 실공장 · 다설비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전이학습(EfficientNetB0) · 多조건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범용성 ↑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~12개월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1298448"/>
            <a:ext cx="493776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한계점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(Limitations)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64208"/>
            <a:ext cx="4919472" cy="23317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7개뿐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일반화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제약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운전조건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(1800 rpm)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2채널만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온도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·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센서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없음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배치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처리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실시간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RF는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라벨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필요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신규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설비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공백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비지도로 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1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차 보완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)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187952"/>
            <a:ext cx="11274552" cy="93268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101600" rtlCol="0" anchor="ctr"/>
          <a:lstStyle/>
          <a:p>
            <a:pPr algn="l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포지셔닝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(LR Recall 0.89) +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임계값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=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조기경보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파이프라인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회귀는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남은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추세'의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지표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의사결정은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분류기가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담당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  <a:p>
            <a:pPr algn="l"/>
            <a:r>
              <a:rPr sz="1250" b="0" i="0" dirty="0">
                <a:solidFill>
                  <a:srgbClr val="22303C"/>
                </a:solidFill>
                <a:latin typeface="Malgun Gothic"/>
              </a:rPr>
              <a:t>→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정밀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추정기'가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'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조기경보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파이프라인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구성요소'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포지셔닝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74552" cy="10241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5440680"/>
            <a:ext cx="868680" cy="384048"/>
          </a:xfrm>
          <a:prstGeom prst="roundRect">
            <a:avLst/>
          </a:prstGeom>
          <a:solidFill>
            <a:srgbClr val="E3A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142A47"/>
                </a:solidFill>
                <a:latin typeface="Malgun Gothic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349240"/>
            <a:ext cx="9875520" cy="89611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진단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리포트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자동화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(GPT-4o)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ML·DL의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열화확률·RUL·임계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초과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)을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받아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사람이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읽는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보고서로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생성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250" b="0" i="0" dirty="0">
                <a:solidFill>
                  <a:srgbClr val="CFDCEA"/>
                </a:solidFill>
                <a:latin typeface="Malgun Gothic"/>
              </a:rPr>
              <a:t>예: "3번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급증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잔여수명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~100분 →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교체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권고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." 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판정이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'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해석·문서화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'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계층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C1C3E04-64EF-2070-F315-B76656408045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F174443C-8A0C-8849-A6B7-3DDB1181B108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FCB0E67-7DED-9A7E-27A9-A0BD2F909786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15741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15741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82669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2382669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9597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22960" y="2949597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16525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3516525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83453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2960" y="4083453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924488"/>
            <a:ext cx="5440680" cy="1338938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1203" y="5066219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395403"/>
            <a:ext cx="5120640" cy="676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57F2D248-B732-81FE-EA2F-A3A96ECD075D}"/>
              </a:ext>
            </a:extLst>
          </p:cNvPr>
          <p:cNvCxnSpPr>
            <a:cxnSpLocks/>
          </p:cNvCxnSpPr>
          <p:nvPr/>
        </p:nvCxnSpPr>
        <p:spPr>
          <a:xfrm>
            <a:off x="6486525" y="1170432"/>
            <a:ext cx="5245227" cy="1270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4">
            <a:extLst>
              <a:ext uri="{FF2B5EF4-FFF2-40B4-BE49-F238E27FC236}">
                <a16:creationId xmlns:a16="http://schemas.microsoft.com/office/drawing/2014/main" id="{D133BB57-FDE8-C6F7-4CD8-151351CD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992563"/>
              </p:ext>
            </p:extLst>
          </p:nvPr>
        </p:nvGraphicFramePr>
        <p:xfrm>
          <a:off x="6349365" y="1796668"/>
          <a:ext cx="5245227" cy="349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29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ML 판정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DL RUL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Malgun Gothic"/>
                        </a:rPr>
                        <a:t>표시</a:t>
                      </a:r>
                      <a:endParaRPr sz="1300" b="1" i="0" dirty="0">
                        <a:solidFill>
                          <a:srgbClr val="FFFFFF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(P=1.00)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144분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양호 기준 초과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D99A00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RUL 144분 </a:t>
                      </a:r>
                      <a:endParaRPr lang="en-US" sz="1250" b="1" i="0" dirty="0">
                        <a:solidFill>
                          <a:srgbClr val="22303C"/>
                        </a:solidFill>
                        <a:latin typeface="Malgun Gothic"/>
                      </a:endParaRPr>
                    </a:p>
                    <a:p>
                      <a:pPr algn="l"/>
                      <a:r>
                        <a:rPr lang="en-US"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단일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입력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추정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, 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신뢰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단일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슬라이더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입력은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시계열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복제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(tile)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추정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→ 'ML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신뢰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'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캡션으로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한계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명시</a:t>
                      </a:r>
                      <a:endParaRPr sz="10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100분</a:t>
                      </a:r>
                    </a:p>
                    <a:p>
                      <a:pPr algn="ctr"/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기준</a:t>
                      </a:r>
                      <a:r>
                        <a:rPr sz="110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2배 </a:t>
                      </a:r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이내</a:t>
                      </a:r>
                      <a:endParaRPr sz="110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C0392B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잔여수명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100분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판정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우선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50분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기준 이하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C0392B"/>
                          </a:solidFill>
                          <a:latin typeface="Malgun Gothic"/>
                        </a:rPr>
                        <a:t>●  긴급 경보: 잔여수명 50분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정상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6B7785"/>
                          </a:solidFill>
                          <a:latin typeface="Malgun Gothic"/>
                        </a:rPr>
                        <a:t>어떤 값이든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양호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주의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경보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규칙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그대로</a:t>
                      </a:r>
                      <a:endParaRPr sz="12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9B002BB-41BB-4C9A-5FFB-235A4C8EFC49}"/>
              </a:ext>
            </a:extLst>
          </p:cNvPr>
          <p:cNvSpPr txBox="1"/>
          <p:nvPr/>
        </p:nvSpPr>
        <p:spPr>
          <a:xfrm>
            <a:off x="6382512" y="1349070"/>
            <a:ext cx="5349240" cy="3488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통합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진단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— Stage 4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샘플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클릭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시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로직</a:t>
            </a:r>
            <a:endParaRPr sz="12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ML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분류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현재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이상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여부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 + DL RUL(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잔여수명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)을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결합한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경보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표시</a:t>
            </a:r>
            <a:endParaRPr sz="1250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E11C2216-109E-C9AB-D33D-4BCA69E360D8}"/>
              </a:ext>
            </a:extLst>
          </p:cNvPr>
          <p:cNvSpPr/>
          <p:nvPr/>
        </p:nvSpPr>
        <p:spPr>
          <a:xfrm>
            <a:off x="6382511" y="5361980"/>
            <a:ext cx="5257799" cy="896112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ctr"/>
          <a:lstStyle/>
          <a:p>
            <a:pPr algn="l"/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원칙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  </a:t>
            </a:r>
            <a:endParaRPr lang="en-US" sz="900" b="1" i="0" dirty="0">
              <a:solidFill>
                <a:srgbClr val="1F3A5F"/>
              </a:solidFill>
              <a:latin typeface="Malgun Gothic"/>
            </a:endParaRPr>
          </a:p>
          <a:p>
            <a:pPr algn="l"/>
            <a:r>
              <a:rPr sz="900" b="0" i="0" dirty="0">
                <a:solidFill>
                  <a:srgbClr val="22303C"/>
                </a:solidFill>
                <a:latin typeface="Malgun Gothic"/>
              </a:rPr>
              <a:t>ML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최우선으로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적용하고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DL RUL은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정보로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함께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표시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시점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슬라이더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입력은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시계열을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윈도우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길이만큼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복제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(tile)한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추정이므로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정확도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한계를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캡션으로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명시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endParaRPr lang="en-US"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정상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시에는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기존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양호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주의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규칙을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그대로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lang="ko-KR" altLang="en-US" sz="900" b="0" i="0" dirty="0">
                <a:solidFill>
                  <a:srgbClr val="22303C"/>
                </a:solidFill>
                <a:latin typeface="Malgun Gothic"/>
              </a:rPr>
              <a:t>따름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64E00A7-2D73-4F97-BE7F-5D2752355FA7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15</a:t>
            </a:r>
            <a:endParaRPr lang="en-US" sz="9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CF49BA3-8240-9CF8-82F1-BAD086AA18E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653DAB9E-0291-CE72-F1B7-C998B5962C0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Data Samples - Bearing Vibration RMS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FEMTO-ST accelerometer H/V 2-ch | 500 Hz -&gt; RMS | Stage 1 (normal) vs Stage 4 (severe)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D0-a. Stage 1 Normal - RMS ~0.4 g 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D0-b. Stage 4 Severe - spike ~7.5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88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Dataset: 7 bearings (B1_1~B3_3), 3 conditions (1800/1650/1500 rpm)
Interval: 10 sec | 1 snapshot = 25,600 samples -&gt; 1 RMS row
Labels: RUL (min) + stage (1-4) | 12 features: </a:t>
            </a:r>
            <a:r>
              <a:rPr sz="1200" b="0" dirty="0" err="1">
                <a:solidFill>
                  <a:srgbClr val="333333"/>
                </a:solidFill>
              </a:rPr>
              <a:t>h_rms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h_kurt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v_skew</a:t>
            </a:r>
            <a:r>
              <a:rPr sz="1200" b="0" dirty="0">
                <a:solidFill>
                  <a:srgbClr val="333333"/>
                </a:solidFill>
              </a:rPr>
              <a:t> ...</a:t>
            </a:r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D3CC6982-B8AF-28D4-7F2F-1463D62D4C35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Supervised + Unsupervised Learning - Rationale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419540"/>
              </p:ext>
            </p:extLst>
          </p:nvPr>
        </p:nvGraphicFramePr>
        <p:xfrm>
          <a:off x="180000" y="612000"/>
          <a:ext cx="11880000" cy="22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Supervised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Unsupervised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Learning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Label-based degradation classification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Normal-only training; recon. error detection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Field use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Labeled equipment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New equipment / no label available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OOS 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F1=0.817, Recall=0.890 (LR</a:t>
                      </a:r>
                      <a:endParaRPr sz="1100" b="0" dirty="0">
                        <a:solidFill>
                          <a:srgbClr val="222222"/>
                        </a:solidFill>
                      </a:endParaRP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AUC=0.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968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, auto threshold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Stage classification + minimize false alarm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Early detection of unknown anomaly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Accuracy + unknown anomaly detection = complete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42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RF (supervised) classifies known stages + AE (unsupervised) detects unknown anomalies = dual safety net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969A8F68-282D-6EDC-74BB-9CA9A1D5E999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23444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8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355080" y="1828800"/>
            <a:ext cx="5349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자동 설정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운영 조정현장 운영 정책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(TPR/FPR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정상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결정으로 바꾸는 경계선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비지도는 라벨이 없어 </a:t>
            </a:r>
            <a:r>
              <a:rPr lang="ko-KR" altLang="en-US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정해야 해 더 중요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1536192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1999"/>
            <a:ext cx="11064240" cy="9143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LR의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OOS ROC-AUC=0.997.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0.3~0.8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TPR :True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이상이라 맞힌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Recall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FPR: False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정상을 이상이라 잘못 부른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오경보율</a:t>
            </a:r>
            <a:endParaRPr lang="en-US" sz="1100" i="1" dirty="0">
              <a:solidFill>
                <a:srgbClr val="6B778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[Training Runs]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val_loss</a:t>
            </a:r>
            <a:r>
              <a:rPr lang="en-US"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검증 손실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, 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학습에 안 쓴 검증 데이터에서의 오차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)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기준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상위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19809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3788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[Parallel Coordinates]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파란색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우수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낮은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loss),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빨간색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열등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높은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25" y="4105656"/>
            <a:ext cx="5964000" cy="26450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63091" y="6537960"/>
            <a:ext cx="4637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dirty="0">
                <a:solidFill>
                  <a:schemeClr val="bg1"/>
                </a:solidFill>
                <a:latin typeface="Malgun Gothic"/>
              </a:rPr>
              <a:t>19</a:t>
            </a:r>
            <a:endParaRPr sz="800" b="0" dirty="0">
              <a:solidFill>
                <a:schemeClr val="bg1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92608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500" b="1" i="0">
                <a:solidFill>
                  <a:srgbClr val="1F3A5F"/>
                </a:solidFill>
                <a:latin typeface="Malgun Gothic"/>
              </a:rPr>
              <a:t>보조 분석 (SHAP · 3D · AE)</a:t>
            </a:r>
          </a:p>
          <a:p>
            <a:r>
              <a:rPr sz="1350" b="0" i="0">
                <a:solidFill>
                  <a:srgbClr val="6B7785"/>
                </a:solidFill>
                <a:latin typeface="Malgun Gothic"/>
              </a:rPr>
              <a:t>표 13. 보조 분석 결과 요약 — 본 모델 판정의 뒷받침·해석력 보강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Autoencoder 이상탐지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Encoder(64-32) + Decoder(32-64), MSE 재구성 오류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임계값 초과 → 이상 경보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ROC 임계값 최적화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FPR/TPR 커브 + Youden Index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최적 임계값 0.68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3D 산점도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h_rms · v_rms · RUL 3축 시각화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열화 패턴 군집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S1. SHAP Beeswarm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분류 모델 피처 중요도 — 양수 = 열화 예측 강화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shap.summary_plot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S3. SHAP 막대 (평균 |SHAP|)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h_rms · v_rms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순위 최상위 — 진동 RMS가 핵심 신호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summary_plot(plot_type='bar')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58384"/>
            <a:ext cx="11274552" cy="9144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016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의의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AE는 라벨 없는 이상탐지, ROC·Youden은 임계값 결정 근거, 3D·SHAP는 피처 해석력(XAI)을 제공 — </a:t>
            </a:r>
            <a:r>
              <a:rPr sz="1250" b="1" i="0">
                <a:solidFill>
                  <a:srgbClr val="FFFFFF"/>
                </a:solidFill>
                <a:latin typeface="Malgun Gothic"/>
              </a:rPr>
              <a:t>핵심 모델(GRU·LR)의 판정을 정량적으로 뒷받침하는 보조 계층입니다.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20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09ACDCFA-D916-FEE2-7367-E2286A94897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7E8E5CB-5055-5499-5A59-26AC30686A3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84048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310896"/>
            <a:ext cx="104241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신뢰성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GroupKFold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베어링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분리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OOS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무작위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분할이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아닌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'새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설비에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배포했을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때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성능'을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그대로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모사</a:t>
            </a:r>
            <a:endParaRPr sz="135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70432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무작위 분할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GroupKFold (본 프로젝트)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분리 단위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행(스냅샷) 단위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베어링 단위 통째 분리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누수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같은 베어링이 학습·평가에 혼입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원천 차단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의미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낙관적 — 성능 과대평가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새 설비 배포 성능 그대로 모사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베어링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학습 베어링과 중복 가능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미관측 새 베어링 11개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60520"/>
            <a:ext cx="11274552" cy="21214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ctr"/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학습에 한 번도 등장하지 않은 새 베어링 11개로 평가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무작위 분할보다 엄격하고 현실적입니다.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CV와 OOS를 함께 보고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과적합 여부를 투명하게 노출하는 좋은 관행입니다.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'RMSE'가 아니라 'OOS RMSE'로 명시한 것은 정확한 표기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본 프로젝트의 모든 성능 수치는 OOS(미관측 베어링)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55664"/>
            <a:ext cx="3502152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497D"/>
                </a:solidFill>
              </a:rPr>
              <a:t>ML Classification - Confusion Matrix + SHAP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RF OOS test set  |  FP vs FN tradeoff  |  Top feature ranking by SHAP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5. Confusion Matrix (RF OOS): rows=actual, cols=predicted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S3. SHAP Feature Importance Bar: h_rms / v_rms ranked top</a:t>
            </a: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A4AADCB8-AD12-1092-7E36-0ADCDEA87448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Model Selection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12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Selection Rationale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Feature importance + nonlinear robustness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Imbalanced class, sparse anomaly focus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Gradual learning, outlier robustness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High-dim margin, small data fit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Mid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Baseline, top Recall 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348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Final: RF (F1 0.920 best + interpretability) | LR considered for Recall-priority operation</a:t>
            </a: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7B3FBF-127A-F8C8-1A07-FF731147932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6091" y="320040"/>
            <a:ext cx="675537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dirty="0"/>
              <a:t>Q.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쓰나</a:t>
            </a:r>
            <a:r>
              <a:rPr dirty="0"/>
              <a:t>?  ─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유형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774763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lang="ko-KR" altLang="en-US" dirty="0"/>
              <a:t>분해 검사</a:t>
            </a:r>
            <a:r>
              <a:rPr lang="en-US" altLang="ko-KR" dirty="0"/>
              <a:t>·</a:t>
            </a:r>
            <a:r>
              <a:rPr lang="ko-KR" altLang="en-US" dirty="0"/>
              <a:t>생산 단계 외관검사 등 별도 시나리오에서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베어링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도입</a:t>
            </a:r>
            <a:r>
              <a:rPr dirty="0"/>
              <a:t> 시 → EfficientNetB0 (</a:t>
            </a:r>
            <a:r>
              <a:rPr dirty="0" err="1"/>
              <a:t>전이학습</a:t>
            </a:r>
            <a:r>
              <a:rPr dirty="0"/>
              <a:t>)  |  ResNet50 / VGG16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C34D872B-EF20-3CC1-D1AC-E397B646C95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438910"/>
            <a:ext cx="105156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400" b="1" i="0" dirty="0">
                <a:solidFill>
                  <a:srgbClr val="1F3A5F"/>
                </a:solidFill>
                <a:latin typeface="Malgun Gothic"/>
              </a:rPr>
              <a:t>기타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.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학습했으나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미적용한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실험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튜닝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시도와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보류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사유</a:t>
            </a:r>
            <a:endParaRPr sz="24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실험 · 시도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미적용 / 보류 사유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NASA Milling 데이터 학습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0392B"/>
                          </a:solidFill>
                          <a:latin typeface="Malgun Gothic"/>
                        </a:rPr>
                        <a:t>ML·DL 모두 AUC 0.500 (무작위 수준)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가공조건 혼재·표본 부족 → 전처리서 신호 소실. 전처리 개선 과제로 보류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GridSearch 하이퍼파라미터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OOS RMSE 956 (batch=16의 836보다 열위)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수동 batch=16 튜닝이 더 우수 → 최종 미채택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LSTM · BiLSTM · CNN (5종 비교)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 909.96 대비 모두 열위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GRU가 인과 시계열·경량성 우수 → GRU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SimpleImputer (전역 평균 결측대체)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온도 상승 추세 소멸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선형보간이 추세 보존 → 평균 대체 배제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window = 30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최종 window=20이 OOS 우수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비교 실험엔 30, 최종 모델은 20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80060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의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의</a:t>
            </a:r>
            <a:endParaRPr lang="en-US" altLang="ko-KR" sz="1250" b="1" i="0" dirty="0">
              <a:solidFill>
                <a:srgbClr val="FFFFFF"/>
              </a:solidFill>
              <a:latin typeface="Malgun Gothic"/>
            </a:endParaRPr>
          </a:p>
          <a:p>
            <a:pPr marL="285750" indent="-285750" algn="l">
              <a:buFontTx/>
              <a:buChar char="-"/>
            </a:pPr>
            <a:r>
              <a:rPr sz="1250" b="1" i="0" dirty="0">
                <a:solidFill>
                  <a:srgbClr val="E3A935"/>
                </a:solidFill>
                <a:latin typeface="Malgun Gothic"/>
              </a:rPr>
              <a:t>NASA Milling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사례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(ML·DL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동반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실패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)는 '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DL이면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무조건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낫다'가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성립하지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않음을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입증</a:t>
            </a:r>
            <a:endParaRPr lang="en-US" sz="125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데이터·전처리·라벨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품질이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종류보다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우선함을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보여줍니다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  <a:endParaRPr lang="en-US" sz="1250" b="0" i="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채택된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설정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(GRU·batch16·window20·선형보간)은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실험을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거친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결과입니다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실제 현장 데이터 흐름 — 센서 → 엣지 → 브로커(발행·구독) → AI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MQTT Pub/Sub 구조: 우리 ML+DL 파이프라인은 진동 토픽의 '구독자'이자 경보 '발행자'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63040"/>
            <a:ext cx="251460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① 가속도계 · 온도센서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진동 25.6kHz · 온도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463040"/>
            <a:ext cx="201168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② PLC / DAQ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신호 디지털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3200400" cy="841248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③ 엣지 게이트웨이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1분 RMS·첨도 등 12피처 압축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83664"/>
            <a:ext cx="54864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1576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 dirty="0" err="1">
                <a:solidFill>
                  <a:srgbClr val="6B7785"/>
                </a:solidFill>
                <a:latin typeface="Malgun Gothic"/>
              </a:rPr>
              <a:t>아날로그</a:t>
            </a:r>
            <a:endParaRPr sz="9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577840" y="1883664"/>
            <a:ext cx="59436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608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>
                <a:solidFill>
                  <a:srgbClr val="6B7785"/>
                </a:solidFill>
                <a:latin typeface="Malgun Gothic"/>
              </a:rPr>
              <a:t>OPC-UA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304288"/>
            <a:ext cx="0" cy="457200"/>
          </a:xfrm>
          <a:prstGeom prst="line">
            <a:avLst/>
          </a:prstGeom>
          <a:ln w="2857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2377440"/>
            <a:ext cx="201168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Malgun Gothic"/>
              </a:rPr>
              <a:t>발행 (Publish)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78608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850" b="0" i="0">
                <a:solidFill>
                  <a:srgbClr val="6B7785"/>
                </a:solidFill>
                <a:latin typeface="Malgun Gothic"/>
              </a:rPr>
              <a:t>topic: .../bearing/vibration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788920"/>
            <a:ext cx="6035040" cy="841248"/>
          </a:xfrm>
          <a:prstGeom prst="roundRect">
            <a:avLst/>
          </a:prstGeom>
          <a:solidFill>
            <a:srgbClr val="138496"/>
          </a:solidFill>
          <a:ln w="15875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④ 브로커 (MQTT Broker) = 현대오토에버 IoT 플랫폼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algun Gothic"/>
              </a:rPr>
              <a:t>발행 메시지를 구독 시스템에 실시간 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233172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시계열 DB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적재 (Influx/Timescale)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206240"/>
            <a:ext cx="237744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예지보전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(</a:t>
            </a:r>
            <a:r>
              <a:rPr lang="en-US" sz="1250" b="1" dirty="0" err="1">
                <a:solidFill>
                  <a:srgbClr val="1F3A5F"/>
                </a:solidFill>
                <a:latin typeface="Malgun Gothic"/>
              </a:rPr>
              <a:t>Pdm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)</a:t>
            </a:r>
          </a:p>
          <a:p>
            <a:pPr algn="ctr"/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센서 수치 데이터</a:t>
            </a:r>
            <a:r>
              <a:rPr lang="en-US" altLang="ko-KR" sz="950" dirty="0">
                <a:solidFill>
                  <a:srgbClr val="6B7785"/>
                </a:solidFill>
                <a:latin typeface="Malgun Gothic"/>
              </a:rPr>
              <a:t> 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ML(</a:t>
            </a:r>
            <a:r>
              <a:rPr lang="en-US" altLang="ko-KR" sz="950" b="0" i="0" dirty="0" err="1">
                <a:solidFill>
                  <a:srgbClr val="6B7785"/>
                </a:solidFill>
                <a:latin typeface="Malgun Gothic"/>
              </a:rPr>
              <a:t>XGBoost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)</a:t>
            </a:r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로 분류해 고장을 사전 진단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77840" y="4206240"/>
            <a:ext cx="196596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MES · BI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생산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06240"/>
            <a:ext cx="3977639" cy="96012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Malgun Gothic"/>
              </a:rPr>
              <a:t>★ ML+DL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파이프라인</a:t>
            </a:r>
            <a:endParaRPr sz="1250" b="1" i="0" dirty="0">
              <a:solidFill>
                <a:srgbClr val="FFFFFF"/>
              </a:solidFill>
              <a:latin typeface="Malgun Gothic"/>
            </a:endParaRPr>
          </a:p>
          <a:p>
            <a:pPr algn="ctr"/>
            <a:r>
              <a:rPr sz="950" b="0" i="0" dirty="0">
                <a:solidFill>
                  <a:srgbClr val="FFFFFF"/>
                </a:solidFill>
                <a:latin typeface="Malgun Gothic"/>
              </a:rPr>
              <a:t>GRU RUL(DL) + AE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(DL) + LR·RF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(ML)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64208" y="3630168"/>
            <a:ext cx="4462272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3630168"/>
            <a:ext cx="192024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3630168"/>
            <a:ext cx="429768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3630168"/>
            <a:ext cx="356616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712463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00" b="1" i="0">
                <a:solidFill>
                  <a:srgbClr val="138496"/>
                </a:solidFill>
                <a:latin typeface="Malgun Gothic"/>
              </a:rPr>
              <a:t>구독 (Subscribe) — 1:N 분배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9144000" y="3630168"/>
            <a:ext cx="1371600" cy="576072"/>
          </a:xfrm>
          <a:prstGeom prst="line">
            <a:avLst/>
          </a:prstGeom>
          <a:ln w="25400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37192" y="3534156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50" b="1" i="0">
                <a:solidFill>
                  <a:srgbClr val="D98A00"/>
                </a:solidFill>
                <a:latin typeface="Malgun Gothic"/>
              </a:rPr>
              <a:t>경보 재발행 (alert)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76200" rtlCol="0" anchor="ctr"/>
          <a:lstStyle/>
          <a:p>
            <a:pPr algn="l"/>
            <a:r>
              <a:rPr sz="1200" b="1" i="0" dirty="0" err="1">
                <a:solidFill>
                  <a:srgbClr val="2E75B6"/>
                </a:solidFill>
                <a:latin typeface="Malgun Gothic"/>
              </a:rPr>
              <a:t>개념</a:t>
            </a:r>
            <a:r>
              <a:rPr sz="1200" b="1" i="0" dirty="0">
                <a:solidFill>
                  <a:srgbClr val="2E75B6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)은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목적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이고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그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수단으로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ML(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: LR·RF)+DL(GRU RUL·AE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이상탐지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)을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모두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포함</a:t>
            </a:r>
            <a:endParaRPr sz="120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22303C"/>
                </a:solidFill>
                <a:latin typeface="Malgun Gothic"/>
              </a:rPr>
              <a:t>→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진동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토픽의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구독자'로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데이터를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받아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진단하고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결과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경보를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다시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발행'해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통합관제·LLM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진단으로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넘기는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겸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발행자</a:t>
            </a:r>
            <a:endParaRPr sz="11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27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디지털 트윈 확장 — 예측 엔진에서 베어링 디지털 트윈으로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현재 구축한 RUL·이상탐지·대시보드 = 디지털 트윈의 예측 엔진 · 실시간·연계 추가 시 확장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32120" cy="530352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✔ 현재 구축 — 디지털 트윈 '예측 엔진'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실시간 센서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진동·온도 12피처 (MQTT 구독)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상태 예측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GRU RUL + AE 이상탐지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이상 감지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임계값 경보 · 조기 경보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모니터링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Streamlit 통합 진단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5532120" cy="530352"/>
          </a:xfrm>
          <a:prstGeom prst="round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⏳ 디지털 트윈 완성 위해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실시간 스트림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배치 → Kafka/MQTT 실시간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시스템 연계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MES · IoT 플랫폼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양방향 동기화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가상↔실제 실시간 · 물리모델(선택)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현재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예측 엔진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+실시간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Kafka/MQTT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79" y="4535424"/>
            <a:ext cx="274321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+연계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MES·IoT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4160520"/>
            <a:ext cx="1965960" cy="749808"/>
          </a:xfrm>
          <a:prstGeom prst="roundRect">
            <a:avLst/>
          </a:prstGeom>
          <a:solidFill>
            <a:srgbClr val="138496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디지털 트윈</a:t>
            </a:r>
          </a:p>
          <a:p>
            <a:pPr algn="ctr"/>
            <a:r>
              <a:rPr sz="950" b="0" i="0">
                <a:solidFill>
                  <a:srgbClr val="CFDCEA"/>
                </a:solidFill>
                <a:latin typeface="Malgun Gothic"/>
              </a:rPr>
              <a:t>베어링 가상복제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+LLM 진단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SD브레인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11274552" cy="868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635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정직한 표현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현재는 디지털 트윈의 '핵심 예측 엔진'까지 구축 — 실시간 동기화·MES 연계·물리모델을 더하면 완성됩니다.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→ "디지털 트윈 구현"이 아닌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"예측 엔진 구축 + 디지털 트윈 확장 가능"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으로 제시 (현대오토에버 IoT·SD브레인 방향과 정합).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55664"/>
            <a:ext cx="30449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50" b="0" i="0">
                <a:solidFill>
                  <a:srgbClr val="6B7785"/>
                </a:solidFill>
                <a:latin typeface="Malgun Gothic"/>
              </a:rPr>
              <a:t>허남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DL 과제의 라벨 생성·학습 흐름 — RUL 하나에서 회귀·분류·이상탐지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FEMTO엔 고장/정상 라벨이 없음 → run-to-failure로 RUL을 계산해 3가지 학습에 활용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0" y="1325880"/>
            <a:ext cx="4873752" cy="5486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FEMTO 원본 데이터 (run-to-failure, 고장까지 돌림)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1874519"/>
            <a:ext cx="0" cy="301753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91840" y="2176272"/>
            <a:ext cx="5605272" cy="603504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50" b="1" i="0">
                <a:solidFill>
                  <a:srgbClr val="2E75B6"/>
                </a:solidFill>
                <a:latin typeface="Malgun Gothic"/>
              </a:rPr>
              <a:t>RUL 계산 = 고장시점 − 현재  (연속 라벨, 자동 생성)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86000" y="2779776"/>
            <a:ext cx="2286000" cy="420624"/>
          </a:xfrm>
          <a:prstGeom prst="line">
            <a:avLst/>
          </a:prstGeom>
          <a:ln w="2032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9904" y="2779776"/>
            <a:ext cx="54864" cy="420624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0" y="1874519"/>
            <a:ext cx="1691640" cy="1325881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798064"/>
            <a:ext cx="2103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Malgun Gothic"/>
              </a:rPr>
              <a:t>RUL을 정답으로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98064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2E7D32"/>
                </a:solidFill>
                <a:latin typeface="Malgun Gothic"/>
              </a:rPr>
              <a:t>RUL→임계값→라벨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138496"/>
                </a:solidFill>
                <a:latin typeface="Malgun Gothic"/>
              </a:rPr>
              <a:t>정상 데이터만 (RUL 미사용)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56616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①  GRU v2 회귀  (DL)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RUL(연속값)을 정답으로 학습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Malgun Gothic"/>
              </a:rPr>
              <a:t>"몇 분 남았나?"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F3A5F"/>
                </a:solidFill>
                <a:latin typeface="Malgun Gothic"/>
              </a:rPr>
              <a:t>OOS RMSE 810분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15968" y="3246120"/>
            <a:ext cx="356616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②  LR · RF 분류  (ML)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RUL을 임계값으로 잘라 만든 정상/열화 라벨(파생)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E7D32"/>
                </a:solidFill>
                <a:latin typeface="Malgun Gothic"/>
              </a:rPr>
              <a:t>"지금 열화냐?"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2E7D32"/>
                </a:solidFill>
                <a:latin typeface="Malgun Gothic"/>
              </a:rPr>
              <a:t>OOS Recall 0.89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29016" y="3246120"/>
            <a:ext cx="3566160" cy="54864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③  Autoencoder  (DL·비지도)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정상 데이터만 사용 (라벨 없음)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38496"/>
                </a:solidFill>
                <a:latin typeface="Malgun Gothic"/>
              </a:rPr>
              <a:t>"이상 신호냐?"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38496"/>
                </a:solidFill>
                <a:latin typeface="Malgun Gothic"/>
              </a:rPr>
              <a:t>재구성 오류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11274552" cy="7498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508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핵심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고장/정상 라벨은 원래 없지만, RUL(연속)을 계산해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① GRU는 RUL 정답으로 회귀, ② LR·RF는 RUL을 임계값으로 잘라 만든 열화 라벨로 분류, ③ AE는 정상만으로 비지도 학습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 — 하나의 RUL에서 세 학습이 파생됩니다.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>
                <a:solidFill>
                  <a:srgbClr val="6B7785"/>
                </a:solidFill>
                <a:latin typeface="Malgun Gothic"/>
              </a:rPr>
              <a:t>31</a:t>
            </a:r>
            <a:endParaRPr sz="950" b="0" i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400" b="1" i="0">
                <a:solidFill>
                  <a:srgbClr val="1F3A5F"/>
                </a:solidFill>
                <a:latin typeface="Malgun Gothic"/>
              </a:rPr>
              <a:t>부록. 산업별 PdM 효과 — 자동차 · 반도체 · 로봇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AI 예지정비 도입 효과 (산업 보고서 기준, 2024–2026)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다운타임 비용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AI PdM 효과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자동차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라인 정지 시 시간당 ~$2.3M ($600/초)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정지 40%↓ · 비용 30%↓ · 가동률 40%↑ · 제조사 47% AI 사용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Siemens'24 · Ford · Presidio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반도체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시간당 &gt; $1M (최대 $3.8M)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AI 고장예측 정확도 최대 90%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AlphaBOLD · WorkTrek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로봇 · 회전기계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로봇팔·컨베이어 고장 → 라인 전체 정지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진동분석 고장 60~90일 전 탐지 · 실시간 마모 식별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Ford · Flexsin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840480"/>
            <a:ext cx="11274552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63500" rIns="152400" bIns="63500" rtlCol="0" anchor="ctr"/>
          <a:lstStyle/>
          <a:p>
            <a:pPr algn="l"/>
            <a:r>
              <a:rPr sz="1200" b="1" i="0">
                <a:solidFill>
                  <a:srgbClr val="2E75B6"/>
                </a:solidFill>
                <a:latin typeface="Malgun Gothic"/>
              </a:rPr>
              <a:t>공통 (McKinsey · IoT Analytics) 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유지보수 비용 18~25%↓ · 비계획 정지 30~50%↓ (AI 도입 시 40~60%↓) · ROI 10:1~30:1 · 도입사 95% 긍정적 ROI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74552" cy="13716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본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연결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RMS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기반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회전기계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핵심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진동분석이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고장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60~90일 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이상을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잡는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것과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같은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원리입니다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전통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'분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단위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오차'가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정지감소·비용절감으로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측정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방향성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실측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(RF 954→GRU 810분, 15%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개선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)은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정량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근거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분리해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McKinsey · Siemens True Cost of Downtime 2024 · IoT Analytics · Ford · 업계 보고서 (2024–2026). 수치는 보고서별 추정치로 환경에 따라 상이.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28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현대오토에버 · 현대차그룹 PdM · 스마트팩토리 현황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SDF(Software Defined Factory) 기반 설비 예지보전·AI 운영 체계 (공개자료 기준)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1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6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솔루션 · 시스템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설비 예지보전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/ PHM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엣지컴퓨팅(CMS) + PHM(Prognostics &amp; Health Mgmt). 로봇 등 자동화 설비 실시간 상태 모니터링·고장 진단 → 비가동 사전 방지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에이전트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기반)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생산공정 이상신호 자동 감지, 생산라인 데이터로 의사결정·결과 예측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인프라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실시간 데이터 수집·제어, MES·Factory-BI·빅데이터·예지보전 시스템 연계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신뢰성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국제인증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ISO/IEC 42001 AI경영시스템 인증 + 스마트비전(결함검사) 제품 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그룹 사례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HMGICS (싱가포르)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AI 자동화 스마트팩토리 — 데이터 기반 공장 운영·의사결정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>
                <a:solidFill>
                  <a:srgbClr val="1F3A5F"/>
                </a:solidFill>
                <a:latin typeface="Malgun Gothic"/>
              </a:rPr>
              <a:t>핵심   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현대오토에버는 SDF 전략 아래 </a:t>
            </a:r>
            <a:r>
              <a:rPr sz="1250" b="1" i="0">
                <a:solidFill>
                  <a:srgbClr val="1F3A5F"/>
                </a:solidFill>
                <a:latin typeface="Malgun Gothic"/>
              </a:rPr>
              <a:t>PHM(예지보전) · SD브레인(LLM) · IoT 플랫폼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을 통합해, 로봇 등 자동화 설비의 이상예측·고장진단·통합관제를 소프트웨어로 운영합니다.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현대오토에버 SDF 공식 소개·네오팩토리(NEO Factory), 현대자동차그룹 HMGICS, 언론 보도 (2023–2025). 공개 자료 기반 요약.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29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본 프로젝트 ↔ 현대오토에버 PdM 연결 (적합성)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 베어링 RUL 프로젝트의 구성요소가 현대오토에버 SDF/PHM 방향과 어떻게 맞닿는가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본 프로젝트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현대오토에버 대응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시사점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베어링 RUL 예측 (GRU v2)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PHM 잔여수명·고장 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PHM 핵심 기능과 직접 대응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AE 비지도 이상탐지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설비 이상예측 (엣지)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라벨 없는 신규 설비 대응 = 엣지 CMS 사상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임계값 경보 · Streamlit 통합진단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 실시간 모니터링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통합관제·대시보드 정합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리포트 (로드맵, GPT-4o)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에이전트)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LLM 기반 진단·해석 방향 일치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GroupKFold · OOS 정직 평가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AI 신뢰성 (ISO 42001)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검증·신뢰성 중시 기조 부합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프로젝트(RUL+이상탐지+통합진단+LLM 로드맵)는 현대오토에버 SDF의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PHM · CMS · IoT 플랫폼 · SD브레인 구조와 일대일로 정합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합니다.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특히 로봇통합관제플랫폼·예지보전 방향과 맞닿아, 회전기계 PHM과 LLM 진단 자동화를 잇는 실무 적용 후보로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슬라이드는 프로젝트–산업 솔루션 간 개념적 대응을 정리한 것으로, 특정 채용·계약과 무관한 기술적 시사점입니다.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6351</Words>
  <Application>Microsoft Office PowerPoint</Application>
  <PresentationFormat>와이드스크린</PresentationFormat>
  <Paragraphs>1103</Paragraphs>
  <Slides>32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Malgun Gothic</vt:lpstr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남 허</cp:lastModifiedBy>
  <cp:revision>40</cp:revision>
  <dcterms:created xsi:type="dcterms:W3CDTF">2026-06-30T01:06:45Z</dcterms:created>
  <dcterms:modified xsi:type="dcterms:W3CDTF">2026-07-02T13:44:38Z</dcterms:modified>
</cp:coreProperties>
</file>