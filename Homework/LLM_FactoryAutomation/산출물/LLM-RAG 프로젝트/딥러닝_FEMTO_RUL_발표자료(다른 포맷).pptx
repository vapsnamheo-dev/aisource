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맑은 고딕"/>
              </a:rPr>
              <a:t>AI 기반 베어링 잔여수명(RUL)
예측 모델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  <a:latin typeface="맑은 고딕"/>
              </a:rPr>
              <a:t>FEMTO-ST PRONOSTIA IEEE PHM 2012  |  GRU v2 + BN+LN  |  Streamlit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85313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맑은 고딕"/>
              </a:rPr>
              <a:t>딥러닝 프로젝트  |  허남  |  2026. 06. 29.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맑은 고딕"/>
              </a:rPr>
              <a:t>Ⅰ. AI 개발 수행내용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1. 개요 및 현황 (추진배경 / 과제범위 / 추진방법)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맑은 고딕"/>
              </a:rPr>
              <a:t>Ⅱ. 연구개발 주요 결과물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1. 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2. 탐색적 데이터 분석 (EDA)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3. 데이터 전처리 및 피처 엔지니어링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4. 학습 및 모델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5. Streamlit 웹 애플리케이션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6. 결과 요약 및 향후 방향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14300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맑은 고딕"/>
              </a:rPr>
              <a:t>부록 A. 성능 개선 실험 (Performance Improvement)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맑은 고딕"/>
              </a:rPr>
              <a:t>부록 B. 데이터 프로파일링 리포트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I-1. 개요 및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추진배경 / 과제범위 / 추진방법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39496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맑은 고딕"/>
              </a:rPr>
              <a:t>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산업용 베어링 예상치 못한 파손 → 생산 라인 전체 정지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정기 점검(PM) 방식: 실제 열화 상태 미반영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과잉/과소 점검 반복 → 비용 낭비 또는 사고 위험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RUL 정량 예측 없이 최적 교체 시점 결정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51560"/>
            <a:ext cx="594360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맑은 고딕"/>
              </a:rPr>
              <a:t>과제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딥러닝(GRU)으로 베어링 RUL 정량 예측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RF 베이스라인 대비 10% 이상 RMSE 개선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현장 담당자용 Streamlit 웹 대시보드 구축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미관측 베어링(OOS) 일반화 성능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623560"/>
            <a:ext cx="1161288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최종 달성:  GRU v2  OOS RMSE 810.38분  |  RF 대비 15.08% 개선  |  Streamlit Cloud 배포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II-1. 데이터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FEMTO-ST PRONOSTIA IEEE PHM 2012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0262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FEMTO-ST PRONOSTIA Bearing Dataset (IEEE PHM 2012 Challenge)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베어링 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17개 (Learning_set 6개 + Full_Test_Set 11개)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운전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Cond.1: 1800rpm/4kN  |  Cond.2: 1650rpm/4.2kN  |  Cond.3: 1500rpm/5kN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측정 간격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1분 간격 스냅샷, acc CSV 25,600 샘플 / temp CSV 각 1행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원본 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h/v RMS · Kurtosis · Skewness · CrestFactor (각 4개) + 온도 = 9개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파생 피처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energy=h²+v²  |  health_idx=h_rms×h_kurt  |  rms_ratio=h/v  →  3개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4572000"/>
            <a:ext cx="32004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총 피처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12개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572000"/>
            <a:ext cx="41148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6177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RUL 라벨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0292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total - minute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4572000"/>
            <a:ext cx="27432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열화 임계값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029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init×2.5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II-2. 탐색적 데이터 분석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Feature Analysis &amp; VIF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87680">
                <a:tc>
                  <a:txBody>
                    <a:bodyPr/>
                    <a:lstStyle/>
                    <a:p>
                      <a:r>
                        <a:t>피처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초기 (정상)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말기 (열화)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기여도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h_rms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0.02~0.05g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0.1~3.0g 급증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h_kurt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3.0~4.0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5.0 이상 급등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health_idx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급격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 파생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energy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급격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★★★☆ 파생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temp_mean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25~30°C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30~60°C 완만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114800"/>
            <a:ext cx="5486400" cy="2377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VIF 분석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VIF 기준: &lt; 10 (다중공선성 제거)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결과: 12개 전체 피처 VIF &lt; 10 → 모두 선택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최대 VIF: energy ≈ 8.5 (파생 피처 중 가장 높음)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114800"/>
            <a:ext cx="5760720" cy="2377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RUL 분포 특성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7200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베어링 수명: 28분 ~ 2,832분 (100배 차이)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분포: 오른쪽 편향 (대부분 단수명)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베어링간 편차 크므로 GroupKFold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II-3. 데이터 전처리 및 피처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Preprocessing Pipeline &amp; GroupKFold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64008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전처리 파이프라인 (5단계)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① 온도 결측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선형 보간 → bfill/ffill → 중앙값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② 파생 피처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877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energy=h²+v², health_idx=h_rms×h_kurt, rms_ratio=h/v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③ VIF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8386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VIF&lt;10 기준 → 12개 전체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88536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④ 슬라이딩 윈도우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37997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window=20분, stride=1 → X:(N,20,12), y:(N,)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84648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3036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⑤ 독립 MinMaxScaler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760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X용 seq_scaler + y용 y_scaler (누수 방지)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051560"/>
            <a:ext cx="36576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데이터 분할 전략 (GroupKFold)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0" y="15544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베어링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훈련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1_1 / 2_1 / 3_1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GroupKFold 학습·검증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데모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1_2 / 2_2 / 3_2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Streamlit 시연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1_3~7 / 2_3~7 / 3_3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OOS 최종 평가 (11개)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274320" y="5577840"/>
            <a:ext cx="11612880" cy="8686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맑은 고딕"/>
              </a:rPr>
              <a:t>GroupKFold — 베어링 단위 완전 분리 → 시계열 데이터 누수 완전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① RF 베이스라인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RandomForest Baseline (RUL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E79"/>
                </a:solidFill>
                <a:latin typeface="맑은 고딕"/>
              </a:rPr>
              <a:t>설정: 마지막 타임스텝의 12개 피처(X[:, -1, :]) 사용 — 시계열 구조 미활용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411480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RF OOS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954.52분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828800"/>
            <a:ext cx="411480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RF OOS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757.71분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DL 최종 모델(GRU v2) 대비 개선 효과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1480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8912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RF 대비 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RF 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954.52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757.71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LSTM 초기 모델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934.01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767.09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2.15%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 아키텍처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741.50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4.67%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 v2 최종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665.63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② DL 아키텍처 5종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OOS RMSE — Full_Test_Set 11 bearings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순위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특징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1위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741.5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게이트 단순, 소형 모델 과적합 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1D-CNN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938.03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754.87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국소 주파수 패턴 학습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996.61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789.89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공간+시계열 복합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1021.19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805.53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양방향 — 인과 관계상 불리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1036.91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846.21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장기 의존성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526280"/>
            <a:ext cx="11612880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GRU 최종 선정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OOS RMSE 909.96 — 미관측 베어링 11개에서 5종 중 최저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파라미터 수 최소 (업데이트/리셋 게이트만) → 적은 학습 데이터에서 과적합 억제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예지보전 특성상 과거→현재 단방향 인과 관계 → BiLSTM 양방향 우위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③ 하이퍼파라미터 튜닝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Grid Search 27조합 → 옵티마이저 → 배치 → BN+LN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① 그리드서치 (27조합)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0876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11480">
                <a:tc>
                  <a:txBody>
                    <a:bodyPr/>
                    <a:lstStyle/>
                    <a:p>
                      <a: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탐색 범위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window_size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[20,30,50]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[32,64,128]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[0.1,0.2,0.3]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맑은 고딕"/>
              </a:rPr>
              <a:t>→ OOS RMSE: 956.05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② 옵티마이저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50876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r>
                        <a:t>옵티마이저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Nadam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977.70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Adam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996.88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AdamW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1011.36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7490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③ 배치 크기 튜닝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416052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20624">
                <a:tc>
                  <a:txBody>
                    <a:bodyPr/>
                    <a:lstStyle/>
                    <a:p>
                      <a:r>
                        <a:t>배치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836.60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1002.56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1114.39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1054.33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3504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④ BN+LN 정규화 효과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416052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v1 (Dropout만)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973.47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v2 (BN+LN)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▼16.75%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35040" y="5623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맑은 고딕"/>
              </a:rPr>
              <a:t>학습 Epoch: 54 → 33으로 단축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④ GRU v2 최종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GRU + LayerNormalization + BatchNormalization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69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Input (20,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69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입력 (20분, 12피처)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GRU(32, ret=True)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18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전체 학습 (return_sequences=True)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39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LayerNorm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내 정규화 (배치 의존 없음)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79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15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Dropout(0.1)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15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과적합 억제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64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GRU(16)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64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최종 상태 추출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LayerNorm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2차 정규화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BatchNorm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특성 분포 안정화 (학습 가속)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Dense(32, relu)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비선형 변환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79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458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Dropout(0.1)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458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과적합 억제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19"/>
            <a:ext cx="3291840" cy="4846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0076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Dense(1) — RUL 출력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60076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잔여수명 분 단위 예측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학습 설정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406640" y="1508760"/>
          <a:ext cx="4480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43688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window_size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32 → 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batch_size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Adam(1e-3)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loss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EarlyStopping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patience=10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ModelCheckpoint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val_loss 최소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7406640" y="5669280"/>
            <a:ext cx="4480560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5687568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OOS RMSE: 810.38분
OOS MAE:   665.63분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II-5. Streamlit 웹 애플리케이션 프로토타입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https://dlfactoryautomation.streamlit.app/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⚙️ 사이드바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ML 임계값 슬라이더 (기본 0.50)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RUL 경보 기준 (기본 60분)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변경 이력 expander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실행 순서 안내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📊 탭 1
데이터 탐색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h_rms 추이
열화 라벨 분포
피처 박스플롯
4개 KPI 메트릭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24128"/>
            <a:ext cx="17373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🤖 탭 2
ML 성능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VIF 분석 표
모델 3종 비교
Feature Importance
Confusion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🔮 탭 3
DL RUL 예측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ML vs LSTM 비교
LSTM 학습곡선
베어링 RUL 추이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024128"/>
            <a:ext cx="17373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🏭 탭 4
통합 진단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진동값 9개 슬라이더
진단하기 버튼
ML 열화 판정
RUL &amp; 경보 등급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🔬 탭 5
아키텍처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5종 성능 비교표
EarlyStopping 분석
학습곡선 PNG
OOS 예측 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17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시스템 품질 지표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74320" y="5010912"/>
          <a:ext cx="11612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56616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실제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OOS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900분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RF 대비 개선율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&gt; 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응답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2초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@st.cache_resource ~0.1초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데이터 누수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GroupKFold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베어링 단위 완전 분리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II-6. 결과 요약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486400" cy="4663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결과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아키텍처 5종 비교 → GRU 최종 선정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BN+LN 정규화로 OOS RMSE 16.75% 개선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배치=16으로 최적 일반화 달성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GRU v2: OOS RMSE 810.38 (RF 대비 15.08%↓)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Streamlit Cloud 5탭 대시보드 배포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5486400" cy="4663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향후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Attention 메커니즘 → 열화 말기 정밀도 향상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SHAP 해설 → 피처별 기여도 시각화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앙상블 (GRU + 1D-CNN) 성능 향상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IoT 실시간 스트림 연동 (MQTT, 1분 주기)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MLOps 자동 재학습 파이프라인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051560"/>
            <a:ext cx="36576" cy="4663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5852160"/>
          <a:ext cx="116128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2286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목표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완료 (현재)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v2 BN+LN + 배치=16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Phase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Attention + SHAP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700분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앙상블 + 실공장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600분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부록 A. 성능 개선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Performance Improvement — All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아키텍처 5종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41960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741.50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1D-CNN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938.03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754.87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996.61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789.89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1021.19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805.53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1036.91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846.21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단계별 성능 개선 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4630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RF 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아키텍처 선택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4.67%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배치=16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836.60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12.33%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③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BN+LN 정규화 (v2)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그리드서치 TOP 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663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r>
                        <a:t>순위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window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dropout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959.55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968.52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971.71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978.35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부록 B. 데이터 프로파일링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FEMTO-ST Bearing Data 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r>
                        <a:t>베어링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운전 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수명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~911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~870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~1,637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Bearing1_3~7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28~339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Bearing2_3~7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339~1,637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394960"/>
            <a:ext cx="11612880" cy="1143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데이터 품질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52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결측치: 온도(temp_mean)만 발생 — 선형 보간 처리 완료</a:t>
            </a:r>
          </a:p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중복: 0건 (1분 간격 스냅샷, 중복 없음)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이상치: 말기 h_rms 급등은 열화 신호이므로 제거하지 않음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Confusion Matrix — DL 이진 분류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CNN+LSTM (Validation Set, 179 samples)  ·  Threshold = 0.50  ·  Accuracy = 0.80</a:t>
            </a:r>
          </a:p>
        </p:txBody>
      </p:sp>
      <p:pic>
        <p:nvPicPr>
          <p:cNvPr id="6" name="Picture 5" descr="0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035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10515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Confusion Matrix 수치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463040"/>
          <a:ext cx="6126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39624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예측: 정상(0)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예측: 고장(1)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실제: 정상(0)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TN = 93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FP = 12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실제: 고장(1)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FN = 24 ✗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TP = 50 ✓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0" y="27889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분류 성능 지표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52160" y="3200400"/>
          <a:ext cx="61264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308610">
                <a:tc>
                  <a:txBody>
                    <a:bodyPr/>
                    <a:lstStyle/>
                    <a:p>
                      <a:r>
                        <a:t>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클래스 0 (정상)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클래스 1 (고장)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0.79  (93/(93+24))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0.81  (50/(50+12))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0.89  (93/(93+12))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0.68  (50/(50+24)) ↓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F1-Score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52160" y="4572000"/>
            <a:ext cx="6126480" cy="1554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617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핵심 문제: FN = 24 (미감지) 가 더 심각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029200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• FP 12건: 정상 → 고장 오판 → 불필요한 점검 (비용↑, 안전 무관)
• FN 24건: 실제 고장 미감지 → 설비 손상·라인 정지 위험 ★
• Class 1 Recall 0.68 → 고장 32% 놓침 → 개선 필요
• Threshold 0.50→0.35 하향 시 FN 대폭 감소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FP / FN 개선 방향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False Positive(오경보) vs False Negative(미감지)  ·  우선순위 기반 개선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777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오경보(FP) vs 미감지(FN) — 제조업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FP(오경보): 안전 측면 위험 없음, 불필요한 유지보수 비용 발생  |  FN(미감지): 실제 고장 방치 → 설비 파손·생산 중단 → 비용/안전 모두 위험 ★★★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539496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FP = 12 개선 (오경보 줄이기)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① Threshold 상향 (0.50 → 0.65~0.75)
   → 예측 확신도 높을 때만 고장 판정
   → FP 감소, FN 증가 가능성
② 정상 구간 말기 데이터 추가 수집
   → 고장 초기와 구분되는 패턴 학습
③ Class 0 가중치 소폭 증가
   (class_weight={0:1.2, 1:1.0})
⚠ 주의: FP를 줄이면 FN이 증가할 수 있음
  → 제조업에서는 FN 최소화가 우선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65960"/>
            <a:ext cx="5943600" cy="4114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3600"/>
                </a:solidFill>
                <a:latin typeface="맑은 고딕"/>
              </a:rPr>
              <a:t>FN = 24 개선 ★ 우선순위 높음 (미감지 줄이기)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5760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① Threshold 하향 (0.50 → 0.30~0.40) ← 즉시 적용 가능
   Streamlit 슬라이더로 현장에서 바로 조정
   예상: Recall 0.68 → 0.80~0.85
② Class 1 가중치 증가 (재학습 필요)
   class_weight={0:1.0, 1:2.0~3.0}
   → 학습 시 고장 샘플에 더 높은 손실 부과
③ SMOTE 오버샘플링
   Class 1(74건) 합성 샘플 추가
   → 불균형 해소, 고장 패턴 학습 강화
④ 피처 추가 (장기 개선)
   진동 변화율, 주파수 도메인 특성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99632"/>
            <a:ext cx="1161288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2179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1순위: Threshold 하향(슬라이더)  →  2순위: class_weight 재학습  →  3순위: SMOTE  →  4순위: 피처 엔지니어링 (Phase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