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0F0"/>
                </a:solidFill>
              </a:rPr>
              <a:t>딥러닝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AI 개발 수행내역서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FEMTO-ST 베어링 잔여수명(RUL)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ML+DL 통합 예지보전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D9D9"/>
                </a:solidFill>
              </a:rPr>
              <a:t>담당자: 허남   |   작성일: 2026-06-25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9D9D9"/>
                </a:solidFill>
              </a:rPr>
              <a:t>FEMTO-ST PRONOSTIA 베어링 데이터셋 기반 ML vs DL 성능 비교 및 예지보전 시스템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8638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AI 개발 수행내용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8229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1.1 연구 배경 및 목적 / 1.2 데이터셋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08176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0817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연구개발 주요 결과물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813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2.1 피처 추출 VIF / 2.2 ML 분류 / 2.3 DL RUL 예측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66544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0312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6654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핵심 결론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3969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vs DL 성능 비교 요약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24912"/>
            <a:ext cx="457200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6148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2491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Recall 기준 성능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9806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현장 PdM 불량 미탐지 최소화 관점 (Q4)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457200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41985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최적 임계값 탐색 방법론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5643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F1 Score 기반 Threshold Optimization (Q5)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41648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07822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4164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Streamlit 통합 진단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148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전문가 임계값 조정 기능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00016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73659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000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시스템 구성 및 환경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7316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Python 3.10 / TensorFlow / Streamlit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58384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39496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5838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3종 데이터셋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3153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AI4I(테이블) vs FEMTO(시계열) ML/DL 적합성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16752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05332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0167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실제 FEMTO OOS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08990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분류 + DL 5종 모델 비교 결과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I-1. 연구 배경 및 목적 + 데이터셋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1.1 / 1.2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48640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연구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FEMTO-ST PRONOSTIA 베어링 데이터셋 기반으로
ML과 DL 두 접근법을 비교하여 베어링 잔여수명(RUL)
정밀 예측 예지보전 시스템을 구축합니다.
  GroupKFold + VIF + 3종 GridSearch → 최적 ML 베이스라인
  LSTM DL 모델 → 시계열 패턴 학습 → RUL 정밀도 향상
  Streamlit 통합 진단 대시보드 구현
PdM 도입 효과:
  계획외 정지 30~50% 감소
  유지보수 비용 10~25%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데이터셋 주요 특징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24528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2245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IEEE PHM 2012 / FEMTO-ST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62856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62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5628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1800N, 1800rpm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01184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011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9011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수평·수직 가속도 + 온도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39512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239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샘플링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239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1스냅샷/분, 2,560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77840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577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Bearing1_1~1_3 (3종)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16168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916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16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Bearing1_4~1_7 (4종)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54496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254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피처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2544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9개 시간영역 (VIF 선택)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731520"/>
            <a:ext cx="5943600" cy="548640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777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h_rms 시계열 및 열화 임계값</a:t>
            </a:r>
          </a:p>
        </p:txBody>
      </p:sp>
      <p:pic>
        <p:nvPicPr>
          <p:cNvPr id="32" name="Picture 31" descr="01_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943600" cy="18134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5669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1. 베어링별 h_rms 시계열 — 정상→열화 2단계 패턴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II-1. 피처 추출 및 VIF 분석 + 열화 라벨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2.1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3931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수식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물리 의미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h_rms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√mean(x²)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진동 에너지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E[x⁴]/σ⁴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충격성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h_skew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E[x³]/σ³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비대칭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max|x|/RMS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최대/에너지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v_rms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√mean(y²)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진동 에너지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E[y⁴]/σ⁴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충격성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v_skew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E[y³]/σ³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비대칭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max|y|/RMS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최대/에너지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temp_mean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mean(T)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온도 평균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VIF≥10 제거 → h_rms(22.3), v_rms(18.7) 모델 입력 제외</a:t>
            </a:r>
          </a:p>
        </p:txBody>
      </p:sp>
      <p:pic>
        <p:nvPicPr>
          <p:cNvPr id="7" name="Picture 6" descr="02_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13232"/>
            <a:ext cx="3657600" cy="16027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2. VIF 분석</a:t>
            </a:r>
          </a:p>
        </p:txBody>
      </p:sp>
      <p:pic>
        <p:nvPicPr>
          <p:cNvPr id="9" name="Picture 8" descr="03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713232"/>
            <a:ext cx="3749039" cy="21158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846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3. 열화 라벨 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212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인사이트: h_rms/v_rms VIF 고점 → 열화 라벨 생성 기준으로만 활용. VIF&lt;10 피처로 모델 입력 제한.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II-2. ML 3종 성능 비교 (합성 FEMTO, F1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3 + 그림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78638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LogReg (LR)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0.46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선형 한계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RandomForest (RF)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F1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XGBoost (XGB)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RF에 근접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4_ml_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64208"/>
            <a:ext cx="5669280" cy="27984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4. ML 3종 성능 비교</a:t>
            </a:r>
          </a:p>
        </p:txBody>
      </p:sp>
      <p:pic>
        <p:nvPicPr>
          <p:cNvPr id="8" name="Picture 7" descr="05_co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13232"/>
            <a:ext cx="2743200" cy="25753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5. RF 혼동 행렬</a:t>
            </a:r>
          </a:p>
        </p:txBody>
      </p:sp>
      <p:pic>
        <p:nvPicPr>
          <p:cNvPr id="10" name="Picture 9" descr="06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713232"/>
            <a:ext cx="2834640" cy="2578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256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6. ROC 곡선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864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RF 최적 ML 베이스라인 (Recall 0.91, AUC 0.99) — GroupKFold + VIF + GridSearch 조합의 성과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II-3. DL LSTM vs 최적 ML(RF) — RUL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4 + 그림 7~9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10515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914400"/>
                <a:gridCol w="13716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RMSE(분)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MAE(분)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개선율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 (최적 ML)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6.86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5.21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ML만 적용 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LSTM (DL)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5.67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4.38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▼ 17.3%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DL 최종 모델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1554480"/>
            <a:ext cx="1161288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LSTM이 RF 대비 RMSE 17.3% 개선 (6.86 → 5.67분) — DL이 ML보다 우수한 RUL 예측 달성!</a:t>
            </a:r>
          </a:p>
        </p:txBody>
      </p:sp>
      <p:pic>
        <p:nvPicPr>
          <p:cNvPr id="8" name="Picture 7" descr="07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669280" cy="2484291"/>
          </a:xfrm>
          <a:prstGeom prst="rect">
            <a:avLst/>
          </a:prstGeom>
        </p:spPr>
      </p:pic>
      <p:pic>
        <p:nvPicPr>
          <p:cNvPr id="9" name="Picture 8" descr="08_fi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2834640" cy="1401771"/>
          </a:xfrm>
          <a:prstGeom prst="rect">
            <a:avLst/>
          </a:prstGeom>
        </p:spPr>
      </p:pic>
      <p:pic>
        <p:nvPicPr>
          <p:cNvPr id="10" name="Picture 9" descr="09_lst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011680"/>
            <a:ext cx="2834640" cy="1605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577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7. RUL 예측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577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8. 피처 중요도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577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9. 학습 곡선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764"/>
                </a:solidFill>
              </a:rPr>
              <a:t>LSTM: 30분 시계열로 RF 스냅샷 대비 시간 연속성 포착 → RMSE 17.3% 개선. h_rms가 피처 중요도 1위.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III. 핵심 결론 — ML vs DL 전체 성능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61288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★ DL(LSTM) RMSE 5.67분 vs 최적 ML(RF) 6.86분 → LSTM이 RF 대비 RMSE 17.3% 개선!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978408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286000"/>
                <a:gridCol w="228600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ML만(RF)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DL(LSTM)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개선율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열화 분류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 (RF)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열화 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0.99 (RF)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RMSE(분)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6.86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5.67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▼ 17.3%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MAE(분)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5.21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4.38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▼ 15.9%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▲ 0.05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200400"/>
            <a:ext cx="116128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1. GroupKFold + VIF + 3종 GridSearch 최적 ML(RF) 대비 LSTM이 RMSE 17.3% 개선 — DL의 시계열 구조적 강점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7530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2. 테이블형 데이터(AI4I, 독립행) → ML 우세 / 진짜 시계열(FEMTO-ST 분당 측정) → DL 우세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044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3. 실제 FEMTO OOS: LSTM 2.1% 개선 (훈련 3개 베어링 제한) → 훈련 데이터 확대 시 DL 효과 극대화 예상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336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4. LSTM 열화 말기 RUL=0 부근 빠른 하강 예측 → 조기 경보 발령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★ Recall 기준 성능 분석 — 현장 PdM 불량 미탐지 최소화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Q4: 왜 Recall이 더 중요한가?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8229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589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6000"/>
                </a:solidFill>
              </a:rPr>
              <a:t>현업 PdM에서 Recall(재현율)이 더 중요한 이유:
  고장 미탐지(FN) 비용 &gt;&gt; 오경보(FP) 비용 — 베어링 고장 미발견 → 설비 파손, 생산 라인 전체 정지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합성 FEMTO 데이터 — Recall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965960"/>
          <a:ext cx="73152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88720"/>
                <a:gridCol w="914400"/>
                <a:gridCol w="91440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현장 적합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LogReg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0.46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부적합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0.91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우수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218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RF/XGB Recall 0.91 동률 — LR은 0.46으로 절반 미탐지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27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실제 FEMTO OOS — Recall 기준 (핵심!)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65960"/>
          <a:ext cx="73152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88720"/>
                <a:gridCol w="914400"/>
                <a:gridCol w="91440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일반화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0.890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실제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0.505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~0.85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실패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0.513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실패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3218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LR Recall 0.890 &gt;&gt; RF 0.505. RF/XGB는 3개 베어링에 과적합 → OOS 일반화 실패!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39312"/>
            <a:ext cx="11612880" cy="146304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85032"/>
            <a:ext cx="11430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Recall 기준 종합 결론:
  합성 FEMTO: RF=XGB=0.91 (F1 결론과 동일 — 합성 데이터에서는 F1 우선 모델이 Recall도 최적)
  실제 FEMTO: LR=0.890 &gt;&gt; RF=0.505, XGB=0.513 (Recall 기준이 모델 선택을 바꿈!)
  현장 배포 시 새로운 베어링(OOS) 일반화 관점: LR이 가장 적합
  (RF/XGB는 훈련 3개 베어링 과적합 → LR의 단순 선형 경계가 새 베어링에 더 잘 전이됨)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38928"/>
            <a:ext cx="11612880" cy="4572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17550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PdM 현장 권장: 합성 데이터 → RF, 실제 다조건 OOS → LR (Recall 최우선, 고장 미탐지 최소화)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★ 최적 임계값 탐색 방법론 (Threshold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Q5: F1 Score 기준 최적 임계값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669280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1. 비지도학습(센서기반) — Autoencoder MSE 임계값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방법 A: 백분위 기반 (간편)
  threshold_percentile = 95
  threshold = np.percentile(mse, 95)
  → Threshold: 6.8052
  (정상 MSE 상위 5%를 이상으로 판정)
방법 B: F1 Score 최적화 (정밀)
  p,r,t = precision_recall_curve(y_test, mse)
  f1 = 2*r*p / (r+p+1e-8)
  best_idx = np.argmax(f1)
  best_threshold = t[best_idx]
  결과:
  Best Threshold (F1 기반): 1.5942
  Best F1 Score: 1.0000
두 임계값 비교:
  방법 A (6.8052): 보수적 — 95th percentile
  방법 B (1.5942): 공격적 — Precision/Recall
                    균형 최대화 지점
→ 방법 B가 F1/Recall 관점에서 더 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731520"/>
            <a:ext cx="5760720" cy="544068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777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2. DL 과제(FEMTO) — ML 분류 임계값 + DL 경보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70432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이진 분류기(LR/RF/XGB) 열화 판정 임계값:
기본값: P(열화) &gt;= 0.50 (sklearn 기본)
F1 최적 임계값 탐색:
  prob = model.predict_proba(X_test)[:,1]
  p,r,t = precision_recall_curve(y, prob)
  f1 = 2*p*r / (p+r+1e-8)
  best_t = t[np.argmax(f1)]
Recall 최우선 시 (PdM 현장):
  F1 최적 기준보다 임계값 낮춤
  (예: best_t * 0.8~0.9)
  → FN 감소(미탐지 최소화), FP 증가 허용
Streamlit 전문가 실시간 조정:
  사이드바 슬라이더 0.3~0.8 범위
  임계값 변경 이력 자동 기록
GRU RUL 경보 기준 (회귀):
  RUL &lt;= 경보 기준(분) → 교체 경보
  기본 60분 → 현장 교대 주기 맞춤
  (예: 교대 2시간 전 교체 → 120분)
최적 임계값 요약:
  비지도 AE: F1 기반 1.5942 (권장)
  ML 분류기: F1 기반 자동 탐색
  DL RUL 경보: 현장 교대 주기 기반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236208"/>
            <a:ext cx="11612880" cy="50292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결론: F1 기반 임계값(1.5942)이 백분위 기반(6.8)보다 이상 탐지 정밀도 우수. DL 과제 ML 분류기는 F1 최적값 탐색 후 Streamlit 슬라이더로 현장 전문가 실시간 조정.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부록 A. Streamlit 통합 진단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전문가 임계값 조정 기능</a:t>
            </a:r>
          </a:p>
        </p:txBody>
      </p:sp>
      <p:pic>
        <p:nvPicPr>
          <p:cNvPr id="5" name="Picture 4" descr="10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3631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257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10. 4탭 구성 + 사이드바 임계값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749808"/>
            <a:ext cx="429768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804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탭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207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① EDA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5361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(demo data loading) — 데이터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18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② ML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947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열화 확률 슬라이더 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29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③ DL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59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잔여수명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41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④ 통합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70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ML+DL 결합 + CSV 일괄 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017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사이드바 임계값 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01568"/>
            <a:ext cx="4114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ML 열화 판정 임계값: P(열화) 0.50 기준
    0.3~0.8 슬라이더 조정
    Recall 우선 → 낮춤, Precision → 높임
  DL RUL 경보 기준: 60분 기본
    현장 교대 주기에 맞게 30~120분 조정
  임계값 변경 이력 자동 기록 및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6235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764"/>
                </a:solidFill>
              </a:rPr>
              <a:t>인사이트: 두 모델 결과를 동시에 표시 → 현장 담당자가 ML 확률 + DL RUL을 함께 참조하여 종합 판단 가능.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부록 D. 실제 FEMTO OOS 검증 + DL 5종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D.2 ML + D.3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D.2 ML 열화 분류 OOS (실제 데이터, Recall 기준 강조)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8869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1188720"/>
                <a:gridCol w="914400"/>
                <a:gridCol w="91440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0.890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Best Recall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~0.96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0.505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~0.85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과적합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~0.96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0.513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과적합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197510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D.3 DL 5종 모델 OOS RMSE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2313432"/>
          <a:ext cx="8046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1091.2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1036.9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846.2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GRU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1164.8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910.0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741.5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1301.6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1021.2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805.5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1D-CNN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1093.2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938.0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754.9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1168.7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996.6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789.9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D1_real_femto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078224"/>
            <a:ext cx="3840480" cy="1894369"/>
          </a:xfrm>
          <a:prstGeom prst="rect">
            <a:avLst/>
          </a:prstGeom>
        </p:spPr>
      </p:pic>
      <p:pic>
        <p:nvPicPr>
          <p:cNvPr id="10" name="Picture 9" descr="D2_ru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078224"/>
            <a:ext cx="3749039" cy="1508788"/>
          </a:xfrm>
          <a:prstGeom prst="rect">
            <a:avLst/>
          </a:prstGeom>
        </p:spPr>
      </p:pic>
      <p:pic>
        <p:nvPicPr>
          <p:cNvPr id="11" name="Picture 10" descr="D3_dl_model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78224"/>
            <a:ext cx="3657600" cy="12186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126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D-1. ML OOS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126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D-2. RUL 개선률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D-3. DL 5종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