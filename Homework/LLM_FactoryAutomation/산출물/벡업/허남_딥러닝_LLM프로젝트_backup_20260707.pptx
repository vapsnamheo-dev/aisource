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299" r:id="rId9"/>
    <p:sldId id="265" r:id="rId10"/>
    <p:sldId id="300" r:id="rId11"/>
    <p:sldId id="302" r:id="rId12"/>
    <p:sldId id="285" r:id="rId13"/>
    <p:sldId id="301" r:id="rId14"/>
    <p:sldId id="258" r:id="rId15"/>
    <p:sldId id="288" r:id="rId16"/>
    <p:sldId id="28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3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+ LLM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>
              <a:solidFill>
                <a:srgbClr val="E2ECF7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00" name="TOCcard200"/>
          <p:cNvSpPr/>
          <p:nvPr/>
        </p:nvSpPr>
        <p:spPr>
          <a:xfrm>
            <a:off x="640080" y="133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TOCbadge200"/>
          <p:cNvSpPr/>
          <p:nvPr/>
        </p:nvSpPr>
        <p:spPr>
          <a:xfrm>
            <a:off x="804672" y="146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TOCbtext200"/>
          <p:cNvSpPr/>
          <p:nvPr/>
        </p:nvSpPr>
        <p:spPr>
          <a:xfrm>
            <a:off x="804672" y="146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Ⅰ</a:t>
            </a:r>
          </a:p>
        </p:txBody>
      </p:sp>
      <p:sp>
        <p:nvSpPr>
          <p:cNvPr id="203" name="TOCtitle200"/>
          <p:cNvSpPr/>
          <p:nvPr/>
        </p:nvSpPr>
        <p:spPr>
          <a:xfrm>
            <a:off x="1417320" y="141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프로젝트 개요</a:t>
            </a:r>
          </a:p>
        </p:txBody>
      </p:sp>
      <p:sp>
        <p:nvSpPr>
          <p:cNvPr id="204" name="TOCdesc200"/>
          <p:cNvSpPr/>
          <p:nvPr/>
        </p:nvSpPr>
        <p:spPr>
          <a:xfrm>
            <a:off x="1417320" y="170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기존 DL 시스템의 한계와 LLM 필요성</a:t>
            </a:r>
          </a:p>
        </p:txBody>
      </p:sp>
      <p:sp>
        <p:nvSpPr>
          <p:cNvPr id="210" name="TOCcard210"/>
          <p:cNvSpPr/>
          <p:nvPr/>
        </p:nvSpPr>
        <p:spPr>
          <a:xfrm>
            <a:off x="640080" y="212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TOCbadge210"/>
          <p:cNvSpPr/>
          <p:nvPr/>
        </p:nvSpPr>
        <p:spPr>
          <a:xfrm>
            <a:off x="804672" y="225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TOCbtext210"/>
          <p:cNvSpPr/>
          <p:nvPr/>
        </p:nvSpPr>
        <p:spPr>
          <a:xfrm>
            <a:off x="804672" y="225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Ⅱ</a:t>
            </a:r>
          </a:p>
        </p:txBody>
      </p:sp>
      <p:sp>
        <p:nvSpPr>
          <p:cNvPr id="213" name="TOCtitle210"/>
          <p:cNvSpPr/>
          <p:nvPr/>
        </p:nvSpPr>
        <p:spPr>
          <a:xfrm>
            <a:off x="1417320" y="220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LLM 확장 방안</a:t>
            </a:r>
          </a:p>
        </p:txBody>
      </p:sp>
      <p:sp>
        <p:nvSpPr>
          <p:cNvPr id="214" name="TOCdesc210"/>
          <p:cNvSpPr/>
          <p:nvPr/>
        </p:nvSpPr>
        <p:spPr>
          <a:xfrm>
            <a:off x="1417320" y="249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3종 비교 · Proposal A 채택</a:t>
            </a:r>
          </a:p>
        </p:txBody>
      </p:sp>
      <p:sp>
        <p:nvSpPr>
          <p:cNvPr id="220" name="TOCcard220"/>
          <p:cNvSpPr/>
          <p:nvPr/>
        </p:nvSpPr>
        <p:spPr>
          <a:xfrm>
            <a:off x="640080" y="291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TOCbadge220"/>
          <p:cNvSpPr/>
          <p:nvPr/>
        </p:nvSpPr>
        <p:spPr>
          <a:xfrm>
            <a:off x="804672" y="304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TOCbtext220"/>
          <p:cNvSpPr/>
          <p:nvPr/>
        </p:nvSpPr>
        <p:spPr>
          <a:xfrm>
            <a:off x="804672" y="304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Ⅲ</a:t>
            </a:r>
          </a:p>
        </p:txBody>
      </p:sp>
      <p:sp>
        <p:nvSpPr>
          <p:cNvPr id="223" name="TOCtitle220"/>
          <p:cNvSpPr/>
          <p:nvPr/>
        </p:nvSpPr>
        <p:spPr>
          <a:xfrm>
            <a:off x="1417320" y="299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RAG 2단계 아키텍처</a:t>
            </a:r>
          </a:p>
        </p:txBody>
      </p:sp>
      <p:sp>
        <p:nvSpPr>
          <p:cNvPr id="224" name="TOCdesc220"/>
          <p:cNvSpPr/>
          <p:nvPr/>
        </p:nvSpPr>
        <p:spPr>
          <a:xfrm>
            <a:off x="1417320" y="328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수치 유사도 + 문서 RAG</a:t>
            </a:r>
          </a:p>
        </p:txBody>
      </p:sp>
      <p:sp>
        <p:nvSpPr>
          <p:cNvPr id="230" name="TOCcard230"/>
          <p:cNvSpPr/>
          <p:nvPr/>
        </p:nvSpPr>
        <p:spPr>
          <a:xfrm>
            <a:off x="640080" y="370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TOCbadge230"/>
          <p:cNvSpPr/>
          <p:nvPr/>
        </p:nvSpPr>
        <p:spPr>
          <a:xfrm>
            <a:off x="804672" y="383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TOCbtext230"/>
          <p:cNvSpPr/>
          <p:nvPr/>
        </p:nvSpPr>
        <p:spPr>
          <a:xfrm>
            <a:off x="804672" y="383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Ⅳ</a:t>
            </a:r>
          </a:p>
        </p:txBody>
      </p:sp>
      <p:sp>
        <p:nvSpPr>
          <p:cNvPr id="233" name="TOCtitle230"/>
          <p:cNvSpPr/>
          <p:nvPr/>
        </p:nvSpPr>
        <p:spPr>
          <a:xfrm>
            <a:off x="1417320" y="378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Hybrid RAG</a:t>
            </a:r>
          </a:p>
        </p:txBody>
      </p:sp>
      <p:sp>
        <p:nvSpPr>
          <p:cNvPr id="234" name="TOCdesc230"/>
          <p:cNvSpPr/>
          <p:nvPr/>
        </p:nvSpPr>
        <p:spPr>
          <a:xfrm>
            <a:off x="1417320" y="407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BM25 + 벡터 · v0.6 신규 적용</a:t>
            </a:r>
          </a:p>
        </p:txBody>
      </p:sp>
      <p:sp>
        <p:nvSpPr>
          <p:cNvPr id="240" name="TOCcard240"/>
          <p:cNvSpPr/>
          <p:nvPr/>
        </p:nvSpPr>
        <p:spPr>
          <a:xfrm>
            <a:off x="640080" y="449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1" name="TOCbadge240"/>
          <p:cNvSpPr/>
          <p:nvPr/>
        </p:nvSpPr>
        <p:spPr>
          <a:xfrm>
            <a:off x="804672" y="462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2" name="TOCbtext240"/>
          <p:cNvSpPr/>
          <p:nvPr/>
        </p:nvSpPr>
        <p:spPr>
          <a:xfrm>
            <a:off x="804672" y="462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Ⅴ</a:t>
            </a:r>
          </a:p>
        </p:txBody>
      </p:sp>
      <p:sp>
        <p:nvSpPr>
          <p:cNvPr id="243" name="TOCtitle240"/>
          <p:cNvSpPr/>
          <p:nvPr/>
        </p:nvSpPr>
        <p:spPr>
          <a:xfrm>
            <a:off x="1417320" y="457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LLM 진단 보고서 파이프라인</a:t>
            </a:r>
          </a:p>
        </p:txBody>
      </p:sp>
      <p:sp>
        <p:nvSpPr>
          <p:cNvPr id="244" name="TOCdesc240"/>
          <p:cNvSpPr/>
          <p:nvPr/>
        </p:nvSpPr>
        <p:spPr>
          <a:xfrm>
            <a:off x="1417320" y="486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파이프라인 · 배포 · 통합 진단 · 릴리스 · 결론</a:t>
            </a:r>
          </a:p>
        </p:txBody>
      </p:sp>
      <p:sp>
        <p:nvSpPr>
          <p:cNvPr id="250" name="TOCcard250"/>
          <p:cNvSpPr/>
          <p:nvPr/>
        </p:nvSpPr>
        <p:spPr>
          <a:xfrm>
            <a:off x="640080" y="528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TOCbadge250"/>
          <p:cNvSpPr/>
          <p:nvPr/>
        </p:nvSpPr>
        <p:spPr>
          <a:xfrm>
            <a:off x="804672" y="541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TOCbtext250"/>
          <p:cNvSpPr/>
          <p:nvPr/>
        </p:nvSpPr>
        <p:spPr>
          <a:xfrm>
            <a:off x="804672" y="541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Ⅵ</a:t>
            </a:r>
          </a:p>
        </p:txBody>
      </p:sp>
      <p:sp>
        <p:nvSpPr>
          <p:cNvPr id="253" name="TOCtitle250"/>
          <p:cNvSpPr/>
          <p:nvPr/>
        </p:nvSpPr>
        <p:spPr>
          <a:xfrm>
            <a:off x="1417320" y="536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결론</a:t>
            </a:r>
            <a:r>
              <a:rPr lang="en-US" altLang="ko-KR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기대효과 · 로드맵 · 향후 계획</a:t>
            </a:r>
          </a:p>
        </p:txBody>
      </p:sp>
      <p:sp>
        <p:nvSpPr>
          <p:cNvPr id="254" name="TOCdesc250"/>
          <p:cNvSpPr/>
          <p:nvPr/>
        </p:nvSpPr>
        <p:spPr>
          <a:xfrm>
            <a:off x="1417320" y="565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LLM 성능개선 로드맵(4단계) · 향후 적용 우선순위</a:t>
            </a:r>
          </a:p>
        </p:txBody>
      </p:sp>
      <p:sp>
        <p:nvSpPr>
          <p:cNvPr id="260" name="TOCcard260"/>
          <p:cNvSpPr/>
          <p:nvPr/>
        </p:nvSpPr>
        <p:spPr>
          <a:xfrm>
            <a:off x="6400800" y="133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TOCbadge260"/>
          <p:cNvSpPr/>
          <p:nvPr/>
        </p:nvSpPr>
        <p:spPr>
          <a:xfrm>
            <a:off x="6565392" y="146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TOCbtext260"/>
          <p:cNvSpPr/>
          <p:nvPr/>
        </p:nvSpPr>
        <p:spPr>
          <a:xfrm>
            <a:off x="6565392" y="146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A</a:t>
            </a:r>
          </a:p>
        </p:txBody>
      </p:sp>
      <p:sp>
        <p:nvSpPr>
          <p:cNvPr id="263" name="TOCtitle260"/>
          <p:cNvSpPr/>
          <p:nvPr/>
        </p:nvSpPr>
        <p:spPr>
          <a:xfrm>
            <a:off x="7178040" y="141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DL · ML 프로젝트 구성</a:t>
            </a:r>
          </a:p>
        </p:txBody>
      </p:sp>
      <p:sp>
        <p:nvSpPr>
          <p:cNvPr id="264" name="TOCdesc260"/>
          <p:cNvSpPr/>
          <p:nvPr/>
        </p:nvSpPr>
        <p:spPr>
          <a:xfrm>
            <a:off x="7178040" y="170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PdM 도입 효과 · FEMTO-ST 데이터 구성</a:t>
            </a:r>
          </a:p>
        </p:txBody>
      </p:sp>
      <p:sp>
        <p:nvSpPr>
          <p:cNvPr id="270" name="TOCcard270"/>
          <p:cNvSpPr/>
          <p:nvPr/>
        </p:nvSpPr>
        <p:spPr>
          <a:xfrm>
            <a:off x="6400800" y="291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TOCbadge270"/>
          <p:cNvSpPr/>
          <p:nvPr/>
        </p:nvSpPr>
        <p:spPr>
          <a:xfrm>
            <a:off x="6565392" y="304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TOCbtext270"/>
          <p:cNvSpPr/>
          <p:nvPr/>
        </p:nvSpPr>
        <p:spPr>
          <a:xfrm>
            <a:off x="6565392" y="304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B</a:t>
            </a:r>
          </a:p>
        </p:txBody>
      </p:sp>
      <p:sp>
        <p:nvSpPr>
          <p:cNvPr id="273" name="TOCtitle270"/>
          <p:cNvSpPr/>
          <p:nvPr/>
        </p:nvSpPr>
        <p:spPr>
          <a:xfrm>
            <a:off x="7178040" y="299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세 과제 구성 (ML ↔ DL ↔ LLM)</a:t>
            </a:r>
          </a:p>
        </p:txBody>
      </p:sp>
      <p:sp>
        <p:nvSpPr>
          <p:cNvPr id="274" name="TOCdesc270"/>
          <p:cNvSpPr/>
          <p:nvPr/>
        </p:nvSpPr>
        <p:spPr>
          <a:xfrm>
            <a:off x="7178040" y="328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현장 데이터를 세 Streamlit 앱이 구독</a:t>
            </a:r>
          </a:p>
        </p:txBody>
      </p:sp>
      <p:sp>
        <p:nvSpPr>
          <p:cNvPr id="280" name="TOCcard280"/>
          <p:cNvSpPr/>
          <p:nvPr/>
        </p:nvSpPr>
        <p:spPr>
          <a:xfrm>
            <a:off x="6400800" y="449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TOCbadge280"/>
          <p:cNvSpPr/>
          <p:nvPr/>
        </p:nvSpPr>
        <p:spPr>
          <a:xfrm>
            <a:off x="6565392" y="462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TOCbtext280"/>
          <p:cNvSpPr/>
          <p:nvPr/>
        </p:nvSpPr>
        <p:spPr>
          <a:xfrm>
            <a:off x="6565392" y="462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C</a:t>
            </a:r>
          </a:p>
        </p:txBody>
      </p:sp>
      <p:sp>
        <p:nvSpPr>
          <p:cNvPr id="283" name="TOCtitle280"/>
          <p:cNvSpPr/>
          <p:nvPr/>
        </p:nvSpPr>
        <p:spPr>
          <a:xfrm>
            <a:off x="7178040" y="457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미채택 방안 · 산출물</a:t>
            </a:r>
          </a:p>
        </p:txBody>
      </p:sp>
      <p:sp>
        <p:nvSpPr>
          <p:cNvPr id="284" name="TOCdesc280"/>
          <p:cNvSpPr/>
          <p:nvPr/>
        </p:nvSpPr>
        <p:spPr>
          <a:xfrm>
            <a:off x="7178040" y="486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Proposal B/C · 산출물 노트북(ipynb/py)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/>
              <a:t>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개요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기존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DL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시스템의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한계와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필요성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ML/DL/</a:t>
            </a:r>
            <a:r>
              <a:rPr dirty="0" err="1"/>
              <a:t>RAG의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정확하지만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행동으로</a:t>
            </a:r>
            <a:r>
              <a:rPr dirty="0"/>
              <a:t> </a:t>
            </a:r>
            <a:r>
              <a:rPr dirty="0" err="1"/>
              <a:t>옮기기</a:t>
            </a:r>
            <a:r>
              <a:rPr dirty="0"/>
              <a:t> </a:t>
            </a:r>
            <a:r>
              <a:rPr dirty="0" err="1"/>
              <a:t>어렵다</a:t>
            </a:r>
            <a:r>
              <a:rPr dirty="0"/>
              <a:t>. LLM(Claude API)이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수치를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</a:t>
            </a:r>
            <a:r>
              <a:rPr dirty="0" err="1"/>
              <a:t>자연어</a:t>
            </a:r>
            <a:r>
              <a:rPr dirty="0"/>
              <a:t> 진단 </a:t>
            </a:r>
            <a:r>
              <a:rPr dirty="0" err="1"/>
              <a:t>보고서로</a:t>
            </a:r>
            <a:r>
              <a:rPr dirty="0"/>
              <a:t> </a:t>
            </a:r>
            <a:r>
              <a:rPr dirty="0" err="1"/>
              <a:t>변환하는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계층을</a:t>
            </a:r>
            <a:r>
              <a:rPr dirty="0"/>
              <a:t> </a:t>
            </a:r>
            <a:r>
              <a:rPr dirty="0" err="1"/>
              <a:t>추가한다</a:t>
            </a:r>
            <a:r>
              <a:rPr dirty="0"/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256634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기존 출력 (수치만)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적용 후 (자연어 해석)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ML 확률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[현재 상태] 위험 - 열화 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DL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[정비 권고] 즉시 점검 및 교체 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유사도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[유사 사례] Bearing1_3 동일 패턴, 30분 후 파손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문제 -&gt; 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분석가만 해석 가능, 현장 조치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비전문가도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즉시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보고서로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변환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61E3FC2E-80D4-A2B4-5349-41975ED42A0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/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확장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방안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3종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비교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Proposal A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채택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채택 기준은 구현 가능성+즉시 현장 적용+비용 효율성. Proposal A가 가장 낮은 난이도로 즉시 현장 적용 가능해 채택했다.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25629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방안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RAG+ML/DL -&gt; LLM 자연어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 직접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미채택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F086E2B5-0F31-58BF-25D3-7B7AB777290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RAG 2단계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아키텍처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수치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유사도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+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문서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RAG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Level 1은 과거에 비슷한 상태가 있었는가를 수치로, Level 2는 정비 지식 문서에 어떤 근거가 있는가를 자연어로 답한다. 두 결과는 LLM 보고서의 근거로 결합된다.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1 (수치 유사도)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2 (문서 RAG)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src/femto_rag_search.py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src/femto_doc_rag.py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FAISS IndexFlatIP(코사인)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벡터DB(영구 저장)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질의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-&gt; Top-k 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자연어 질문 -&gt; 문서 검색/답변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일반 RAG(순수 벡터 검색)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Hybrid RAG(BM25+벡터, 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DEB7D355-21A6-8B39-DFD2-188B0020835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Hybrid RAG(BM25+벡터)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정비 문서는 40도 초과 같은 정확한 수치 표현이 많아 순수 의미 검색만으로는 놓치기 쉽다. Hybrid RAG로 RAG-Level2 검색 정확도를 개선했다(2026-07-03, v0.6 완료).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전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후 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검색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 검색만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BM25(키워드)+벡터, EnsembleRetriever 50:50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약점/개선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정확한 수치, 임계값 표현을 놓치기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BM25가 수치, 임계값 포착, 벡터가 의미 유사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검증 질의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온도만 상승하면? -&gt; 찾을 수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동일 질문 -&gt; 윤활 점검 근거 정확히 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277BC13-F3FA-54A6-0B47-B5EB50D4B73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1.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LLM 진단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보고서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생성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파이프라인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(Proposal 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LLM은 ML/DL의 수치 판정을 대체하지 않고, RAG 근거와 함께 현장 담당자가 바로 읽을 수 있는 자연어 정비 권고로 해석, 문서화하는 계층이다.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0957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dirty="0" err="1"/>
                        <a:t>항목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dirty="0" err="1"/>
                        <a:t>모듈</a:t>
                      </a:r>
                      <a:r>
                        <a:rPr dirty="0"/>
                        <a:t> /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src</a:t>
                      </a:r>
                      <a:r>
                        <a:rPr dirty="0"/>
                        <a:t>/femto_llm_report.py, Claude API(claude-haiku-4-5-20251001)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입력 컨텍스트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+ ML 열화확률 + DL RUL + RAG Level1/2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출력 구조(5섹션)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상태, 이상 신호, 정비 권고, 유사 사례, 문서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Mock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API 키 </a:t>
                      </a:r>
                      <a:r>
                        <a:rPr dirty="0" err="1"/>
                        <a:t>미설정</a:t>
                      </a:r>
                      <a:r>
                        <a:rPr dirty="0"/>
                        <a:t> 시 </a:t>
                      </a:r>
                      <a:r>
                        <a:rPr dirty="0" err="1"/>
                        <a:t>규칙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동일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구조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보고서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무료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데모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JSON Schema </a:t>
                      </a:r>
                      <a:r>
                        <a:rPr dirty="0" err="1"/>
                        <a:t>강제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출력</a:t>
                      </a:r>
                      <a:r>
                        <a:rPr dirty="0"/>
                        <a:t> - status/anomalies/action 등, </a:t>
                      </a:r>
                      <a:r>
                        <a:rPr dirty="0" err="1"/>
                        <a:t>대시보드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알람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연동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361E0DD5-E21A-DC05-1396-C0C400341380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2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Streamlit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배포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구성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LLM(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Ollama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)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제약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</a:t>
            </a: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URL은</a:t>
            </a:r>
            <a:r>
              <a:rPr dirty="0"/>
              <a:t> </a:t>
            </a:r>
            <a:r>
              <a:rPr dirty="0" err="1"/>
              <a:t>llmfactoryautomation.streamlit.app</a:t>
            </a:r>
            <a:r>
              <a:rPr dirty="0"/>
              <a:t>. RAG-Level2의 </a:t>
            </a:r>
            <a:r>
              <a:rPr dirty="0" err="1"/>
              <a:t>자유</a:t>
            </a:r>
            <a:r>
              <a:rPr dirty="0"/>
              <a:t> </a:t>
            </a:r>
            <a:r>
              <a:rPr dirty="0" err="1"/>
              <a:t>질의응답</a:t>
            </a:r>
            <a:r>
              <a:rPr dirty="0"/>
              <a:t>(ask())은 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Ollama</a:t>
            </a:r>
            <a:r>
              <a:rPr dirty="0"/>
              <a:t>(gemma)가 </a:t>
            </a:r>
            <a:r>
              <a:rPr dirty="0" err="1"/>
              <a:t>필요해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Cloud(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프로세스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)</a:t>
            </a:r>
            <a:r>
              <a:rPr dirty="0" err="1"/>
              <a:t>에서는</a:t>
            </a:r>
            <a:r>
              <a:rPr dirty="0"/>
              <a:t> 이 </a:t>
            </a:r>
            <a:r>
              <a:rPr dirty="0" err="1"/>
              <a:t>기능만</a:t>
            </a:r>
            <a:r>
              <a:rPr dirty="0"/>
              <a:t> </a:t>
            </a:r>
            <a:r>
              <a:rPr dirty="0" err="1"/>
              <a:t>제한된다</a:t>
            </a:r>
            <a:r>
              <a:rPr dirty="0"/>
              <a:t>(</a:t>
            </a:r>
            <a:r>
              <a:rPr dirty="0" err="1"/>
              <a:t>버그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, </a:t>
            </a:r>
            <a:r>
              <a:rPr dirty="0" err="1"/>
              <a:t>의도된</a:t>
            </a:r>
            <a:r>
              <a:rPr dirty="0"/>
              <a:t> </a:t>
            </a:r>
            <a:r>
              <a:rPr dirty="0" err="1"/>
              <a:t>제약</a:t>
            </a:r>
            <a:r>
              <a:rPr dirty="0"/>
              <a:t>).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검색과</a:t>
            </a:r>
            <a:r>
              <a:rPr dirty="0"/>
              <a:t> Claude API 진단 </a:t>
            </a:r>
            <a:r>
              <a:rPr dirty="0" err="1"/>
              <a:t>보고서는</a:t>
            </a:r>
            <a:r>
              <a:rPr dirty="0"/>
              <a:t> </a:t>
            </a:r>
            <a:r>
              <a:rPr dirty="0" err="1"/>
              <a:t>Cloud에서</a:t>
            </a:r>
            <a:r>
              <a:rPr dirty="0"/>
              <a:t>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동작한다</a:t>
            </a:r>
            <a:r>
              <a:rPr dirty="0"/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9581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 메인 - 시계열 고장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LLM/RAG 전용 - Level1 유사 사례 데모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ML+DL+LLM 통합 진단 (Tab6: AI 정비 권고)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3-Source </a:t>
                      </a:r>
                      <a:r>
                        <a:rPr dirty="0" err="1"/>
                        <a:t>통합</a:t>
                      </a:r>
                      <a:r>
                        <a:rPr dirty="0"/>
                        <a:t> (ML+DL+DL Milling)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8D6B42EF-9BFD-E565-EC86-9A8E46E4E72D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2">
            <a:extLst>
              <a:ext uri="{FF2B5EF4-FFF2-40B4-BE49-F238E27FC236}">
                <a16:creationId xmlns:a16="http://schemas.microsoft.com/office/drawing/2014/main" id="{C75C0E41-1F45-E5A1-DCBD-8C86C12F3277}"/>
              </a:ext>
            </a:extLst>
          </p:cNvPr>
          <p:cNvSpPr/>
          <p:nvPr/>
        </p:nvSpPr>
        <p:spPr>
          <a:xfrm>
            <a:off x="586958" y="426702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 3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Streamlit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통합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진단</a:t>
            </a:r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7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탭 대시보드 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(LLM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정비 권고 신규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)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1500" y="126578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" y="155189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0664" y="155189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" y="2118818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40664" y="211881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" y="2685746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0664" y="268574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" y="325267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0664" y="325267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791" y="377172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" name="Text 15"/>
          <p:cNvSpPr/>
          <p:nvPr/>
        </p:nvSpPr>
        <p:spPr>
          <a:xfrm>
            <a:off x="549075" y="371772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/>
              <a:t>🔬</a:t>
            </a:r>
            <a:r>
              <a:rPr dirty="0"/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아키텍처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비교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(5종)</a:t>
            </a:r>
          </a:p>
        </p:txBody>
      </p:sp>
      <p:sp>
        <p:nvSpPr>
          <p:cNvPr id="23" name="Shape 20"/>
          <p:cNvSpPr/>
          <p:nvPr/>
        </p:nvSpPr>
        <p:spPr>
          <a:xfrm>
            <a:off x="579120" y="5408237"/>
            <a:ext cx="5440680" cy="1038283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79120" y="5355103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2000" y="5681311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긴급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: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55081" y="540130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r>
              <a:rPr sz="1200" dirty="0">
                <a:solidFill>
                  <a:schemeClr val="tx1"/>
                </a:solidFill>
              </a:rPr>
              <a:t>LLM </a:t>
            </a:r>
            <a:r>
              <a:rPr sz="1200" dirty="0" err="1">
                <a:solidFill>
                  <a:schemeClr val="tx1"/>
                </a:solidFill>
              </a:rPr>
              <a:t>정비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권고</a:t>
            </a:r>
            <a:r>
              <a:rPr sz="1200" dirty="0">
                <a:solidFill>
                  <a:schemeClr val="tx1"/>
                </a:solidFill>
              </a:rPr>
              <a:t> 탭 </a:t>
            </a:r>
            <a:r>
              <a:rPr sz="1200" dirty="0" err="1">
                <a:solidFill>
                  <a:schemeClr val="tx1"/>
                </a:solidFill>
              </a:rPr>
              <a:t>상세</a:t>
            </a:r>
            <a:r>
              <a:rPr sz="1200" dirty="0">
                <a:solidFill>
                  <a:schemeClr val="tx1"/>
                </a:solidFill>
              </a:rPr>
              <a:t>: femto_llm_report.py, Claude API(haiku-4-5), RAG-Level1/2 </a:t>
            </a:r>
            <a:r>
              <a:rPr sz="1200" dirty="0" err="1">
                <a:solidFill>
                  <a:schemeClr val="tx1"/>
                </a:solidFill>
              </a:rPr>
              <a:t>근거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결합</a:t>
            </a:r>
            <a:r>
              <a:rPr sz="1200" dirty="0">
                <a:solidFill>
                  <a:schemeClr val="tx1"/>
                </a:solidFill>
              </a:rPr>
              <a:t> -&gt; 5섹션 </a:t>
            </a:r>
            <a:r>
              <a:rPr sz="1200" dirty="0" err="1">
                <a:solidFill>
                  <a:schemeClr val="tx1"/>
                </a:solidFill>
              </a:rPr>
              <a:t>자연어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보고서</a:t>
            </a:r>
            <a:r>
              <a:rPr sz="1200" dirty="0">
                <a:solidFill>
                  <a:schemeClr val="tx1"/>
                </a:solidFill>
              </a:rPr>
              <a:t> + Structured Output. ANTHROPIC_API_KEY </a:t>
            </a:r>
            <a:r>
              <a:rPr sz="1200" dirty="0" err="1">
                <a:solidFill>
                  <a:schemeClr val="tx1"/>
                </a:solidFill>
              </a:rPr>
              <a:t>미설정</a:t>
            </a:r>
            <a:r>
              <a:rPr sz="1200" dirty="0">
                <a:solidFill>
                  <a:schemeClr val="tx1"/>
                </a:solidFill>
              </a:rPr>
              <a:t> 시 Mock </a:t>
            </a:r>
            <a:r>
              <a:rPr sz="1200" dirty="0" err="1">
                <a:solidFill>
                  <a:schemeClr val="tx1"/>
                </a:solidFill>
              </a:rPr>
              <a:t>모드로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무료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데모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가능</a:t>
            </a:r>
            <a:r>
              <a:rPr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199" y="384048"/>
            <a:ext cx="80554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V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933822A4-081C-2D80-8C9A-223F4BBCB05C}"/>
              </a:ext>
            </a:extLst>
          </p:cNvPr>
          <p:cNvSpPr/>
          <p:nvPr/>
        </p:nvSpPr>
        <p:spPr>
          <a:xfrm>
            <a:off x="633549" y="4355577"/>
            <a:ext cx="5120640" cy="417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🧠 LLM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정비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권고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(AI 진단)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F808E93-F923-8527-85D4-B680E13685A9}"/>
              </a:ext>
            </a:extLst>
          </p:cNvPr>
          <p:cNvSpPr/>
          <p:nvPr/>
        </p:nvSpPr>
        <p:spPr>
          <a:xfrm>
            <a:off x="585216" y="479343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385F3E-A810-91A3-0E37-DB40027FE02C}"/>
              </a:ext>
            </a:extLst>
          </p:cNvPr>
          <p:cNvSpPr txBox="1"/>
          <p:nvPr/>
        </p:nvSpPr>
        <p:spPr>
          <a:xfrm>
            <a:off x="571500" y="4866750"/>
            <a:ext cx="5454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🖼️ 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CNN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이미지 분류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34CC5B-1111-F45C-C3AA-DE1CDB8AAB00}"/>
              </a:ext>
            </a:extLst>
          </p:cNvPr>
          <p:cNvSpPr/>
          <p:nvPr/>
        </p:nvSpPr>
        <p:spPr>
          <a:xfrm>
            <a:off x="514675" y="359701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19" name="Text 46">
            <a:extLst>
              <a:ext uri="{FF2B5EF4-FFF2-40B4-BE49-F238E27FC236}">
                <a16:creationId xmlns:a16="http://schemas.microsoft.com/office/drawing/2014/main" id="{9EA25B21-2DCE-9C98-500A-E66FF5F8BD2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4.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릴리스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노트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비용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관리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안정성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개선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v0.5 draft 이후 배포 안정성 버그 수정과 과금 방지 기능을 지속 추가했다. 특히 Anthropic 크레딧 부족(400) 에러를 코드 버그와 구분해 결제 안내로 표시하도록 개선(2026-07-03)했다.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14014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rPr dirty="0" err="1"/>
                        <a:t>구분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신규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ANTHROPIC_API_KEY on/off </a:t>
                      </a:r>
                      <a:r>
                        <a:rPr dirty="0" err="1"/>
                        <a:t>스위치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토큰수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비용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화면표시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피처 스키마 불일치 / pandas 버전드리프트 / 중첩버튼 / 패키지 누락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temperature 0.0 고정 + Hybrid RAG(BM25+벡터)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UX 개선(07-03)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크레딧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에러를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결제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안내로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구분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표시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타이틀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캡션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갱신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00B4512-D305-B02D-7F00-3102E9BC125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VI.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1.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결론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기대효과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 추가로 PdM 시스템의 현장 실용성이 대폭 향상되었으며, ML-&gt;DL-&gt;RAG-&gt;LLM까지 이어지는 end-to-end 파이프라인을 v0.6 기준으로 완성했다.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51663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현장 접근성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수치-&gt;자연어: 비전문가도 즉시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의사결정 가속화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즉시/24h/1주 조치 자동 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RAG 시너지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과거 사례를 의미있는 설명으로 변환, Hybrid RAG로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비용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haiku 모델 + Mock 모드 + on/off 스위치(v0.6)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확장성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Agent/Tool Use -&gt; </a:t>
                      </a:r>
                      <a:r>
                        <a:rPr dirty="0" err="1"/>
                        <a:t>LangGraph</a:t>
                      </a:r>
                      <a:r>
                        <a:rPr dirty="0"/>
                        <a:t> -&gt; (</a:t>
                      </a:r>
                      <a:r>
                        <a:rPr dirty="0" err="1"/>
                        <a:t>필요시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GraphRAG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단계적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고도화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957C5F59-75B5-D0E4-FC3B-F35B3DB3E6DB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74614" y="5443725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0432" y="42642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2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성능개선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로드맵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(4단계)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한계점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LLM 성능개선 로드맵 (1~4순위)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8742" y="1298448"/>
            <a:ext cx="4391297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4081" y="1681625"/>
            <a:ext cx="4018353" cy="3495297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비용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발생</a:t>
            </a:r>
            <a:r>
              <a:rPr sz="1600" dirty="0">
                <a:solidFill>
                  <a:schemeClr val="tx1"/>
                </a:solidFill>
              </a:rPr>
              <a:t> - Claude API </a:t>
            </a:r>
            <a:r>
              <a:rPr sz="1600" dirty="0" err="1">
                <a:solidFill>
                  <a:schemeClr val="tx1"/>
                </a:solidFill>
              </a:rPr>
              <a:t>호출당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과금</a:t>
            </a:r>
            <a:r>
              <a:rPr sz="1600" dirty="0">
                <a:solidFill>
                  <a:schemeClr val="tx1"/>
                </a:solidFill>
              </a:rPr>
              <a:t> (Mock </a:t>
            </a:r>
            <a:r>
              <a:rPr sz="1600" dirty="0" err="1">
                <a:solidFill>
                  <a:schemeClr val="tx1"/>
                </a:solidFill>
              </a:rPr>
              <a:t>모드</a:t>
            </a:r>
            <a:r>
              <a:rPr sz="1600" dirty="0">
                <a:solidFill>
                  <a:schemeClr val="tx1"/>
                </a:solidFill>
              </a:rPr>
              <a:t>/on-off </a:t>
            </a:r>
            <a:r>
              <a:rPr sz="1600" dirty="0" err="1">
                <a:solidFill>
                  <a:schemeClr val="tx1"/>
                </a:solidFill>
              </a:rPr>
              <a:t>스위치로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완화</a:t>
            </a:r>
            <a:r>
              <a:rPr sz="1600" dirty="0">
                <a:solidFill>
                  <a:schemeClr val="tx1"/>
                </a:solidFill>
              </a:rPr>
              <a:t>, v0.6)</a:t>
            </a:r>
          </a:p>
          <a:p>
            <a:r>
              <a:rPr sz="1600" dirty="0">
                <a:solidFill>
                  <a:schemeClr val="tx1"/>
                </a:solidFill>
              </a:rPr>
              <a:t>•  RAG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커버리지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제한</a:t>
            </a:r>
            <a:r>
              <a:rPr sz="1600" dirty="0">
                <a:solidFill>
                  <a:schemeClr val="tx1"/>
                </a:solidFill>
              </a:rPr>
              <a:t> - </a:t>
            </a:r>
            <a:r>
              <a:rPr sz="1600" dirty="0" err="1">
                <a:solidFill>
                  <a:schemeClr val="tx1"/>
                </a:solidFill>
              </a:rPr>
              <a:t>정비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지식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1종만 </a:t>
            </a:r>
            <a:r>
              <a:rPr sz="1600" dirty="0" err="1">
                <a:solidFill>
                  <a:schemeClr val="tx1"/>
                </a:solidFill>
              </a:rPr>
              <a:t>인덱싱</a:t>
            </a:r>
            <a:endParaRPr sz="1600" dirty="0">
              <a:solidFill>
                <a:schemeClr val="tx1"/>
              </a:solidFill>
            </a:endParaRP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로컬</a:t>
            </a:r>
            <a:r>
              <a:rPr sz="1600" dirty="0">
                <a:solidFill>
                  <a:schemeClr val="tx1"/>
                </a:solidFill>
              </a:rPr>
              <a:t> LLM(</a:t>
            </a:r>
            <a:r>
              <a:rPr sz="1600" dirty="0" err="1">
                <a:solidFill>
                  <a:schemeClr val="tx1"/>
                </a:solidFill>
              </a:rPr>
              <a:t>Ollama</a:t>
            </a:r>
            <a:r>
              <a:rPr sz="1600" dirty="0">
                <a:solidFill>
                  <a:schemeClr val="tx1"/>
                </a:solidFill>
              </a:rPr>
              <a:t>) </a:t>
            </a:r>
            <a:r>
              <a:rPr sz="1600" dirty="0" err="1">
                <a:solidFill>
                  <a:schemeClr val="tx1"/>
                </a:solidFill>
              </a:rPr>
              <a:t>필요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기능은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Streamlit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Cloud에서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미지원</a:t>
            </a:r>
            <a:r>
              <a:rPr sz="1600" dirty="0">
                <a:solidFill>
                  <a:schemeClr val="tx1"/>
                </a:solidFill>
              </a:rPr>
              <a:t> (RAG-Level2 ask())</a:t>
            </a: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환각</a:t>
            </a:r>
            <a:r>
              <a:rPr sz="1600" dirty="0">
                <a:solidFill>
                  <a:schemeClr val="tx1"/>
                </a:solidFill>
              </a:rPr>
              <a:t>(hallucination) </a:t>
            </a:r>
            <a:r>
              <a:rPr sz="1600" dirty="0" err="1">
                <a:solidFill>
                  <a:schemeClr val="tx1"/>
                </a:solidFill>
              </a:rPr>
              <a:t>가능성</a:t>
            </a:r>
            <a:r>
              <a:rPr sz="1600" dirty="0">
                <a:solidFill>
                  <a:schemeClr val="tx1"/>
                </a:solidFill>
              </a:rPr>
              <a:t> - Structured Output +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근거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인용으로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완화하나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제거는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아님</a:t>
            </a:r>
            <a:endParaRPr sz="1600" dirty="0">
              <a:solidFill>
                <a:schemeClr val="tx1"/>
              </a:solidFill>
            </a:endParaRP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GraphRAG</a:t>
            </a:r>
            <a:r>
              <a:rPr sz="1600" dirty="0">
                <a:solidFill>
                  <a:schemeClr val="tx1"/>
                </a:solidFill>
              </a:rPr>
              <a:t> 등 </a:t>
            </a:r>
            <a:r>
              <a:rPr sz="1600" dirty="0" err="1">
                <a:solidFill>
                  <a:schemeClr val="tx1"/>
                </a:solidFill>
              </a:rPr>
              <a:t>고도화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로드맵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미완료</a:t>
            </a:r>
            <a:r>
              <a:rPr sz="1600" dirty="0">
                <a:solidFill>
                  <a:schemeClr val="tx1"/>
                </a:solidFill>
              </a:rPr>
              <a:t> (4순위)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399" y="5443725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sz="1600" dirty="0" err="1">
                <a:solidFill>
                  <a:schemeClr val="tx1"/>
                </a:solidFill>
              </a:rPr>
              <a:t>실무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포지셔닝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sz="1600" dirty="0">
                <a:solidFill>
                  <a:schemeClr val="tx1"/>
                </a:solidFill>
              </a:rPr>
              <a:t>   </a:t>
            </a:r>
            <a:r>
              <a:rPr sz="1600" dirty="0" err="1">
                <a:solidFill>
                  <a:schemeClr val="tx1"/>
                </a:solidFill>
              </a:rPr>
              <a:t>LLM은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ML·DL의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수치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판정을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대체하지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않고</a:t>
            </a:r>
            <a:r>
              <a:rPr sz="1600" dirty="0">
                <a:solidFill>
                  <a:schemeClr val="tx1"/>
                </a:solidFill>
              </a:rPr>
              <a:t>, RAG </a:t>
            </a:r>
            <a:r>
              <a:rPr sz="1600" dirty="0" err="1">
                <a:solidFill>
                  <a:schemeClr val="tx1"/>
                </a:solidFill>
              </a:rPr>
              <a:t>근거와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함께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현장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담당자가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바로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읽을</a:t>
            </a:r>
            <a:r>
              <a:rPr sz="1600" dirty="0">
                <a:solidFill>
                  <a:schemeClr val="tx1"/>
                </a:solidFill>
              </a:rPr>
              <a:t> 수 </a:t>
            </a:r>
            <a:r>
              <a:rPr sz="1600" dirty="0" err="1">
                <a:solidFill>
                  <a:schemeClr val="tx1"/>
                </a:solidFill>
              </a:rPr>
              <a:t>있는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자연어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정비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권고로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해석·문서화하는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계층으로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포지셔닝</a:t>
            </a:r>
            <a:r>
              <a:rPr sz="1600" dirty="0">
                <a:solidFill>
                  <a:schemeClr val="tx1"/>
                </a:solidFill>
              </a:rPr>
              <a:t>. Structured Output(</a:t>
            </a:r>
            <a:r>
              <a:rPr sz="1600" dirty="0" err="1">
                <a:solidFill>
                  <a:schemeClr val="tx1"/>
                </a:solidFill>
              </a:rPr>
              <a:t>정형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출력</a:t>
            </a:r>
            <a:r>
              <a:rPr sz="1600" dirty="0">
                <a:solidFill>
                  <a:schemeClr val="tx1"/>
                </a:solidFill>
              </a:rPr>
              <a:t>)+RAG </a:t>
            </a:r>
            <a:r>
              <a:rPr sz="1600" dirty="0" err="1">
                <a:solidFill>
                  <a:schemeClr val="tx1"/>
                </a:solidFill>
              </a:rPr>
              <a:t>근거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인용으로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신뢰성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확보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36924"/>
              </p:ext>
            </p:extLst>
          </p:nvPr>
        </p:nvGraphicFramePr>
        <p:xfrm>
          <a:off x="457200" y="1664208"/>
          <a:ext cx="6126480" cy="3603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r>
                        <a:t>우선순위 ·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 dirty="0"/>
                        <a:t>1순위 -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완료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Claude output_config.format(JSON Schema)으로 정형 데이터 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/>
                        <a:t>2순위 - Agent / 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예정</a:t>
                      </a:r>
                      <a:r>
                        <a:rPr sz="1400" dirty="0"/>
                        <a:t> 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Claude function calling(tool_use)으로 전환, ReAct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/>
                        <a:t>3순위 - Workflow Orchestration (LangGraph)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예정 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센서</a:t>
                      </a:r>
                      <a:r>
                        <a:rPr sz="1400" dirty="0"/>
                        <a:t>-&gt;ML-&gt;DL-&gt;RAG-&gt;LLM </a:t>
                      </a:r>
                      <a:r>
                        <a:rPr sz="1400" dirty="0" err="1"/>
                        <a:t>파이프라인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명시적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그래프화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r>
                        <a:rPr sz="1400"/>
                        <a:t>4순위 -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미구현 (최후순위)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networkx</a:t>
                      </a:r>
                      <a:r>
                        <a:rPr sz="1400" dirty="0"/>
                        <a:t>/neo4j 등 </a:t>
                      </a:r>
                      <a:r>
                        <a:rPr sz="1400" dirty="0" err="1"/>
                        <a:t>미사용</a:t>
                      </a:r>
                      <a:r>
                        <a:rPr sz="1400" dirty="0"/>
                        <a:t>. </a:t>
                      </a:r>
                      <a:r>
                        <a:rPr sz="1400" dirty="0" err="1"/>
                        <a:t>설비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관계망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데이터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dirty="0"/>
                        <a:t> 시 </a:t>
                      </a:r>
                      <a:r>
                        <a:rPr sz="1400" dirty="0" err="1"/>
                        <a:t>재검토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9FE0E9-DDF2-EF0E-1AFC-E7F2293765B9}"/>
              </a:ext>
            </a:extLst>
          </p:cNvPr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V</a:t>
            </a:r>
            <a:r>
              <a:rPr sz="2400" dirty="0"/>
              <a:t>I</a:t>
            </a:r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D1D94CB0-141A-A618-A970-FBF40AE9036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3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향후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계획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적용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우선순위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로드맵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Hybrid RAG(BM25+벡터)는 이미 v0.6로 구현을 완료했고, GraphRAG(그래프 기반 지식 검색)는 아직 미구현이며 로드맵상 가장 낮은 4순위다 - 이름은 비슷하지만 현재 상태는 정반대다.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749922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1순위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 정형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Hybrid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완료(v0.6, 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BM25+벡터 결합 검색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2순위 Agent/Tool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 function calling(ReAct 패턴)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3순위 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파이프라인 명시적 그래프화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4순위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미구현, 최후순위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설비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관계망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수준으로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확장</a:t>
                      </a:r>
                      <a:r>
                        <a:rPr dirty="0"/>
                        <a:t> 시 </a:t>
                      </a:r>
                      <a:r>
                        <a:rPr dirty="0" err="1"/>
                        <a:t>재검토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712F1C0-8FE8-B720-7A31-F40C93818F7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A. DL/ML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구성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5" name="Text 3"/>
          <p:cNvSpPr/>
          <p:nvPr/>
        </p:nvSpPr>
        <p:spPr>
          <a:xfrm>
            <a:off x="1245323" y="815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2" y="4852059"/>
            <a:ext cx="5760723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 err="1"/>
              <a:t>GroupKFold</a:t>
            </a:r>
            <a:r>
              <a:rPr sz="1200" dirty="0"/>
              <a:t>(*1) + VIF + 3종 </a:t>
            </a:r>
            <a:r>
              <a:rPr sz="1200" dirty="0" err="1"/>
              <a:t>GridSearch</a:t>
            </a:r>
            <a:r>
              <a:rPr sz="1200" dirty="0"/>
              <a:t> → ML </a:t>
            </a:r>
            <a:r>
              <a:rPr sz="1200" dirty="0" err="1"/>
              <a:t>베이스라인</a:t>
            </a:r>
            <a:endParaRPr sz="1200" dirty="0"/>
          </a:p>
          <a:p>
            <a:r>
              <a:rPr sz="1200" dirty="0"/>
              <a:t>GRU </a:t>
            </a:r>
            <a:r>
              <a:rPr sz="1200" dirty="0" err="1"/>
              <a:t>시계열</a:t>
            </a:r>
            <a:r>
              <a:rPr sz="1200" dirty="0"/>
              <a:t> </a:t>
            </a:r>
            <a:r>
              <a:rPr sz="1200" dirty="0" err="1"/>
              <a:t>학습</a:t>
            </a:r>
            <a:r>
              <a:rPr sz="1200" dirty="0"/>
              <a:t> → RUL </a:t>
            </a:r>
            <a:r>
              <a:rPr sz="1200" dirty="0" err="1"/>
              <a:t>정밀도</a:t>
            </a:r>
            <a:r>
              <a:rPr sz="1200" dirty="0"/>
              <a:t> </a:t>
            </a:r>
            <a:r>
              <a:rPr sz="1200" dirty="0" err="1"/>
              <a:t>향상</a:t>
            </a:r>
            <a:r>
              <a:rPr sz="1200" dirty="0"/>
              <a:t> (BN+LN (*2))</a:t>
            </a:r>
          </a:p>
          <a:p>
            <a:r>
              <a:rPr sz="1200" dirty="0" err="1"/>
              <a:t>Streamlit</a:t>
            </a:r>
            <a:r>
              <a:rPr sz="1200" dirty="0"/>
              <a:t> 6탭 </a:t>
            </a:r>
            <a:r>
              <a:rPr sz="1200" dirty="0" err="1"/>
              <a:t>통합</a:t>
            </a:r>
            <a:r>
              <a:rPr sz="1200" dirty="0"/>
              <a:t> 진단 </a:t>
            </a:r>
            <a:r>
              <a:rPr sz="1200" dirty="0" err="1"/>
              <a:t>대시보드</a:t>
            </a:r>
            <a:endParaRPr sz="1200" dirty="0"/>
          </a:p>
          <a:p>
            <a:r>
              <a:rPr sz="1200" dirty="0"/>
              <a:t>LLM(Claude API)+RAG 2단계로 </a:t>
            </a:r>
            <a:r>
              <a:rPr sz="1200" dirty="0" err="1"/>
              <a:t>자연어</a:t>
            </a:r>
            <a:r>
              <a:rPr sz="1200" dirty="0"/>
              <a:t> 진단 </a:t>
            </a:r>
            <a:r>
              <a:rPr sz="1200" dirty="0" err="1"/>
              <a:t>보고서</a:t>
            </a:r>
            <a:r>
              <a:rPr sz="1200" dirty="0"/>
              <a:t> </a:t>
            </a:r>
            <a:r>
              <a:rPr sz="1200" dirty="0" err="1"/>
              <a:t>자동화</a:t>
            </a:r>
            <a:r>
              <a:rPr sz="1200" dirty="0"/>
              <a:t> (본 </a:t>
            </a:r>
            <a:r>
              <a:rPr sz="1200" dirty="0" err="1"/>
              <a:t>프로젝트</a:t>
            </a:r>
            <a:r>
              <a:rPr sz="1200" dirty="0"/>
              <a:t>, </a:t>
            </a:r>
            <a:r>
              <a:rPr sz="1200" dirty="0" err="1"/>
              <a:t>부록</a:t>
            </a:r>
            <a:r>
              <a:rPr sz="1200" dirty="0"/>
              <a:t> C </a:t>
            </a:r>
            <a:r>
              <a:rPr sz="1200" dirty="0" err="1"/>
              <a:t>참고</a:t>
            </a:r>
            <a:r>
              <a:rPr sz="1200" dirty="0"/>
              <a:t>)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B4C1E3BD-469D-DAC9-CD51-21E82D091819}"/>
              </a:ext>
            </a:extLst>
          </p:cNvPr>
          <p:cNvSpPr/>
          <p:nvPr/>
        </p:nvSpPr>
        <p:spPr>
          <a:xfrm>
            <a:off x="457200" y="38404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dirty="0" err="1">
                <a:solidFill>
                  <a:schemeClr val="bg1"/>
                </a:solidFill>
              </a:rPr>
              <a:t>부록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8" name="Text 46">
            <a:extLst>
              <a:ext uri="{FF2B5EF4-FFF2-40B4-BE49-F238E27FC236}">
                <a16:creationId xmlns:a16="http://schemas.microsoft.com/office/drawing/2014/main" id="{1B1A61D3-3446-AB54-FE58-0080A498B50D}"/>
              </a:ext>
            </a:extLst>
          </p:cNvPr>
          <p:cNvSpPr/>
          <p:nvPr/>
        </p:nvSpPr>
        <p:spPr>
          <a:xfrm>
            <a:off x="9440093" y="64725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" y="443957"/>
            <a:ext cx="1060704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B. 세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구성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— ML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↔ DL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↔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(본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↓ 세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183794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32598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 dirty="0" err="1">
                <a:solidFill>
                  <a:srgbClr val="2E7D32"/>
                </a:solidFill>
                <a:latin typeface="Malgun Gothic"/>
              </a:rPr>
              <a:t>mlfactoryautomation.streamlit.app</a:t>
            </a:r>
            <a:endParaRPr sz="1050" b="1" i="0" dirty="0">
              <a:solidFill>
                <a:srgbClr val="2E7D32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데이터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AI4I 2020 (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모델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XGBoost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열화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(ML)</a:t>
            </a: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기능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P(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열화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)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즉시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endParaRPr sz="11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E7D32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E7D32"/>
                </a:solidFill>
                <a:latin typeface="Malgun Gothic"/>
              </a:rPr>
              <a:t>역할</a:t>
            </a:r>
            <a:r>
              <a:rPr sz="1150" b="1" i="0" dirty="0">
                <a:solidFill>
                  <a:srgbClr val="2E7D32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"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이상인가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?"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1837945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325987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30062"/>
            <a:ext cx="11081657" cy="167929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r>
              <a:rPr sz="1400" dirty="0" err="1"/>
              <a:t>개념</a:t>
            </a:r>
            <a:r>
              <a:rPr sz="1400" dirty="0"/>
              <a:t>   </a:t>
            </a:r>
            <a:r>
              <a:rPr sz="1400" dirty="0" err="1"/>
              <a:t>예지보전</a:t>
            </a:r>
            <a:r>
              <a:rPr sz="1400" dirty="0"/>
              <a:t>(</a:t>
            </a:r>
            <a:r>
              <a:rPr sz="1400" dirty="0" err="1"/>
              <a:t>PdM</a:t>
            </a:r>
            <a:r>
              <a:rPr sz="1400" dirty="0"/>
              <a:t>)은 </a:t>
            </a:r>
            <a:r>
              <a:rPr sz="1400" dirty="0" err="1"/>
              <a:t>목적이고</a:t>
            </a:r>
            <a:r>
              <a:rPr sz="1400" dirty="0"/>
              <a:t>, 그 </a:t>
            </a:r>
            <a:r>
              <a:rPr sz="1400" dirty="0" err="1"/>
              <a:t>아래</a:t>
            </a:r>
            <a:r>
              <a:rPr sz="1400" dirty="0"/>
              <a:t> ML </a:t>
            </a:r>
            <a:r>
              <a:rPr sz="1400" dirty="0" err="1"/>
              <a:t>과제</a:t>
            </a:r>
            <a:r>
              <a:rPr sz="1400" dirty="0"/>
              <a:t>(</a:t>
            </a:r>
            <a:r>
              <a:rPr sz="1400" dirty="0" err="1"/>
              <a:t>PdM</a:t>
            </a:r>
            <a:r>
              <a:rPr sz="1400" dirty="0"/>
              <a:t>-Guard)=</a:t>
            </a:r>
            <a:r>
              <a:rPr sz="1400" dirty="0" err="1"/>
              <a:t>열화</a:t>
            </a:r>
            <a:r>
              <a:rPr sz="1400" dirty="0"/>
              <a:t> </a:t>
            </a:r>
            <a:r>
              <a:rPr sz="1400" dirty="0" err="1"/>
              <a:t>분류</a:t>
            </a:r>
            <a:r>
              <a:rPr sz="1400" dirty="0"/>
              <a:t> </a:t>
            </a:r>
            <a:r>
              <a:rPr sz="1400" dirty="0" err="1"/>
              <a:t>전담</a:t>
            </a:r>
            <a:r>
              <a:rPr sz="1400" dirty="0"/>
              <a:t>, DL </a:t>
            </a:r>
            <a:r>
              <a:rPr sz="1400" dirty="0" err="1"/>
              <a:t>과제</a:t>
            </a:r>
            <a:r>
              <a:rPr sz="1400" dirty="0"/>
              <a:t>=RUL </a:t>
            </a:r>
            <a:r>
              <a:rPr sz="1400" dirty="0" err="1"/>
              <a:t>예측</a:t>
            </a:r>
            <a:r>
              <a:rPr sz="1400" dirty="0"/>
              <a:t> </a:t>
            </a:r>
            <a:r>
              <a:rPr sz="1400" dirty="0" err="1"/>
              <a:t>중심</a:t>
            </a:r>
            <a:r>
              <a:rPr sz="1400" dirty="0"/>
              <a:t> + ML </a:t>
            </a:r>
            <a:r>
              <a:rPr sz="1400" dirty="0" err="1"/>
              <a:t>분류까지</a:t>
            </a:r>
            <a:r>
              <a:rPr sz="1400" dirty="0"/>
              <a:t> </a:t>
            </a:r>
            <a:r>
              <a:rPr sz="1400" dirty="0" err="1"/>
              <a:t>통합입니다</a:t>
            </a:r>
            <a:r>
              <a:rPr sz="1400" dirty="0"/>
              <a:t>.</a:t>
            </a:r>
          </a:p>
          <a:p>
            <a:r>
              <a:rPr sz="1400" dirty="0"/>
              <a:t>→ 두 </a:t>
            </a:r>
            <a:r>
              <a:rPr sz="1400" dirty="0" err="1"/>
              <a:t>앱은</a:t>
            </a:r>
            <a:r>
              <a:rPr sz="1400" dirty="0"/>
              <a:t> </a:t>
            </a:r>
            <a:r>
              <a:rPr sz="1400" dirty="0" err="1"/>
              <a:t>링크로</a:t>
            </a:r>
            <a:r>
              <a:rPr sz="1400" dirty="0"/>
              <a:t> </a:t>
            </a:r>
            <a:r>
              <a:rPr sz="1400" dirty="0" err="1"/>
              <a:t>연결된</a:t>
            </a:r>
            <a:r>
              <a:rPr sz="1400" dirty="0"/>
              <a:t> </a:t>
            </a:r>
            <a:r>
              <a:rPr sz="1400" dirty="0" err="1"/>
              <a:t>상호보완</a:t>
            </a:r>
            <a:r>
              <a:rPr sz="1400" dirty="0"/>
              <a:t> </a:t>
            </a:r>
            <a:r>
              <a:rPr sz="1400" dirty="0" err="1"/>
              <a:t>구성</a:t>
            </a:r>
            <a:r>
              <a:rPr sz="1400" dirty="0"/>
              <a:t> — </a:t>
            </a:r>
            <a:r>
              <a:rPr sz="1400" dirty="0" err="1"/>
              <a:t>DL앱의</a:t>
            </a:r>
            <a:r>
              <a:rPr sz="1400" dirty="0"/>
              <a:t> "ML </a:t>
            </a:r>
            <a:r>
              <a:rPr sz="1400" dirty="0" err="1"/>
              <a:t>설비</a:t>
            </a:r>
            <a:r>
              <a:rPr sz="1400" dirty="0"/>
              <a:t> 진단 </a:t>
            </a:r>
            <a:r>
              <a:rPr sz="1400" dirty="0" err="1"/>
              <a:t>앱으로</a:t>
            </a:r>
            <a:r>
              <a:rPr sz="1400" dirty="0"/>
              <a:t> →" </a:t>
            </a:r>
            <a:r>
              <a:rPr sz="1400" dirty="0" err="1"/>
              <a:t>버튼으로</a:t>
            </a:r>
            <a:r>
              <a:rPr sz="1400" dirty="0"/>
              <a:t> </a:t>
            </a:r>
            <a:r>
              <a:rPr sz="1400" dirty="0" err="1"/>
              <a:t>이동</a:t>
            </a:r>
            <a:r>
              <a:rPr sz="1400" dirty="0"/>
              <a:t>. </a:t>
            </a:r>
            <a:r>
              <a:rPr sz="1400" dirty="0" err="1"/>
              <a:t>분류</a:t>
            </a:r>
            <a:r>
              <a:rPr sz="1400" dirty="0"/>
              <a:t>(ML)는 "</a:t>
            </a:r>
            <a:r>
              <a:rPr sz="1400" dirty="0" err="1"/>
              <a:t>지금</a:t>
            </a:r>
            <a:r>
              <a:rPr sz="1400" dirty="0"/>
              <a:t> </a:t>
            </a:r>
            <a:r>
              <a:rPr sz="1400" dirty="0" err="1"/>
              <a:t>이상</a:t>
            </a:r>
            <a:r>
              <a:rPr sz="1400" dirty="0"/>
              <a:t>?", RUL(DL)은 "</a:t>
            </a:r>
            <a:r>
              <a:rPr sz="1400" dirty="0" err="1"/>
              <a:t>얼마</a:t>
            </a:r>
            <a:r>
              <a:rPr sz="1400" dirty="0"/>
              <a:t> </a:t>
            </a:r>
            <a:r>
              <a:rPr sz="1400" dirty="0" err="1"/>
              <a:t>남았나</a:t>
            </a:r>
            <a:r>
              <a:rPr sz="1400" dirty="0"/>
              <a:t>?"를 </a:t>
            </a:r>
            <a:r>
              <a:rPr sz="1400" dirty="0" err="1"/>
              <a:t>담당</a:t>
            </a:r>
            <a:r>
              <a:rPr sz="1400" dirty="0"/>
              <a:t>.</a:t>
            </a:r>
          </a:p>
          <a:p>
            <a:endParaRPr sz="1400" dirty="0"/>
          </a:p>
          <a:p>
            <a:r>
              <a:rPr sz="1400" dirty="0"/>
              <a:t>③ LLM </a:t>
            </a:r>
            <a:r>
              <a:rPr sz="1400" dirty="0" err="1"/>
              <a:t>과제</a:t>
            </a:r>
            <a:r>
              <a:rPr sz="1400" dirty="0"/>
              <a:t>(본 </a:t>
            </a:r>
            <a:r>
              <a:rPr sz="1400" dirty="0" err="1"/>
              <a:t>프로젝트</a:t>
            </a:r>
            <a:r>
              <a:rPr sz="1400" dirty="0"/>
              <a:t>) - </a:t>
            </a:r>
            <a:r>
              <a:rPr sz="1400" dirty="0" err="1"/>
              <a:t>llmfactoryautomation.streamlit.app</a:t>
            </a:r>
            <a:r>
              <a:rPr sz="1400" dirty="0"/>
              <a:t>: RAG(FAISS </a:t>
            </a:r>
            <a:r>
              <a:rPr sz="1400" dirty="0" err="1"/>
              <a:t>수치유사도</a:t>
            </a:r>
            <a:r>
              <a:rPr sz="1400" dirty="0"/>
              <a:t> + Chroma Hybrid </a:t>
            </a:r>
            <a:r>
              <a:rPr sz="1400" dirty="0" err="1"/>
              <a:t>문서RAG</a:t>
            </a:r>
            <a:r>
              <a:rPr sz="1400" dirty="0"/>
              <a:t>)+Claude </a:t>
            </a:r>
            <a:r>
              <a:rPr sz="1400" dirty="0" err="1"/>
              <a:t>API로</a:t>
            </a:r>
            <a:r>
              <a:rPr sz="1400" dirty="0"/>
              <a:t> ML·DL </a:t>
            </a:r>
            <a:r>
              <a:rPr sz="1400" dirty="0" err="1"/>
              <a:t>결과를</a:t>
            </a:r>
            <a:r>
              <a:rPr sz="1400" dirty="0"/>
              <a:t> </a:t>
            </a:r>
            <a:r>
              <a:rPr sz="1400" dirty="0" err="1"/>
              <a:t>자연어</a:t>
            </a:r>
            <a:r>
              <a:rPr sz="1400" dirty="0"/>
              <a:t> 진단 </a:t>
            </a:r>
            <a:r>
              <a:rPr sz="1400" dirty="0" err="1"/>
              <a:t>보고서로</a:t>
            </a:r>
            <a:r>
              <a:rPr sz="1400" dirty="0"/>
              <a:t> </a:t>
            </a:r>
            <a:r>
              <a:rPr sz="1400" dirty="0" err="1"/>
              <a:t>변환</a:t>
            </a:r>
            <a:r>
              <a:rPr sz="1400" dirty="0"/>
              <a:t>. 세 </a:t>
            </a:r>
            <a:r>
              <a:rPr sz="1400" dirty="0" err="1"/>
              <a:t>앱은</a:t>
            </a:r>
            <a:r>
              <a:rPr sz="1400" dirty="0"/>
              <a:t> ML-&gt;DL-&gt;LLM </a:t>
            </a:r>
            <a:r>
              <a:rPr sz="1400" dirty="0" err="1"/>
              <a:t>순으로</a:t>
            </a:r>
            <a:r>
              <a:rPr sz="1400" dirty="0"/>
              <a:t> </a:t>
            </a:r>
            <a:r>
              <a:rPr sz="1400" dirty="0" err="1"/>
              <a:t>계층적으로</a:t>
            </a:r>
            <a:r>
              <a:rPr sz="1400" dirty="0"/>
              <a:t> </a:t>
            </a:r>
            <a:r>
              <a:rPr sz="1400" dirty="0" err="1"/>
              <a:t>확장됨</a:t>
            </a:r>
            <a:r>
              <a:rPr sz="1400" dirty="0"/>
              <a:t> (GitHub: </a:t>
            </a:r>
            <a:r>
              <a:rPr sz="1400" dirty="0" err="1"/>
              <a:t>vapsnamheo</a:t>
            </a:r>
            <a:r>
              <a:rPr sz="1400" dirty="0"/>
              <a:t>-dev/AISOURCE).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FCD88A6-AAA3-01F9-45FD-2F19B7621A95}"/>
              </a:ext>
            </a:extLst>
          </p:cNvPr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데이터를 세 </a:t>
            </a:r>
            <a:r>
              <a:rPr lang="en-US" altLang="ko-KR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구독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분담과 상호 연결</a:t>
            </a: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72BC0D19-B201-104F-85B5-784A9DD7007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D3D83116-FD46-AA78-84BF-DFB58400C4B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4483F78-6C3D-E49E-B5C4-2B770FB12F0E}"/>
              </a:ext>
            </a:extLst>
          </p:cNvPr>
          <p:cNvSpPr/>
          <p:nvPr/>
        </p:nvSpPr>
        <p:spPr>
          <a:xfrm>
            <a:off x="457200" y="38404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dirty="0" err="1">
                <a:solidFill>
                  <a:schemeClr val="bg1"/>
                </a:solidFill>
              </a:rPr>
              <a:t>부록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2" name="Text 46">
            <a:extLst>
              <a:ext uri="{FF2B5EF4-FFF2-40B4-BE49-F238E27FC236}">
                <a16:creationId xmlns:a16="http://schemas.microsoft.com/office/drawing/2014/main" id="{4500A771-4B3F-0DB7-7AF0-E1BA3670D764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C.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검토했으나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미채택한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방안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산출물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</a:t>
            </a:r>
          </a:p>
          <a:p>
            <a:r>
              <a:t>Proposal A(채택)는 구현 난이도가 낮고 즉시 현장 적용 가능해 우선 구현했다. B/C는 데이터/인프라가 갖춰지면 재검토 대상이며, 실제 실행 가능한 파이프라인은 산출물/LLM프로젝트 노트북에서 확인할 수 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49296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Proposal B (미채택)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패턴을 직접 학습 - 난이도 높음, 학습 데이터/검증 비용 과다로 보류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Proposal C (미채택)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 결합 - 난이도 중간이나 현재 데이터로는 이득 대비 복잡도 부담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재검토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규모 확대, 설비 관계망 데이터 확보 시 GraphRAG(4순위)와 함께 재검토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소스 산출물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산출물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LLM프로젝트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허남_LLM프로젝트.ipynb</a:t>
                      </a:r>
                      <a:r>
                        <a:rPr dirty="0"/>
                        <a:t>, .</a:t>
                      </a:r>
                      <a:r>
                        <a:rPr dirty="0" err="1"/>
                        <a:t>py</a:t>
                      </a:r>
                      <a:r>
                        <a:rPr dirty="0"/>
                        <a:t> - ML-&gt;DL-&gt;RAG(Level1+Hybrid)-&gt;LLM </a:t>
                      </a:r>
                      <a:r>
                        <a:rPr dirty="0" err="1"/>
                        <a:t>전체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파이프라인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노트북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CBD20133-5AE8-A9D4-D274-C9F67A259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2538</Words>
  <Application>Microsoft Office PowerPoint</Application>
  <PresentationFormat>와이드스크린</PresentationFormat>
  <Paragraphs>349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50</cp:revision>
  <dcterms:created xsi:type="dcterms:W3CDTF">2026-06-30T01:06:45Z</dcterms:created>
  <dcterms:modified xsi:type="dcterms:W3CDTF">2026-07-07T03:31:45Z</dcterms:modified>
</cp:coreProperties>
</file>