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258" r:id="rId13"/>
    <p:sldId id="262" r:id="rId14"/>
    <p:sldId id="288" r:id="rId15"/>
    <p:sldId id="285" r:id="rId16"/>
    <p:sldId id="265" r:id="rId17"/>
    <p:sldId id="28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0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+ LLM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>
              <a:solidFill>
                <a:srgbClr val="E2ECF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기존 DL 한계 · LLM 확장 방안 · Proposal A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RAG · Hybrid RAG</a:t>
            </a:r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RAG 2단계 아키텍처 + Hybrid RAG(v0.6)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LLM 진단 보고서 파이프라인</a:t>
            </a:r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Structured Output · Streamlit 배포 · 로컬 LLM 제약</a:t>
            </a:r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v0.6 릴리스 · 향후 로드맵 · 결론</a:t>
            </a:r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Hybrid RAG · </a:t>
            </a:r>
            <a:r>
              <a:rPr dirty="0" err="1"/>
              <a:t>GraphRAG</a:t>
            </a:r>
            <a:r>
              <a:rPr dirty="0"/>
              <a:t> </a:t>
            </a:r>
            <a:r>
              <a:rPr dirty="0" err="1"/>
              <a:t>우선순위</a:t>
            </a:r>
            <a:endParaRPr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— DL·ML 프로젝트 요약</a:t>
            </a:r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선행 프로젝트(DL/ML) 핵심 성과 요약</a:t>
            </a:r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· 임계값 원리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미탐지(FN) 최소화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(부록 상세는 본문 후반 참고)</a:t>
            </a:r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데이터샘플 · 모델선택 · MLflow · 평가신뢰성 · 혼동행렬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I. 프로젝트 개요 - 기존 DL 시스템의 한계와 LLM 필요성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ML/DL/RAG의 수치 결과는 정확하지만 현장 담당자가 즉시 행동으로 옮기기 어렵다. LLM(Claude API)이 이 수치를 근거로 사람이 읽는 자연어 진단 보고서로 변환하는 해석 계층을 추가한다.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출력 (수치만)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적용 후 (자연어 해석)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ML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[현재 상태] 위험 - 열화 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DL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[정비 권고] 즉시 점검 및 교체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[유사 사례] Bearing1_3 동일 패턴, 30분 후 파손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문제 -&gt;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분석가만 해석 가능, 현장 조치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비전문가도 즉시 이해 가능한 정비 보고서로 자동 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II. LLM 확장 방안 3종 비교 - Proposal A 채택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채택 기준은 구현 가능성+즉시 현장 적용+비용 효율성. Proposal A가 가장 낮은 난이도로 즉시 현장 적용 가능해 채택했다.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25629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RAG+ML/DL -&gt; LLM 자연어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 직접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미채택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III. RAG 2단계 아키텍처 - 수치 유사도 + 문서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Level 1은 과거에 비슷한 상태가 있었는가를 수치로, Level 2는 정비 지식 문서에 어떤 근거가 있는가를 자연어로 답한다. 두 결과는 LLM 보고서의 근거로 결합된다.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1 (수치 유사도)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2 (문서 RAG)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src/femto_rag_search.py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src/femto_doc_rag.py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FAISS IndexFlatIP(코사인)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벡터DB(영구 저장)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질의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-&gt; Top-k 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자연어 질문 -&gt; 문서 검색/답변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일반 RAG(순수 벡터 검색)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RAG(BM25+벡터, 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IV. Hybrid RAG(BM25+벡터) - v0.6 신규 적용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정비 문서는 40도 초과 같은 정확한 수치 표현이 많아 순수 의미 검색만으로는 놓치기 쉽다. Hybrid RAG로 RAG-Level2 검색 정확도를 개선했다(2026-07-03, v0.6 완료).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전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후 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검색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 검색만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BM25(키워드)+벡터, EnsembleRetriever 50:50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약점/개선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정확한 수치, 임계값 표현을 놓치기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BM25가 수치, 임계값 포착, 벡터가 의미 유사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검증 질의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온도만 상승하면? -&gt; 찾을 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동일 질문 -&gt; 윤활 점검 근거 정확히 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V. LLM 진단 보고서 생성 파이프라인 (Proposal 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LLM은 ML/DL의 수치 판정을 대체하지 않고, RAG 근거와 함께 현장 담당자가 바로 읽을 수 있는 자연어 정비 권고로 해석, 문서화하는 계층이다.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957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모듈 /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src/femto_llm_report.py, Claude API(claude-haiku-4-5-20251001)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입력 컨텍스트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+ ML 열화확률 + DL RUL + RAG Level1/2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출력 구조(5섹션)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상태, 이상 신호, 정비 권고, 유사 사례, 문서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Mock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키 미설정 시 규칙 기반 동일 구조 보고서(무료 데모)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JSON Schema </a:t>
                      </a:r>
                      <a:r>
                        <a:rPr dirty="0" err="1"/>
                        <a:t>강제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출력</a:t>
                      </a:r>
                      <a:r>
                        <a:rPr dirty="0"/>
                        <a:t> - status/anomalies/action 등, </a:t>
                      </a:r>
                      <a:r>
                        <a:rPr dirty="0" err="1"/>
                        <a:t>대시보드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알람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VI. Streamlit 배포 구성 및 로컬 LLM(Ollama) 제약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배포 URL은 llmfactoryautomation.streamlit.app. RAG-Level2의 자유 질의응답(ask())은 로컬 Ollama(gemma)가 필요해 Streamlit Cloud(상시 프로세스 실행 불가)에서는 이 기능만 제한된다(버그 아님, 의도된 제약). 문서 검색과 Claude API 진단 보고서는 Cloud에서 정상 동작한다.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 메인 - 시계열 고장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LLM/RAG 전용 - Level1 유사 사례 데모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ML+DL+LLM 통합 진단 (Tab6: AI 정비 권고)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3-Source 통합 (ML+DL+DL Milling)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VII. v0.6 릴리스 노트 - 비용 관리 및 안정성 개선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v0.5 draft 이후 배포 안정성 버그 수정과 과금 방지 기능을 지속 추가했다. 특히 Anthropic 크레딧 부족(400) 에러를 코드 버그와 구분해 결제 안내로 표시하도록 개선(2026-07-03)했다.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신규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ANTHROPIC_API_KEY on/off 스위치 + 토큰수/비용 화면표시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피처 스키마 불일치 / pandas 버전드리프트 / 중첩버튼 / 패키지 누락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 0.0 고정 + Hybrid RAG(BM25+벡터)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UX 개선(07-03)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크레딧 부족 에러를 결제 안내로 구분 표시, 타이틀/캡션 갱신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VIII. 향후 계획 - LLM 적용 우선순위 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Hybrid RAG(BM25+벡터)는 이미 v0.6로 구현을 완료했고, GraphRAG(그래프 기반 지식 검색)는 아직 미구현이며 로드맵상 가장 낮은 4순위다 - 이름은 비슷하지만 현재 상태는 정반대다.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1순위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 정형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Hybrid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완료(v0.6, 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BM25+벡터 결합 검색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2순위 Agent/Tool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 function calling(ReAct 패턴)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3순위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파이프라인 명시적 그래프화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4순위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미구현, 최후순위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설비 관계망 수준으로 확장 시 재검토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IX. 결론 및 기대효과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 추가로 PdM 시스템의 현장 실용성이 대폭 향상되었으며, ML-&gt;DL-&gt;RAG-&gt;LLM까지 이어지는 end-to-end 파이프라인을 v0.6 기준으로 완성했다.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FEMTO-ST 베어링 예지보전   ·   ML+DL+RAG+LLM 통합 진단 시스템 (v0.6)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51663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현장 접근성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수치-&gt;자연어: 비전문가도 즉시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의사결정 가속화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즉시/24h/1주 조치 자동 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RAG 시너지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과거 사례를 의미있는 설명으로 변환, Hybrid RAG로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비용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haiku 모델 + Mock 모드 + on/off 스위치(v0.6)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확장성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Agent/Tool Use -&gt; </a:t>
                      </a:r>
                      <a:r>
                        <a:rPr dirty="0" err="1"/>
                        <a:t>LangGraph</a:t>
                      </a:r>
                      <a:r>
                        <a:rPr dirty="0"/>
                        <a:t> -&gt; (</a:t>
                      </a:r>
                      <a:r>
                        <a:rPr dirty="0" err="1"/>
                        <a:t>필요시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GraphRAG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고도화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부록</a:t>
            </a: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A. DL/ML 프로젝트 배경 (요약)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231086" y="644652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12</a:t>
            </a: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3" y="4878485"/>
            <a:ext cx="5455920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(*1)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VIF + 3종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GridSearch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RUL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(BN+LN </a:t>
            </a:r>
            <a:r>
              <a:rPr lang="en-US" altLang="ko-KR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(*2)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6탭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altLang="ko-KR" sz="12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부록</a:t>
            </a:r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B. DL/ML 성능 비교 종합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26912"/>
              </p:ext>
            </p:extLst>
          </p:nvPr>
        </p:nvGraphicFramePr>
        <p:xfrm>
          <a:off x="635760" y="1325882"/>
          <a:ext cx="1106424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</a:t>
                      </a:r>
                      <a:r>
                        <a:rPr lang="en-US" altLang="ko-KR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(*1</a:t>
                      </a:r>
                      <a:r>
                        <a:rPr lang="ko-KR" altLang="en-US" sz="1000" dirty="0">
                          <a:solidFill>
                            <a:srgbClr val="6B7785"/>
                          </a:solidFill>
                          <a:latin typeface="Malgun Gothic" pitchFamily="34" charset="0"/>
                          <a:ea typeface="Malgun Gothic" pitchFamily="34" charset="-122"/>
                        </a:rPr>
                        <a:t>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640080" y="4023364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40233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4005076"/>
            <a:ext cx="1051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OOS RMSE 15.08% 개선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443981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444398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425693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)→ML /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진짜 시계열(분당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측정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)→DL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우세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0080" y="4873319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487331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55031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CV 우위 RF·XGB는 3개 베어링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과적합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→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새 베어링엔 단순 LR이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전이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우수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40080" y="5302648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5302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284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교체 경보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선제</a:t>
            </a: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발령</a:t>
            </a:r>
            <a:endParaRPr lang="en-US" sz="1200" b="1" dirty="0">
              <a:solidFill>
                <a:srgbClr val="1F3A5F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13</a:t>
            </a: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6B4181E-151B-B8A9-BF0D-F83A33621BAC}"/>
              </a:ext>
            </a:extLst>
          </p:cNvPr>
          <p:cNvSpPr/>
          <p:nvPr/>
        </p:nvSpPr>
        <p:spPr>
          <a:xfrm>
            <a:off x="635760" y="5812531"/>
            <a:ext cx="11064240" cy="633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+mn-ea"/>
                <a:cs typeface="Malgun Gothic" pitchFamily="34" charset="-120"/>
              </a:rPr>
              <a:t>(*1) </a:t>
            </a:r>
            <a:r>
              <a:rPr lang="ko-KR" altLang="ko-KR" sz="1200" dirty="0">
                <a:latin typeface="+mn-ea"/>
              </a:rPr>
              <a:t>라벨 없는 신규 설비</a:t>
            </a:r>
            <a:r>
              <a:rPr lang="ko-KR" altLang="en-US" sz="1200" dirty="0">
                <a:latin typeface="+mn-ea"/>
              </a:rPr>
              <a:t>용</a:t>
            </a:r>
            <a:r>
              <a:rPr lang="en-US" altLang="ko-KR" sz="1200" b="1" dirty="0">
                <a:latin typeface="+mn-ea"/>
              </a:rPr>
              <a:t>, 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비지도의 강점(라벨 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불필요·조기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 감지)과 지도의 강점(</a:t>
            </a:r>
            <a:r>
              <a:rPr lang="ko-KR" altLang="ko-KR" sz="1200" b="1" dirty="0" err="1">
                <a:solidFill>
                  <a:srgbClr val="138496"/>
                </a:solidFill>
                <a:latin typeface="+mn-ea"/>
              </a:rPr>
              <a:t>정밀·해석</a:t>
            </a:r>
            <a:r>
              <a:rPr lang="ko-KR" altLang="ko-KR" sz="1200" b="1" dirty="0">
                <a:solidFill>
                  <a:srgbClr val="138496"/>
                </a:solidFill>
                <a:latin typeface="+mn-ea"/>
              </a:rPr>
              <a:t>)</a:t>
            </a:r>
            <a:r>
              <a:rPr lang="en-US" altLang="ko-KR" sz="1200" b="1" dirty="0">
                <a:solidFill>
                  <a:srgbClr val="138496"/>
                </a:solidFill>
                <a:latin typeface="+mn-ea"/>
              </a:rPr>
              <a:t>  </a:t>
            </a:r>
          </a:p>
          <a:p>
            <a:r>
              <a:rPr lang="en-US" altLang="ko-KR" sz="1200" b="1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(Autoencoder 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비지도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 없는 신규 설비에서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뭔가 평소와 다르다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를 조기 감지 → 넓게 후보를 거름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b="1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차 </a:t>
            </a:r>
            <a:r>
              <a:rPr lang="en-US" altLang="ko-KR" sz="1200" dirty="0">
                <a:latin typeface="+mn-ea"/>
              </a:rPr>
              <a:t>(RF/LR, </a:t>
            </a:r>
            <a:r>
              <a:rPr lang="ko-KR" altLang="en-US" sz="1200" b="1" dirty="0">
                <a:solidFill>
                  <a:srgbClr val="138496"/>
                </a:solidFill>
                <a:latin typeface="+mn-ea"/>
              </a:rPr>
              <a:t>지도</a:t>
            </a:r>
            <a:r>
              <a:rPr lang="en-US" altLang="ko-KR" sz="1200" dirty="0">
                <a:latin typeface="+mn-ea"/>
              </a:rPr>
              <a:t>): </a:t>
            </a:r>
            <a:r>
              <a:rPr lang="ko-KR" altLang="en-US" sz="1200" dirty="0">
                <a:latin typeface="+mn-ea"/>
              </a:rPr>
              <a:t>라벨이 쌓인 뒤 </a:t>
            </a:r>
            <a:r>
              <a:rPr lang="en-US" altLang="ko-KR" sz="1200" dirty="0">
                <a:latin typeface="+mn-ea"/>
              </a:rPr>
              <a:t>"</a:t>
            </a:r>
            <a:r>
              <a:rPr lang="ko-KR" altLang="en-US" sz="1200" dirty="0">
                <a:latin typeface="+mn-ea"/>
              </a:rPr>
              <a:t>어느 단계 열화인지</a:t>
            </a:r>
            <a:r>
              <a:rPr lang="en-US" altLang="ko-KR" sz="1200" dirty="0">
                <a:latin typeface="+mn-ea"/>
              </a:rPr>
              <a:t>" </a:t>
            </a:r>
            <a:r>
              <a:rPr lang="ko-KR" altLang="en-US" sz="1200" dirty="0">
                <a:latin typeface="+mn-ea"/>
              </a:rPr>
              <a:t>정밀 분류 → 정확히 판정</a:t>
            </a:r>
            <a:endParaRPr lang="en-US" altLang="ko-KR" sz="1200" dirty="0">
              <a:latin typeface="+mn-ea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274320"/>
            <a:ext cx="106070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C. 결론. 두 과제 구성 — ML 과제(PdM-Guard) ↔ DL 과제(RUL+ML 통합)</a:t>
            </a:r>
          </a:p>
          <a:p>
            <a:r>
              <a:t>현장 데이터를 두 Streamlit 앱이 구독 — 역할 분담과 상호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100" b="1" i="0">
                <a:solidFill>
                  <a:srgbClr val="138496"/>
                </a:solidFill>
                <a:latin typeface="Malgun Gothic"/>
              </a:rPr>
              <a:t>↓ 두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  <a:latin typeface="Malgun Gothic"/>
              </a:rPr>
              <a:t>mlfactoryautomation.streamlit.app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AI4I 2020 (설비 센서)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XGBoost 열화 분류 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P(열화) 임계값 경보 · 즉시 이상 판정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E7D32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"지금 이상인가?" 분류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2514600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5486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74552" cy="9601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pPr algn="l"/>
            <a:r>
              <a:rPr sz="1250" b="1" i="0" dirty="0" err="1">
                <a:solidFill>
                  <a:srgbClr val="D98A00"/>
                </a:solidFill>
                <a:latin typeface="Malgun Gothic"/>
              </a:rPr>
              <a:t>개념</a:t>
            </a:r>
            <a:r>
              <a:rPr sz="1250" b="1" i="0" dirty="0">
                <a:solidFill>
                  <a:srgbClr val="D98A00"/>
                </a:solidFill>
                <a:latin typeface="Malgun Gothic"/>
              </a:rPr>
              <a:t>  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예지보전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PdM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)은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목적이고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, 그 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아래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(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PdM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-Guard)=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전담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, DL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과제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=RUL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예측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중심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+ ML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분류까지</a:t>
            </a:r>
            <a:r>
              <a:rPr sz="1200" b="1" i="0" dirty="0">
                <a:solidFill>
                  <a:srgbClr val="D98A00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D98A00"/>
                </a:solidFill>
                <a:latin typeface="Malgun Gothic"/>
              </a:rPr>
              <a:t>통합</a:t>
            </a:r>
            <a:r>
              <a:rPr sz="1200" b="0" i="0" dirty="0" err="1">
                <a:solidFill>
                  <a:srgbClr val="FFFFFF"/>
                </a:solidFill>
                <a:latin typeface="Malgun Gothic"/>
              </a:rPr>
              <a:t>입니다</a:t>
            </a:r>
            <a:r>
              <a:rPr sz="120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150" b="0" i="0" dirty="0">
                <a:solidFill>
                  <a:srgbClr val="FFFFFF"/>
                </a:solidFill>
                <a:latin typeface="Malgun Gothic"/>
              </a:rPr>
              <a:t>→ 두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앱은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링크로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연결된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상호보완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구성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—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DL앱의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"ML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앱으로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→"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버튼으로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이동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(ML)는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?", RUL(DL)은 "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얼마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남았나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?"를 </a:t>
            </a:r>
            <a:r>
              <a:rPr sz="1150" b="0" i="0" dirty="0" err="1">
                <a:solidFill>
                  <a:srgbClr val="FFFFFF"/>
                </a:solidFill>
                <a:latin typeface="Malgun Gothic"/>
              </a:rPr>
              <a:t>담당</a:t>
            </a:r>
            <a:r>
              <a:rPr sz="11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14</a:t>
            </a:r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A198BC5-C3E0-A9B2-765C-1BC57001511B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0432" y="426420"/>
            <a:ext cx="1051560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D. 결론 — 성능 개선 로드맵 + 한계 · 실무 포지셔닝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i="0" dirty="0">
                <a:solidFill>
                  <a:srgbClr val="1F3A5F"/>
                </a:solidFill>
                <a:latin typeface="Malgun Gothic"/>
              </a:rPr>
              <a:t>RUL 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예측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성능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개선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로드맵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 (</a:t>
            </a:r>
            <a:r>
              <a:rPr lang="ko-KR" altLang="en-US" sz="1400" b="1" i="0" dirty="0">
                <a:solidFill>
                  <a:srgbClr val="1F3A5F"/>
                </a:solidFill>
                <a:latin typeface="Malgun Gothic"/>
              </a:rPr>
              <a:t>빠른 성과 우선</a:t>
            </a:r>
            <a:r>
              <a:rPr lang="en-US" altLang="ko-KR" sz="1400" b="1" i="0" dirty="0">
                <a:solidFill>
                  <a:srgbClr val="1F3A5F"/>
                </a:solidFill>
                <a:latin typeface="Malgun Gothic"/>
              </a:rPr>
              <a:t>)</a:t>
            </a:r>
            <a:endParaRPr sz="1400" b="1" i="0" dirty="0">
              <a:solidFill>
                <a:srgbClr val="1F3A5F"/>
              </a:solidFill>
              <a:latin typeface="Malgun Gothic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6705"/>
              </p:ext>
            </p:extLst>
          </p:nvPr>
        </p:nvGraphicFramePr>
        <p:xfrm>
          <a:off x="457200" y="1664208"/>
          <a:ext cx="6126480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핵심 항목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성능개선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① Attention + SHAP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열화 말기 가중 · 근거 해설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−100~200분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~3개월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② 앙상블 GRU+1D-CNN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스태킹(RF+GBM+AE) · 견고성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−150~300분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③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실시간</a:t>
                      </a:r>
                      <a:r>
                        <a:rPr sz="1100" b="1" i="0" dirty="0">
                          <a:solidFill>
                            <a:srgbClr val="1F3A5F"/>
                          </a:solidFill>
                          <a:latin typeface="Malgun Gothic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1F3A5F"/>
                          </a:solidFill>
                          <a:latin typeface="Malgun Gothic"/>
                        </a:rPr>
                        <a:t>파이프라인</a:t>
                      </a:r>
                      <a:endParaRPr sz="1100" b="1" i="0" dirty="0">
                        <a:solidFill>
                          <a:srgbClr val="1F3A5F"/>
                        </a:solidFill>
                        <a:latin typeface="Malgun Gothic"/>
                      </a:endParaRP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Kafka+IoT 연속 시계열 (tile 대체)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−200~400분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~6–9개월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④ 실공장 · 다설비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303C"/>
                          </a:solidFill>
                          <a:latin typeface="Malgun Gothic"/>
                        </a:rPr>
                        <a:t>전이학습(EfficientNetB0) · 多조건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Malgun Gothic"/>
                        </a:rPr>
                        <a:t>범용성 ↑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~12개월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1298448"/>
            <a:ext cx="493776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664208"/>
            <a:ext cx="4919472" cy="23317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7개뿐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일반화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제약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운전조건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(1800 rpm)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2채널만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온도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없음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배치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처리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(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실시간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250" b="1" i="0" dirty="0">
                <a:solidFill>
                  <a:srgbClr val="138496"/>
                </a:solidFill>
                <a:latin typeface="Malgun Gothic"/>
              </a:rPr>
              <a:t>•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RF는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라벨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필요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→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신규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공백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(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비지도로 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1</a:t>
            </a:r>
            <a:r>
              <a:rPr lang="ko-KR" altLang="en-US" sz="1250" b="0" i="0" dirty="0">
                <a:solidFill>
                  <a:srgbClr val="22303C"/>
                </a:solidFill>
                <a:latin typeface="Malgun Gothic"/>
              </a:rPr>
              <a:t>차 보완</a:t>
            </a:r>
            <a:r>
              <a:rPr lang="en-US" altLang="ko-KR" sz="1250" b="0" i="0" dirty="0">
                <a:solidFill>
                  <a:srgbClr val="22303C"/>
                </a:solidFill>
                <a:latin typeface="Malgun Gothic"/>
              </a:rPr>
              <a:t>)</a:t>
            </a:r>
            <a:endParaRPr sz="125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4187952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/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실무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포지셔닝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 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(LR Recall 0.89) +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=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조기경보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파이프라인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회귀는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남은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시간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추세'의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지표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의사결정은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분류기가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담당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  <a:p>
            <a:pPr algn="l"/>
            <a:r>
              <a:rPr sz="1250" b="0" i="0" dirty="0">
                <a:solidFill>
                  <a:srgbClr val="22303C"/>
                </a:solidFill>
                <a:latin typeface="Malgun Gothic"/>
              </a:rPr>
              <a:t>→ 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정밀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RUL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추정기'가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아닌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'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조기경보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파이프라인</a:t>
            </a:r>
            <a:r>
              <a:rPr sz="125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1F3A5F"/>
                </a:solidFill>
                <a:latin typeface="Malgun Gothic"/>
              </a:rPr>
              <a:t>구성요소'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로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22303C"/>
                </a:solidFill>
                <a:latin typeface="Malgun Gothic"/>
              </a:rPr>
              <a:t>포지셔닝</a:t>
            </a:r>
            <a:r>
              <a:rPr sz="1250" b="0" i="0" dirty="0">
                <a:solidFill>
                  <a:srgbClr val="22303C"/>
                </a:solidFill>
                <a:latin typeface="Malgun Gothic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5440680"/>
            <a:ext cx="868680" cy="384048"/>
          </a:xfrm>
          <a:prstGeom prst="roundRect">
            <a:avLst/>
          </a:prstGeom>
          <a:solidFill>
            <a:srgbClr val="E3A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142A47"/>
                </a:solidFill>
                <a:latin typeface="Malgun Gothic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49240"/>
            <a:ext cx="9875520" cy="8961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진단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리포트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350" b="1" i="0" dirty="0" err="1">
                <a:solidFill>
                  <a:srgbClr val="E3A935"/>
                </a:solidFill>
                <a:latin typeface="Malgun Gothic"/>
              </a:rPr>
              <a:t>자동화</a:t>
            </a:r>
            <a:r>
              <a:rPr sz="1350" b="1" i="0" dirty="0">
                <a:solidFill>
                  <a:srgbClr val="E3A935"/>
                </a:solidFill>
                <a:latin typeface="Malgun Gothic"/>
              </a:rPr>
              <a:t> (GPT-4o)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 —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ML·DL의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수치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판정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열화확률·RUL·임계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초과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)을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받아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사람이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읽는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진단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보고서로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생성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pPr algn="l">
              <a:spcBef>
                <a:spcPts val="200"/>
              </a:spcBef>
            </a:pPr>
            <a:r>
              <a:rPr sz="1250" b="0" i="0" dirty="0">
                <a:solidFill>
                  <a:srgbClr val="CFDCEA"/>
                </a:solidFill>
                <a:latin typeface="Malgun Gothic"/>
              </a:rPr>
              <a:t>예: "3번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베어링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진동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급증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,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잔여수명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~100분 →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교체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CFDCEA"/>
                </a:solidFill>
                <a:latin typeface="Malgun Gothic"/>
              </a:rPr>
              <a:t>권고</a:t>
            </a:r>
            <a:r>
              <a:rPr sz="1250" b="0" i="0" dirty="0">
                <a:solidFill>
                  <a:srgbClr val="CFDCEA"/>
                </a:solidFill>
                <a:latin typeface="Malgun Gothic"/>
              </a:rPr>
              <a:t>." 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판정이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아닌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 '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해석·문서화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' </a:t>
            </a:r>
            <a:r>
              <a:rPr sz="1250" b="1" i="0" dirty="0" err="1">
                <a:solidFill>
                  <a:srgbClr val="FFFFFF"/>
                </a:solidFill>
                <a:latin typeface="Malgun Gothic"/>
              </a:rPr>
              <a:t>계층</a:t>
            </a:r>
            <a:r>
              <a:rPr sz="1250" b="1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174443C-8A0C-8849-A6B7-3DDB1181B108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FCB0E67-7DED-9A7E-27A9-A0BD2F90978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부록 E. Streamlit 통합 진단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15741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15741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82669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382669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49597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294959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1652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3516525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8345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0834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924488"/>
            <a:ext cx="5440680" cy="1338938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11203" y="50662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395403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Malgun Gothic"/>
                        </a:rPr>
                        <a:t>●  긴급 경보: 잔여수명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82511" y="536198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pPr algn="l"/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900" b="1" i="0" dirty="0" err="1">
                <a:solidFill>
                  <a:srgbClr val="1F3A5F"/>
                </a:solidFill>
                <a:latin typeface="Malgun Gothic"/>
              </a:rPr>
              <a:t>원칙</a:t>
            </a:r>
            <a:r>
              <a:rPr sz="900" b="1" i="0" dirty="0">
                <a:solidFill>
                  <a:srgbClr val="1F3A5F"/>
                </a:solidFill>
                <a:latin typeface="Malgun Gothic"/>
              </a:rPr>
              <a:t>   </a:t>
            </a:r>
            <a:endParaRPr lang="en-US" sz="900" b="1" i="0" dirty="0">
              <a:solidFill>
                <a:srgbClr val="1F3A5F"/>
              </a:solidFill>
              <a:latin typeface="Malgun Gothic"/>
            </a:endParaRPr>
          </a:p>
          <a:p>
            <a:pPr algn="l"/>
            <a:r>
              <a:rPr sz="900" b="0" i="0" dirty="0">
                <a:solidFill>
                  <a:srgbClr val="22303C"/>
                </a:solidFill>
                <a:latin typeface="Malgun Gothic"/>
              </a:rPr>
              <a:t>ML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최우선으로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적용하고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DL RUL은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보조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정보로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함께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표시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단일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시점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슬라이더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입력은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시계열을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윈도우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길이만큼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복제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(tile)한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추정이므로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,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정확도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한계를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캡션으로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명시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endParaRPr lang="en-US" sz="900" b="0" i="0" dirty="0">
              <a:solidFill>
                <a:srgbClr val="22303C"/>
              </a:solidFill>
              <a:latin typeface="Malgun Gothic"/>
            </a:endParaRPr>
          </a:p>
          <a:p>
            <a:pPr algn="l"/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정상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시에는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기존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양호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주의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/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규칙을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22303C"/>
                </a:solidFill>
                <a:latin typeface="Malgun Gothic"/>
              </a:rPr>
              <a:t>그대로</a:t>
            </a:r>
            <a:r>
              <a:rPr sz="90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lang="ko-KR" altLang="en-US" sz="900" b="0" i="0" dirty="0">
                <a:solidFill>
                  <a:srgbClr val="22303C"/>
                </a:solidFill>
                <a:latin typeface="Malgun Gothic"/>
              </a:rPr>
              <a:t>따름</a:t>
            </a:r>
            <a:endParaRPr sz="900" b="0" i="0" dirty="0">
              <a:solidFill>
                <a:srgbClr val="22303C"/>
              </a:solidFill>
              <a:latin typeface="Malgun Gothic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64E00A7-2D73-4F97-BE7F-5D2752355FA7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16</a:t>
            </a:r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CF49BA3-8240-9CF8-82F1-BAD086AA18E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Malgun Gothic"/>
              </a:rPr>
              <a:t>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부록 F. 기타. 학습했으나 미적용한 실험 · 튜닝 시도와 보류 사유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실험 · 시도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미적용 / 보류 사유</a:t>
                      </a:r>
                    </a:p>
                  </a:txBody>
                  <a:tcPr marL="88900" marR="76200" marT="38100" marB="381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NASA Milling 데이터 학습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Malgun Gothic"/>
                        </a:rPr>
                        <a:t>ML·DL 모두 AUC 0.500 (무작위 수준)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가공조건 혼재·표본 부족 → 전처리서 신호 소실. 전처리 개선 과제로 보류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GridSearch 하이퍼파라미터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OOS RMSE 956 (batch=16의 836보다 열위)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수동 batch=16 튜닝이 더 우수 → 최종 미채택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LSTM · BiLSTM · CNN (5종 비교)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 909.96 대비 모두 열위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GRU가 인과 시계열·경량성 우수 → GRU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SimpleImputer (전역 평균 결측대체)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온도 상승 추세 소멸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선형보간이 추세 보존 → 평균 대체 배제</a:t>
                      </a:r>
                    </a:p>
                  </a:txBody>
                  <a:tcPr marL="88900" marR="76200" marT="38100" marB="381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Malgun Gothic"/>
                        </a:rPr>
                        <a:t>window = 30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최종 window=20이 OOS 우수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303C"/>
                          </a:solidFill>
                          <a:latin typeface="Malgun Gothic"/>
                        </a:rPr>
                        <a:t>비교 실험엔 30, 최종 모델은 20 채택</a:t>
                      </a:r>
                    </a:p>
                  </a:txBody>
                  <a:tcPr marL="889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pPr algn="l"/>
            <a:r>
              <a:rPr sz="1300" b="1" i="0" dirty="0">
                <a:solidFill>
                  <a:srgbClr val="E3A935"/>
                </a:solidFill>
                <a:latin typeface="Malgun Gothic"/>
              </a:rPr>
              <a:t>의</a:t>
            </a:r>
            <a:r>
              <a:rPr lang="ko-KR" altLang="en-US" sz="1300" b="1" i="0" dirty="0">
                <a:solidFill>
                  <a:srgbClr val="E3A935"/>
                </a:solidFill>
                <a:latin typeface="Malgun Gothic"/>
              </a:rPr>
              <a:t>의</a:t>
            </a:r>
            <a:endParaRPr lang="en-US" altLang="ko-KR" sz="1250" b="1" i="0" dirty="0">
              <a:solidFill>
                <a:srgbClr val="FFFFFF"/>
              </a:solidFill>
              <a:latin typeface="Malgun Gothic"/>
            </a:endParaRPr>
          </a:p>
          <a:p>
            <a:pPr marL="285750" indent="-285750" algn="l">
              <a:buFontTx/>
              <a:buChar char="-"/>
            </a:pPr>
            <a:r>
              <a:rPr sz="1250" b="1" i="0" dirty="0">
                <a:solidFill>
                  <a:srgbClr val="E3A935"/>
                </a:solidFill>
                <a:latin typeface="Malgun Gothic"/>
              </a:rPr>
              <a:t>NASA Milling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사례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(ML·DL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동반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실패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)는 '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DL이면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무조건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낫다'가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성립하지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않음을</a:t>
            </a:r>
            <a:r>
              <a:rPr sz="1250" b="1" i="0" dirty="0">
                <a:solidFill>
                  <a:srgbClr val="E3A935"/>
                </a:solidFill>
                <a:latin typeface="Malgun Gothic"/>
              </a:rPr>
              <a:t> </a:t>
            </a:r>
            <a:r>
              <a:rPr sz="1250" b="1" i="0" dirty="0" err="1">
                <a:solidFill>
                  <a:srgbClr val="E3A935"/>
                </a:solidFill>
                <a:latin typeface="Malgun Gothic"/>
              </a:rPr>
              <a:t>입증</a:t>
            </a:r>
            <a:endParaRPr lang="en-US" sz="125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데이터·전처리·라벨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품질이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모델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종류보다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우선함을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보여줍니다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  <a:endParaRPr lang="en-US" sz="1250" b="0" i="0" dirty="0">
              <a:solidFill>
                <a:srgbClr val="FFFFFF"/>
              </a:solidFill>
              <a:latin typeface="Malgun Gothic"/>
            </a:endParaRPr>
          </a:p>
          <a:p>
            <a:pPr algn="l">
              <a:spcBef>
                <a:spcPts val="300"/>
              </a:spcBef>
            </a:pP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채택된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설정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(GRU·batch16·window20·선형보간)은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모두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실험을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거친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Malgun Gothic"/>
              </a:rPr>
              <a:t>결과입니다</a:t>
            </a:r>
            <a:r>
              <a:rPr sz="1250" b="0" i="0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822960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50" b="0" i="0">
                <a:solidFill>
                  <a:srgbClr val="6B7785"/>
                </a:solidFill>
                <a:latin typeface="Malgun Gothic"/>
              </a:rPr>
              <a:t>FEMTO-ST 베어링 RUL 예측   ·   ML+DL 통합 PdM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55664"/>
            <a:ext cx="3044952" cy="1974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2912</Words>
  <Application>Microsoft Office PowerPoint</Application>
  <PresentationFormat>와이드스크린</PresentationFormat>
  <Paragraphs>414</Paragraphs>
  <Slides>17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42</cp:revision>
  <dcterms:created xsi:type="dcterms:W3CDTF">2026-06-30T01:06:45Z</dcterms:created>
  <dcterms:modified xsi:type="dcterms:W3CDTF">2026-07-03T17:20:19Z</dcterms:modified>
</cp:coreProperties>
</file>